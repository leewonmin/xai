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18"/>
  </p:notesMasterIdLst>
  <p:sldIdLst>
    <p:sldId id="271" r:id="rId2"/>
    <p:sldId id="272" r:id="rId3"/>
    <p:sldId id="257" r:id="rId4"/>
    <p:sldId id="346" r:id="rId5"/>
    <p:sldId id="347" r:id="rId6"/>
    <p:sldId id="349" r:id="rId7"/>
    <p:sldId id="358" r:id="rId8"/>
    <p:sldId id="359" r:id="rId9"/>
    <p:sldId id="341" r:id="rId10"/>
    <p:sldId id="352" r:id="rId11"/>
    <p:sldId id="353" r:id="rId12"/>
    <p:sldId id="354" r:id="rId13"/>
    <p:sldId id="355" r:id="rId14"/>
    <p:sldId id="356" r:id="rId15"/>
    <p:sldId id="357" r:id="rId16"/>
    <p:sldId id="273" r:id="rId17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scaleToFitPaper="1"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AA5B5"/>
    <a:srgbClr val="1E5E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534" autoAdjust="0"/>
    <p:restoredTop sz="95062" autoAdjust="0"/>
  </p:normalViewPr>
  <p:slideViewPr>
    <p:cSldViewPr snapToGrid="0">
      <p:cViewPr varScale="1">
        <p:scale>
          <a:sx n="154" d="100"/>
          <a:sy n="154" d="100"/>
        </p:scale>
        <p:origin x="990" y="69"/>
      </p:cViewPr>
      <p:guideLst/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pPr lvl="0">
              <a:defRPr/>
            </a:pPr>
            <a:fld id="{0D09D5FC-136A-4B95-994C-543945EB7D32}" type="datetime1">
              <a:rPr lang="ko-KR" altLang="en-US"/>
              <a:pPr lvl="0">
                <a:defRPr/>
              </a:pPr>
              <a:t>2026-06-08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anchor="ctr"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/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r">
              <a:defRPr sz="1200"/>
            </a:lvl1pPr>
          </a:lstStyle>
          <a:p>
            <a:pPr lvl="0">
              <a:defRPr/>
            </a:pPr>
            <a:fld id="{1B2AAE91-34D7-49BA-AE82-26D5F6020A42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8C36F762-FD84-467C-9A17-6F3E31A188E5}" type="slidenum">
              <a:rPr lang="en-US" altLang="en-US"/>
              <a:pPr lvl="0">
                <a:defRPr/>
              </a:pPr>
              <a:t>1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8C36F762-FD84-467C-9A17-6F3E31A188E5}" type="slidenum">
              <a:rPr lang="en-US" altLang="en-US"/>
              <a:pPr lvl="0">
                <a:defRPr/>
              </a:pPr>
              <a:t>2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197360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97939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249865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394999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935455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632032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02787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980710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086009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591074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231564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15914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9542DDB-AD80-C324-53D0-9A1C037E1E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6CE2E98B-86F1-C789-8990-E82DD981616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147C6B0-3524-CF83-6836-322BF2FC5B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9107B49-5702-2CEC-3F8D-5B03CC5C1A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F41C6AB-DBF6-BB51-A5B8-057FCF4003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E591A-007A-4673-8B7B-A2C2EDBF50B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953059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77C775D-6C90-8926-9D87-82AD4B8D83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9406A27-0F7F-206D-9C9C-701AD39E79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46D52C6-EC55-766C-C579-F3D4E42D53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8D416D6-2206-1383-3040-C908C87B43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96D13FA-0A9B-BBCF-3B28-90CA2081C2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E591A-007A-4673-8B7B-A2C2EDBF50B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837823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83AA1DB-EB40-41B5-9B26-0693107D3E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C98F33E-C59E-C581-47F8-31254739AE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EF31A79-D141-0561-537F-4BCF9F661A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0F05354-725A-876B-B78A-BF116EC39C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E55D983-C7C7-BBEA-8C0A-827BC017DB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E591A-007A-4673-8B7B-A2C2EDBF50B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143725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801EA7A-CC27-6F62-C1E2-0F364421CC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82B795C-33B7-443D-D2A4-658DEA130E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9E5584A-2894-3E17-CA8F-FB12BC40EDE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0644163-5CF7-E7F6-3E3B-7C4B544C5E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4CAD9DD-E7F1-CCBD-22B7-3B77B32A2B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DBDBE8A-E18F-0BE6-5C9C-D2AF9A4405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E591A-007A-4673-8B7B-A2C2EDBF50B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089211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2A3E2E0-F6EE-476E-31DF-9D2FAB002A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5C720CF-FC53-AA16-DED9-990316BD4A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BA1C3AB-BCB6-0F5C-58D6-7FDB3AB304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FC6E5171-F7E2-92B0-3DCE-C6619863CCA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C194F4B6-0993-F515-387E-D8AAE414893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CBAA4FF5-9762-432F-2EB6-5B11056471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29DAEF51-2963-E344-F517-CC21C50B7A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00F56AC9-8624-2368-DF49-776600019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E591A-007A-4673-8B7B-A2C2EDBF50B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616420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88DD592-3E25-732C-B617-61FA86F331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0D6E149D-DA5A-5C10-929C-546A4F228F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F099EE38-DE43-A607-5C3D-BF4731AED9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BFD8D86A-0386-7AB9-DCA9-C269E8E617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E591A-007A-4673-8B7B-A2C2EDBF50B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816128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24AC9376-0A6F-08D2-0A13-C81E76A845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DB18E614-7B20-CBE3-4859-A7F5394C62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A50BA14-A0D7-BEDF-60F8-73BCCBFD7A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E591A-007A-4673-8B7B-A2C2EDBF50B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794492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A3A293A-F9D4-6D53-8911-ECE8B42947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4E16482-83B8-875D-4239-8847557F12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9F01B96-874B-8C52-664B-4395D9A6C24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3830329-4D88-7F65-0D92-0F1634781E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30BA159-4925-B9B8-B7B6-4A02BA0337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F15A960-D683-AE13-CE1A-FBEC7F7A24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E591A-007A-4673-8B7B-A2C2EDBF50B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986380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E0569D2-AE86-69D4-1B17-FB21DA3233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5360A8FE-4725-9671-CE9B-DEAC0097632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95054E2-73DC-8FEF-F6DF-2CF67882A07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C1A0494-CBA1-7DD0-EC91-FDDB2505E5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D78119E-4842-4488-55B6-5CEA906671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DC8CE8C-FABD-D3F9-0DCD-D2650763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E591A-007A-4673-8B7B-A2C2EDBF50B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174411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AF614CA-BB84-B340-4F2E-F2A792A7C7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5E9C514-0D41-78DC-788B-A44FBA4E794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75FDCE6-23A2-D305-1BBB-A769C44E2D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B78E675-8038-7F7A-F374-C6F73B01FF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D7616B6-5812-FBCC-40D6-F4CA1F8E47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E591A-007A-4673-8B7B-A2C2EDBF50B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077809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153C8FB7-8E93-C4F9-B21F-0B178A0E694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5366DB0-C021-0C49-3451-BE46D6AEE2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6FD34C6-8A36-B4F1-23F3-B673A734C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934A3BC-10E3-6A82-397F-3AC4075DFA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D114B40-810D-CBCC-AB8D-DD5060265E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E591A-007A-4673-8B7B-A2C2EDBF50B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298752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MASTER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7819417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E512C5D0-307A-3D47-BE0C-5E6784FA92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DF32212-A707-ACBA-61DE-9725315A5D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CA022EF-E096-A555-7442-A98BF2E4349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B4D214B-562D-7F95-64E7-87AD428DF75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118D4E9-9916-13B4-B6BF-758B126D5B1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7E591A-007A-4673-8B7B-A2C2EDBF50B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133824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0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그룹 2"/>
          <p:cNvGrpSpPr/>
          <p:nvPr/>
        </p:nvGrpSpPr>
        <p:grpSpPr>
          <a:xfrm>
            <a:off x="351752" y="574640"/>
            <a:ext cx="8711223" cy="1947578"/>
            <a:chOff x="944675" y="1133233"/>
            <a:chExt cx="5410966" cy="3557620"/>
          </a:xfrm>
        </p:grpSpPr>
        <p:sp>
          <p:nvSpPr>
            <p:cNvPr id="4" name="TextBox 3"/>
            <p:cNvSpPr txBox="1"/>
            <p:nvPr/>
          </p:nvSpPr>
          <p:spPr>
            <a:xfrm>
              <a:off x="944675" y="1133233"/>
              <a:ext cx="5410966" cy="141888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>
                <a:lnSpc>
                  <a:spcPct val="120000"/>
                </a:lnSpc>
                <a:defRPr/>
              </a:pPr>
              <a:r>
                <a:rPr lang="ko-KR" altLang="en-US" sz="4000" b="1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Reman"/>
                  <a:ea typeface="NanumSquareOTF ExtraBold" panose="020B0600000101010101"/>
                </a:rPr>
                <a:t>매칭 근거 생성 시스템 설계 및 구현 </a:t>
              </a:r>
              <a:endParaRPr lang="en-US" altLang="ko-KR" sz="4000" b="1" dirty="0">
                <a:solidFill>
                  <a:prstClr val="black">
                    <a:lumMod val="75000"/>
                    <a:lumOff val="25000"/>
                  </a:prstClr>
                </a:solidFill>
                <a:latin typeface="Reman"/>
                <a:ea typeface="NanumSquareOTF ExtraBold" panose="020B0600000101010101"/>
              </a:endParaRPr>
            </a:p>
          </p:txBody>
        </p:sp>
        <p:sp>
          <p:nvSpPr>
            <p:cNvPr id="2" name="직사각형 1"/>
            <p:cNvSpPr/>
            <p:nvPr/>
          </p:nvSpPr>
          <p:spPr>
            <a:xfrm>
              <a:off x="991557" y="2675741"/>
              <a:ext cx="5058223" cy="351652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 algn="ctr">
                <a:defRPr/>
              </a:pPr>
              <a:endParaRPr lang="en-US" sz="649" dirty="0">
                <a:solidFill>
                  <a:prstClr val="white"/>
                </a:solidFill>
                <a:latin typeface="맑은 고딕"/>
              </a:endParaRP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4231085" y="3292561"/>
              <a:ext cx="203729" cy="1398292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lvl="0">
                <a:lnSpc>
                  <a:spcPct val="120000"/>
                </a:lnSpc>
                <a:defRPr/>
              </a:pPr>
              <a:endParaRPr lang="en-US" altLang="ko-KR" sz="3706">
                <a:solidFill>
                  <a:prstClr val="black">
                    <a:lumMod val="75000"/>
                    <a:lumOff val="25000"/>
                  </a:prstClr>
                </a:solidFill>
                <a:latin typeface="Reman"/>
                <a:ea typeface="S-Core Dream 2 ExtraLight"/>
              </a:endParaRPr>
            </a:p>
          </p:txBody>
        </p:sp>
      </p:grpSp>
      <p:sp>
        <p:nvSpPr>
          <p:cNvPr id="10" name="TextBox 3"/>
          <p:cNvSpPr txBox="1"/>
          <p:nvPr/>
        </p:nvSpPr>
        <p:spPr>
          <a:xfrm>
            <a:off x="321620" y="1680317"/>
            <a:ext cx="8711223" cy="6399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20000"/>
              </a:lnSpc>
              <a:defRPr/>
            </a:pPr>
            <a:r>
              <a:rPr lang="ko-KR" altLang="en-US" sz="3200" dirty="0" err="1">
                <a:solidFill>
                  <a:prstClr val="black">
                    <a:lumMod val="75000"/>
                    <a:lumOff val="25000"/>
                  </a:prstClr>
                </a:solidFill>
                <a:latin typeface="Reman"/>
                <a:ea typeface="NanumSquareOTF" panose="020B0600000101010101"/>
              </a:rPr>
              <a:t>기술사업화연구센터</a:t>
            </a:r>
            <a:endParaRPr lang="ko-KR" altLang="en-US" sz="3200" dirty="0">
              <a:solidFill>
                <a:prstClr val="black">
                  <a:lumMod val="75000"/>
                  <a:lumOff val="25000"/>
                </a:prstClr>
              </a:solidFill>
              <a:latin typeface="Reman"/>
              <a:ea typeface="NanumSquareOTF" panose="020B0600000101010101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6EA0A0D6-CECD-B415-B28F-4F2D196D9AB0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68218" y="21457"/>
            <a:ext cx="2190676" cy="50125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2DF891E8-E77F-DE46-A5BB-6CECBDE838AB}"/>
              </a:ext>
            </a:extLst>
          </p:cNvPr>
          <p:cNvSpPr txBox="1"/>
          <p:nvPr/>
        </p:nvSpPr>
        <p:spPr>
          <a:xfrm>
            <a:off x="133355" y="85327"/>
            <a:ext cx="19164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>
                <a:latin typeface="a고딕12" pitchFamily="18" charset="-127"/>
                <a:ea typeface="a고딕12" pitchFamily="18" charset="-127"/>
              </a:rPr>
              <a:t>Contents</a:t>
            </a:r>
            <a:endParaRPr lang="ko-KR" altLang="en-US" sz="2400" b="1" dirty="0">
              <a:latin typeface="a고딕12" pitchFamily="18" charset="-127"/>
              <a:ea typeface="a고딕12" pitchFamily="18" charset="-127"/>
            </a:endParaRPr>
          </a:p>
        </p:txBody>
      </p:sp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CB3AB244-8BEA-4DA8-8BD9-23D2ED5585A3}"/>
              </a:ext>
            </a:extLst>
          </p:cNvPr>
          <p:cNvCxnSpPr>
            <a:cxnSpLocks/>
          </p:cNvCxnSpPr>
          <p:nvPr/>
        </p:nvCxnSpPr>
        <p:spPr>
          <a:xfrm>
            <a:off x="-1" y="606471"/>
            <a:ext cx="12192001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3" name="그림 2">
            <a:extLst>
              <a:ext uri="{FF2B5EF4-FFF2-40B4-BE49-F238E27FC236}">
                <a16:creationId xmlns:a16="http://schemas.microsoft.com/office/drawing/2014/main" id="{7A0377E1-B037-20DC-513A-9D0A262A13E8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68218" y="21457"/>
            <a:ext cx="2190676" cy="501257"/>
          </a:xfrm>
          <a:prstGeom prst="rect">
            <a:avLst/>
          </a:prstGeom>
        </p:spPr>
      </p:pic>
      <p:sp>
        <p:nvSpPr>
          <p:cNvPr id="44" name="슬라이드 번호 개체 틀 3">
            <a:extLst>
              <a:ext uri="{FF2B5EF4-FFF2-40B4-BE49-F238E27FC236}">
                <a16:creationId xmlns:a16="http://schemas.microsoft.com/office/drawing/2014/main" id="{3EC0E516-4986-9CB5-21A8-B6D83234AF8A}"/>
              </a:ext>
            </a:extLst>
          </p:cNvPr>
          <p:cNvSpPr txBox="1">
            <a:spLocks/>
          </p:cNvSpPr>
          <p:nvPr/>
        </p:nvSpPr>
        <p:spPr>
          <a:xfrm>
            <a:off x="11544300" y="6297168"/>
            <a:ext cx="548640" cy="401447"/>
          </a:xfrm>
          <a:prstGeom prst="rect">
            <a:avLst/>
          </a:prstGeom>
        </p:spPr>
        <p:txBody>
          <a:bodyPr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27E591A-007A-4673-8B7B-A2C2EDBF50B5}" type="slidenum">
              <a:rPr lang="ko-KR" altLang="en-US" smtClean="0"/>
              <a:pPr/>
              <a:t>2</a:t>
            </a:fld>
            <a:endParaRPr lang="ko-KR" altLang="en-US" dirty="0"/>
          </a:p>
        </p:txBody>
      </p:sp>
      <p:sp>
        <p:nvSpPr>
          <p:cNvPr id="2" name="Shape 9">
            <a:extLst>
              <a:ext uri="{FF2B5EF4-FFF2-40B4-BE49-F238E27FC236}">
                <a16:creationId xmlns:a16="http://schemas.microsoft.com/office/drawing/2014/main" id="{0238245F-DE65-15D7-496C-83DCB2EF6BD9}"/>
              </a:ext>
            </a:extLst>
          </p:cNvPr>
          <p:cNvSpPr/>
          <p:nvPr/>
        </p:nvSpPr>
        <p:spPr>
          <a:xfrm>
            <a:off x="365945" y="1332082"/>
            <a:ext cx="82296" cy="82296"/>
          </a:xfrm>
          <a:prstGeom prst="ellipse">
            <a:avLst/>
          </a:prstGeom>
          <a:solidFill>
            <a:srgbClr val="1E5EFF"/>
          </a:solidFill>
          <a:ln w="12700">
            <a:solidFill>
              <a:srgbClr val="1E5E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10">
            <a:extLst>
              <a:ext uri="{FF2B5EF4-FFF2-40B4-BE49-F238E27FC236}">
                <a16:creationId xmlns:a16="http://schemas.microsoft.com/office/drawing/2014/main" id="{31671D2B-DAD7-D3AC-925B-733EC89EA047}"/>
              </a:ext>
            </a:extLst>
          </p:cNvPr>
          <p:cNvSpPr/>
          <p:nvPr/>
        </p:nvSpPr>
        <p:spPr>
          <a:xfrm>
            <a:off x="530537" y="1146154"/>
            <a:ext cx="43616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ko-KR" altLang="en-US" sz="18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매칭 근거 설명문 개요</a:t>
            </a:r>
            <a:endParaRPr lang="en-US" sz="1800" dirty="0"/>
          </a:p>
        </p:txBody>
      </p:sp>
      <p:sp>
        <p:nvSpPr>
          <p:cNvPr id="5" name="Shape 11">
            <a:extLst>
              <a:ext uri="{FF2B5EF4-FFF2-40B4-BE49-F238E27FC236}">
                <a16:creationId xmlns:a16="http://schemas.microsoft.com/office/drawing/2014/main" id="{021B0ED8-CFEA-42C1-76E7-5AF326EC3233}"/>
              </a:ext>
            </a:extLst>
          </p:cNvPr>
          <p:cNvSpPr/>
          <p:nvPr/>
        </p:nvSpPr>
        <p:spPr>
          <a:xfrm>
            <a:off x="365945" y="1917298"/>
            <a:ext cx="82296" cy="82296"/>
          </a:xfrm>
          <a:prstGeom prst="ellipse">
            <a:avLst/>
          </a:prstGeom>
          <a:solidFill>
            <a:srgbClr val="1E5EFF"/>
          </a:solidFill>
          <a:ln w="12700">
            <a:solidFill>
              <a:srgbClr val="1E5E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12">
            <a:extLst>
              <a:ext uri="{FF2B5EF4-FFF2-40B4-BE49-F238E27FC236}">
                <a16:creationId xmlns:a16="http://schemas.microsoft.com/office/drawing/2014/main" id="{2D7F68B7-ABE7-1F70-1FE3-FB9677690D65}"/>
              </a:ext>
            </a:extLst>
          </p:cNvPr>
          <p:cNvSpPr/>
          <p:nvPr/>
        </p:nvSpPr>
        <p:spPr>
          <a:xfrm>
            <a:off x="530537" y="1731370"/>
            <a:ext cx="43616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ko-KR" altLang="en-US" sz="18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매칭 근거 설명문 예시</a:t>
            </a:r>
            <a:endParaRPr lang="en-US" sz="1800" dirty="0"/>
          </a:p>
        </p:txBody>
      </p:sp>
      <p:sp>
        <p:nvSpPr>
          <p:cNvPr id="7" name="Shape 13">
            <a:extLst>
              <a:ext uri="{FF2B5EF4-FFF2-40B4-BE49-F238E27FC236}">
                <a16:creationId xmlns:a16="http://schemas.microsoft.com/office/drawing/2014/main" id="{CC50350C-B938-722C-3C55-C649265C0460}"/>
              </a:ext>
            </a:extLst>
          </p:cNvPr>
          <p:cNvSpPr/>
          <p:nvPr/>
        </p:nvSpPr>
        <p:spPr>
          <a:xfrm>
            <a:off x="365945" y="2502514"/>
            <a:ext cx="82296" cy="82296"/>
          </a:xfrm>
          <a:prstGeom prst="ellipse">
            <a:avLst/>
          </a:prstGeom>
          <a:solidFill>
            <a:srgbClr val="1E5EFF"/>
          </a:solidFill>
          <a:ln w="12700">
            <a:solidFill>
              <a:srgbClr val="1E5E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14">
            <a:extLst>
              <a:ext uri="{FF2B5EF4-FFF2-40B4-BE49-F238E27FC236}">
                <a16:creationId xmlns:a16="http://schemas.microsoft.com/office/drawing/2014/main" id="{4881F422-E2FE-DFB8-37C6-9310D6B111E0}"/>
              </a:ext>
            </a:extLst>
          </p:cNvPr>
          <p:cNvSpPr/>
          <p:nvPr/>
        </p:nvSpPr>
        <p:spPr>
          <a:xfrm>
            <a:off x="530537" y="2316586"/>
            <a:ext cx="43616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ko-KR" altLang="en-US" sz="18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 및 데이터</a:t>
            </a:r>
            <a:endParaRPr lang="en-US" sz="1800" dirty="0"/>
          </a:p>
        </p:txBody>
      </p:sp>
      <p:sp>
        <p:nvSpPr>
          <p:cNvPr id="9" name="Shape 13">
            <a:extLst>
              <a:ext uri="{FF2B5EF4-FFF2-40B4-BE49-F238E27FC236}">
                <a16:creationId xmlns:a16="http://schemas.microsoft.com/office/drawing/2014/main" id="{D44D1F62-0413-815F-2825-1EF8E42F58E5}"/>
              </a:ext>
            </a:extLst>
          </p:cNvPr>
          <p:cNvSpPr/>
          <p:nvPr/>
        </p:nvSpPr>
        <p:spPr>
          <a:xfrm>
            <a:off x="365945" y="3087730"/>
            <a:ext cx="82296" cy="82296"/>
          </a:xfrm>
          <a:prstGeom prst="ellipse">
            <a:avLst/>
          </a:prstGeom>
          <a:solidFill>
            <a:srgbClr val="1E5EFF"/>
          </a:solidFill>
          <a:ln w="12700">
            <a:solidFill>
              <a:srgbClr val="1E5E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14">
            <a:extLst>
              <a:ext uri="{FF2B5EF4-FFF2-40B4-BE49-F238E27FC236}">
                <a16:creationId xmlns:a16="http://schemas.microsoft.com/office/drawing/2014/main" id="{5F10B022-E1A9-577A-08AE-792F7C9963E9}"/>
              </a:ext>
            </a:extLst>
          </p:cNvPr>
          <p:cNvSpPr/>
          <p:nvPr/>
        </p:nvSpPr>
        <p:spPr>
          <a:xfrm>
            <a:off x="530537" y="2901802"/>
            <a:ext cx="43616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ko-KR" altLang="en-US" sz="18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매칭 근거 설명문 생성 방식</a:t>
            </a:r>
            <a:endParaRPr lang="en-US" altLang="ko-KR" sz="1800" dirty="0"/>
          </a:p>
        </p:txBody>
      </p:sp>
      <p:sp>
        <p:nvSpPr>
          <p:cNvPr id="11" name="Shape 13">
            <a:extLst>
              <a:ext uri="{FF2B5EF4-FFF2-40B4-BE49-F238E27FC236}">
                <a16:creationId xmlns:a16="http://schemas.microsoft.com/office/drawing/2014/main" id="{1BA4D7FD-F474-0E3B-31E8-63717580653B}"/>
              </a:ext>
            </a:extLst>
          </p:cNvPr>
          <p:cNvSpPr/>
          <p:nvPr/>
        </p:nvSpPr>
        <p:spPr>
          <a:xfrm>
            <a:off x="365945" y="3672946"/>
            <a:ext cx="82296" cy="82296"/>
          </a:xfrm>
          <a:prstGeom prst="ellipse">
            <a:avLst/>
          </a:prstGeom>
          <a:solidFill>
            <a:srgbClr val="1E5EFF"/>
          </a:solidFill>
          <a:ln w="12700">
            <a:solidFill>
              <a:srgbClr val="1E5E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4">
            <a:extLst>
              <a:ext uri="{FF2B5EF4-FFF2-40B4-BE49-F238E27FC236}">
                <a16:creationId xmlns:a16="http://schemas.microsoft.com/office/drawing/2014/main" id="{51480471-1B54-CA48-0D1B-EEBEB065E761}"/>
              </a:ext>
            </a:extLst>
          </p:cNvPr>
          <p:cNvSpPr/>
          <p:nvPr/>
        </p:nvSpPr>
        <p:spPr>
          <a:xfrm>
            <a:off x="530537" y="3487018"/>
            <a:ext cx="43616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ko-KR" altLang="en-US" sz="18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코드 동작 방식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21666541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48640" y="658368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6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매칭 근거 설명문 개요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170432"/>
            <a:ext cx="11064240" cy="0"/>
          </a:xfrm>
          <a:prstGeom prst="line">
            <a:avLst/>
          </a:prstGeom>
          <a:noFill/>
          <a:ln w="12700">
            <a:solidFill>
              <a:srgbClr val="D7E0EA"/>
            </a:solidFill>
            <a:prstDash val="solid"/>
          </a:ln>
        </p:spPr>
      </p:sp>
      <p:sp>
        <p:nvSpPr>
          <p:cNvPr id="27" name="Shape 4">
            <a:extLst>
              <a:ext uri="{FF2B5EF4-FFF2-40B4-BE49-F238E27FC236}">
                <a16:creationId xmlns:a16="http://schemas.microsoft.com/office/drawing/2014/main" id="{0292277F-724C-DDDF-B883-E2053A26CF9D}"/>
              </a:ext>
            </a:extLst>
          </p:cNvPr>
          <p:cNvSpPr/>
          <p:nvPr/>
        </p:nvSpPr>
        <p:spPr>
          <a:xfrm>
            <a:off x="685800" y="1607344"/>
            <a:ext cx="6583680" cy="3057525"/>
          </a:xfrm>
          <a:prstGeom prst="roundRect">
            <a:avLst>
              <a:gd name="adj" fmla="val 4731"/>
            </a:avLst>
          </a:prstGeom>
          <a:solidFill>
            <a:srgbClr val="FFFFFF"/>
          </a:solidFill>
          <a:ln w="12700">
            <a:solidFill>
              <a:srgbClr val="D8E3F3"/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8" name="Text 5">
            <a:extLst>
              <a:ext uri="{FF2B5EF4-FFF2-40B4-BE49-F238E27FC236}">
                <a16:creationId xmlns:a16="http://schemas.microsoft.com/office/drawing/2014/main" id="{FB63FED9-8277-7CF4-4DF4-7F60269EA35F}"/>
              </a:ext>
            </a:extLst>
          </p:cNvPr>
          <p:cNvSpPr/>
          <p:nvPr/>
        </p:nvSpPr>
        <p:spPr>
          <a:xfrm>
            <a:off x="914400" y="1857377"/>
            <a:ext cx="6126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기업 ↔ 과제 매칭 결과에 대해</a:t>
            </a:r>
            <a:endParaRPr lang="en-US" sz="2000" dirty="0"/>
          </a:p>
          <a:p>
            <a:pPr marL="0" indent="0">
              <a:buNone/>
            </a:pPr>
            <a:r>
              <a:rPr lang="en-US" sz="20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“왜 </a:t>
            </a:r>
            <a:r>
              <a:rPr lang="en-US" sz="2000" b="1" dirty="0" err="1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추천되었는지</a:t>
            </a:r>
            <a:r>
              <a:rPr lang="en-US" sz="20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” </a:t>
            </a:r>
            <a:r>
              <a:rPr lang="ko-KR" altLang="en-US" sz="20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근거</a:t>
            </a:r>
            <a:r>
              <a:rPr lang="en-US" sz="20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</a:t>
            </a:r>
            <a:r>
              <a:rPr lang="en-US" sz="2000" b="1" dirty="0" err="1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설명하는</a:t>
            </a:r>
            <a:r>
              <a:rPr lang="en-US" sz="20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2000" b="1" dirty="0" err="1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</a:t>
            </a:r>
            <a:r>
              <a:rPr lang="en-US" sz="20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20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개발</a:t>
            </a:r>
            <a:endParaRPr lang="en-US" sz="2000" dirty="0"/>
          </a:p>
        </p:txBody>
      </p:sp>
      <p:sp>
        <p:nvSpPr>
          <p:cNvPr id="30" name="Text 7">
            <a:extLst>
              <a:ext uri="{FF2B5EF4-FFF2-40B4-BE49-F238E27FC236}">
                <a16:creationId xmlns:a16="http://schemas.microsoft.com/office/drawing/2014/main" id="{8E4CD29E-394C-8303-0BFD-F446DBA69F68}"/>
              </a:ext>
            </a:extLst>
          </p:cNvPr>
          <p:cNvSpPr/>
          <p:nvPr/>
        </p:nvSpPr>
        <p:spPr>
          <a:xfrm>
            <a:off x="1124712" y="3131818"/>
            <a:ext cx="55961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indent="-285750">
              <a:buFontTx/>
              <a:buChar char="-"/>
            </a:pP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설명가능 AI 기반 </a:t>
            </a:r>
            <a:r>
              <a:rPr kumimoji="0" lang="ko-KR" altLang="ko-KR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매칭 결과 해석 및 근거 설명 생성 </a:t>
            </a:r>
          </a:p>
        </p:txBody>
      </p:sp>
      <p:sp>
        <p:nvSpPr>
          <p:cNvPr id="32" name="Text 9">
            <a:extLst>
              <a:ext uri="{FF2B5EF4-FFF2-40B4-BE49-F238E27FC236}">
                <a16:creationId xmlns:a16="http://schemas.microsoft.com/office/drawing/2014/main" id="{39CAD408-BEA2-11BA-2D0E-8D759FF26461}"/>
              </a:ext>
            </a:extLst>
          </p:cNvPr>
          <p:cNvSpPr/>
          <p:nvPr/>
        </p:nvSpPr>
        <p:spPr>
          <a:xfrm>
            <a:off x="1124712" y="3881344"/>
            <a:ext cx="55961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-"/>
              <a:tabLst/>
            </a:pP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매칭 결과에 대한 </a:t>
            </a:r>
            <a:r>
              <a:rPr kumimoji="0" lang="ko-KR" altLang="ko-KR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정량·정성적</a:t>
            </a:r>
            <a:r>
              <a:rPr kumimoji="0" lang="ko-KR" altLang="ko-KR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근거 제시 및 적합성 해석 제공 </a:t>
            </a:r>
            <a:endParaRPr kumimoji="0" lang="en-US" altLang="ko-KR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5" name="Shape 12">
            <a:extLst>
              <a:ext uri="{FF2B5EF4-FFF2-40B4-BE49-F238E27FC236}">
                <a16:creationId xmlns:a16="http://schemas.microsoft.com/office/drawing/2014/main" id="{F9C74715-18A3-EC55-4CA4-9FEEF82188F8}"/>
              </a:ext>
            </a:extLst>
          </p:cNvPr>
          <p:cNvSpPr/>
          <p:nvPr/>
        </p:nvSpPr>
        <p:spPr>
          <a:xfrm>
            <a:off x="7498080" y="1607344"/>
            <a:ext cx="4023360" cy="3057530"/>
          </a:xfrm>
          <a:prstGeom prst="roundRect">
            <a:avLst>
              <a:gd name="adj" fmla="val 8780"/>
            </a:avLst>
          </a:prstGeom>
          <a:solidFill>
            <a:srgbClr val="EAF2FF"/>
          </a:solidFill>
          <a:ln w="12700">
            <a:solidFill>
              <a:srgbClr val="C9DBFF"/>
            </a:solidFill>
            <a:prstDash val="solid"/>
          </a:ln>
        </p:spPr>
      </p:sp>
      <p:sp>
        <p:nvSpPr>
          <p:cNvPr id="36" name="Text 13">
            <a:extLst>
              <a:ext uri="{FF2B5EF4-FFF2-40B4-BE49-F238E27FC236}">
                <a16:creationId xmlns:a16="http://schemas.microsoft.com/office/drawing/2014/main" id="{811E1AA2-D3FA-AFFE-9988-85080E327305}"/>
              </a:ext>
            </a:extLst>
          </p:cNvPr>
          <p:cNvSpPr/>
          <p:nvPr/>
        </p:nvSpPr>
        <p:spPr>
          <a:xfrm>
            <a:off x="7708104" y="1981200"/>
            <a:ext cx="1821660" cy="3083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000" b="1" dirty="0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기대 효과</a:t>
            </a:r>
            <a:r>
              <a:rPr lang="en-US" sz="2000" b="1" dirty="0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endParaRPr lang="en-US" sz="2000" dirty="0"/>
          </a:p>
        </p:txBody>
      </p:sp>
      <p:sp>
        <p:nvSpPr>
          <p:cNvPr id="37" name="Text 14">
            <a:extLst>
              <a:ext uri="{FF2B5EF4-FFF2-40B4-BE49-F238E27FC236}">
                <a16:creationId xmlns:a16="http://schemas.microsoft.com/office/drawing/2014/main" id="{4D1E96B5-F9F2-8B33-3FD5-CE3E480CFF09}"/>
              </a:ext>
            </a:extLst>
          </p:cNvPr>
          <p:cNvSpPr/>
          <p:nvPr/>
        </p:nvSpPr>
        <p:spPr>
          <a:xfrm>
            <a:off x="7708392" y="3184113"/>
            <a:ext cx="3569208" cy="9692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-"/>
              <a:tabLst/>
            </a:pPr>
            <a:r>
              <a:rPr kumimoji="0" lang="ko-KR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분석 결과에 대한 사용자 이해도 및 신뢰성 향상</a:t>
            </a:r>
            <a:endParaRPr kumimoji="0" lang="en-US" altLang="ko-KR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-"/>
              <a:tabLst/>
            </a:pPr>
            <a:endParaRPr kumimoji="0" lang="en-US" altLang="ko-KR" sz="16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-"/>
              <a:tabLst/>
            </a:pPr>
            <a:r>
              <a:rPr lang="ko-KR" altLang="en-US" dirty="0">
                <a:latin typeface="Arial" panose="020B0604020202020204" pitchFamily="34" charset="0"/>
              </a:rPr>
              <a:t>기술이전</a:t>
            </a:r>
            <a:r>
              <a:rPr kumimoji="0" lang="ko-KR" altLang="ko-KR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·</a:t>
            </a:r>
            <a:r>
              <a:rPr kumimoji="0" lang="en-US" altLang="ko-KR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사업화 연계 강화</a:t>
            </a:r>
            <a:endParaRPr kumimoji="0" lang="en-US" altLang="ko-KR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5" name="슬라이드 번호 개체 틀 3">
            <a:extLst>
              <a:ext uri="{FF2B5EF4-FFF2-40B4-BE49-F238E27FC236}">
                <a16:creationId xmlns:a16="http://schemas.microsoft.com/office/drawing/2014/main" id="{6AAFCD1A-2EDC-8D84-A4AC-FBA30DE37CC7}"/>
              </a:ext>
            </a:extLst>
          </p:cNvPr>
          <p:cNvSpPr txBox="1">
            <a:spLocks/>
          </p:cNvSpPr>
          <p:nvPr/>
        </p:nvSpPr>
        <p:spPr>
          <a:xfrm>
            <a:off x="11544300" y="6297168"/>
            <a:ext cx="548640" cy="401447"/>
          </a:xfrm>
          <a:prstGeom prst="rect">
            <a:avLst/>
          </a:prstGeom>
        </p:spPr>
        <p:txBody>
          <a:bodyPr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27E591A-007A-4673-8B7B-A2C2EDBF50B5}" type="slidenum">
              <a:rPr lang="ko-KR" altLang="en-US" smtClean="0"/>
              <a:pPr/>
              <a:t>3</a:t>
            </a:fld>
            <a:endParaRPr lang="ko-KR" altLang="en-US" dirty="0"/>
          </a:p>
        </p:txBody>
      </p:sp>
      <p:sp>
        <p:nvSpPr>
          <p:cNvPr id="2" name="Text 0">
            <a:extLst>
              <a:ext uri="{FF2B5EF4-FFF2-40B4-BE49-F238E27FC236}">
                <a16:creationId xmlns:a16="http://schemas.microsoft.com/office/drawing/2014/main" id="{D7EE9D48-3A68-8277-69E0-31F5811365A7}"/>
              </a:ext>
            </a:extLst>
          </p:cNvPr>
          <p:cNvSpPr/>
          <p:nvPr/>
        </p:nvSpPr>
        <p:spPr>
          <a:xfrm>
            <a:off x="548640" y="32004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altLang="ko-KR" sz="1200" b="1" dirty="0">
                <a:solidFill>
                  <a:srgbClr val="1E5E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</a:t>
            </a:r>
            <a:r>
              <a:rPr lang="ko-KR" altLang="en-US" sz="1200" b="1" dirty="0">
                <a:solidFill>
                  <a:srgbClr val="1E5E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매칭 근거 설명문 개요</a:t>
            </a:r>
            <a:endParaRPr lang="en-US" altLang="ko-KR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altLang="ko-KR" sz="1200" b="1" dirty="0">
                <a:solidFill>
                  <a:srgbClr val="1E5E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</a:t>
            </a:r>
            <a:r>
              <a:rPr lang="ko-KR" altLang="en-US" sz="1200" b="1" dirty="0">
                <a:solidFill>
                  <a:srgbClr val="1E5E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매칭 근거 설명문 예시</a:t>
            </a:r>
            <a:endParaRPr lang="en-US" altLang="ko-KR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6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매칭 근거 설명문 </a:t>
            </a:r>
            <a:r>
              <a:rPr lang="en-US" altLang="ko-KR" sz="26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| </a:t>
            </a:r>
            <a:r>
              <a:rPr lang="ko-KR" altLang="en-US" sz="26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기업 → 과제 매칭 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170432"/>
            <a:ext cx="11064240" cy="0"/>
          </a:xfrm>
          <a:prstGeom prst="line">
            <a:avLst/>
          </a:prstGeom>
          <a:noFill/>
          <a:ln w="12700">
            <a:solidFill>
              <a:srgbClr val="D7E0EA"/>
            </a:solidFill>
            <a:prstDash val="solid"/>
          </a:ln>
        </p:spPr>
      </p:sp>
      <p:sp>
        <p:nvSpPr>
          <p:cNvPr id="45" name="슬라이드 번호 개체 틀 3">
            <a:extLst>
              <a:ext uri="{FF2B5EF4-FFF2-40B4-BE49-F238E27FC236}">
                <a16:creationId xmlns:a16="http://schemas.microsoft.com/office/drawing/2014/main" id="{6AAFCD1A-2EDC-8D84-A4AC-FBA30DE37CC7}"/>
              </a:ext>
            </a:extLst>
          </p:cNvPr>
          <p:cNvSpPr txBox="1">
            <a:spLocks/>
          </p:cNvSpPr>
          <p:nvPr/>
        </p:nvSpPr>
        <p:spPr>
          <a:xfrm>
            <a:off x="11544300" y="6297168"/>
            <a:ext cx="548640" cy="401447"/>
          </a:xfrm>
          <a:prstGeom prst="rect">
            <a:avLst/>
          </a:prstGeom>
        </p:spPr>
        <p:txBody>
          <a:bodyPr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27E591A-007A-4673-8B7B-A2C2EDBF50B5}" type="slidenum">
              <a:rPr lang="ko-KR" altLang="en-US" smtClean="0"/>
              <a:pPr/>
              <a:t>4</a:t>
            </a:fld>
            <a:endParaRPr lang="ko-KR" altLang="en-US" dirty="0"/>
          </a:p>
        </p:txBody>
      </p:sp>
      <p:sp>
        <p:nvSpPr>
          <p:cNvPr id="5" name="Shape 4">
            <a:extLst>
              <a:ext uri="{FF2B5EF4-FFF2-40B4-BE49-F238E27FC236}">
                <a16:creationId xmlns:a16="http://schemas.microsoft.com/office/drawing/2014/main" id="{8568271F-B36E-8DF0-53FF-47659222F691}"/>
              </a:ext>
            </a:extLst>
          </p:cNvPr>
          <p:cNvSpPr/>
          <p:nvPr/>
        </p:nvSpPr>
        <p:spPr>
          <a:xfrm>
            <a:off x="685800" y="2813995"/>
            <a:ext cx="4858109" cy="2756545"/>
          </a:xfrm>
          <a:prstGeom prst="roundRect">
            <a:avLst>
              <a:gd name="adj" fmla="val 4731"/>
            </a:avLst>
          </a:prstGeom>
          <a:solidFill>
            <a:srgbClr val="FFFFFF"/>
          </a:solidFill>
          <a:ln w="12700">
            <a:solidFill>
              <a:srgbClr val="D8E3F3"/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2088657-2693-9ACA-93A3-D94E6ED3C88C}"/>
              </a:ext>
            </a:extLst>
          </p:cNvPr>
          <p:cNvSpPr txBox="1"/>
          <p:nvPr/>
        </p:nvSpPr>
        <p:spPr>
          <a:xfrm>
            <a:off x="798396" y="2945396"/>
            <a:ext cx="4632916" cy="24622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100" b="1" i="0" dirty="0">
                <a:effectLst/>
                <a:latin typeface="arial" panose="020B0604020202020204" pitchFamily="34" charset="0"/>
              </a:rPr>
              <a:t>"</a:t>
            </a:r>
            <a:r>
              <a:rPr lang="ko-KR" altLang="en-US" sz="1100" b="1" i="0" dirty="0">
                <a:effectLst/>
                <a:latin typeface="arial" panose="020B0604020202020204" pitchFamily="34" charset="0"/>
              </a:rPr>
              <a:t>연관성</a:t>
            </a:r>
            <a:r>
              <a:rPr lang="en-US" altLang="ko-KR" sz="1100" b="1" i="0" dirty="0">
                <a:effectLst/>
                <a:latin typeface="arial" panose="020B0604020202020204" pitchFamily="34" charset="0"/>
              </a:rPr>
              <a:t>": </a:t>
            </a:r>
          </a:p>
          <a:p>
            <a:endParaRPr lang="en-US" altLang="ko-KR" sz="1100" b="1" i="0" dirty="0">
              <a:effectLst/>
              <a:latin typeface="arial" panose="020B0604020202020204" pitchFamily="34" charset="0"/>
            </a:endParaRPr>
          </a:p>
          <a:p>
            <a:r>
              <a:rPr lang="en-US" altLang="ko-KR" sz="1100" b="0" i="0" dirty="0">
                <a:effectLst/>
                <a:latin typeface="arial" panose="020B0604020202020204" pitchFamily="34" charset="0"/>
              </a:rPr>
              <a:t>"</a:t>
            </a:r>
            <a:r>
              <a:rPr lang="ko-KR" altLang="en-US" sz="1100" b="0" i="0" dirty="0" err="1">
                <a:effectLst/>
                <a:latin typeface="arial" panose="020B0604020202020204" pitchFamily="34" charset="0"/>
              </a:rPr>
              <a:t>오토윈</a:t>
            </a:r>
            <a:r>
              <a:rPr lang="en-US" altLang="ko-KR" sz="1100" b="0" i="0" dirty="0">
                <a:effectLst/>
                <a:latin typeface="arial" panose="020B0604020202020204" pitchFamily="34" charset="0"/>
              </a:rPr>
              <a:t>(</a:t>
            </a:r>
            <a:r>
              <a:rPr lang="ko-KR" altLang="en-US" sz="1100" b="0" i="0" dirty="0">
                <a:effectLst/>
                <a:latin typeface="arial" panose="020B0604020202020204" pitchFamily="34" charset="0"/>
              </a:rPr>
              <a:t>주</a:t>
            </a:r>
            <a:r>
              <a:rPr lang="en-US" altLang="ko-KR" sz="1100" b="0" i="0" dirty="0">
                <a:effectLst/>
                <a:latin typeface="arial" panose="020B0604020202020204" pitchFamily="34" charset="0"/>
              </a:rPr>
              <a:t>)</a:t>
            </a:r>
            <a:r>
              <a:rPr lang="ko-KR" altLang="en-US" sz="1100" b="0" i="0" dirty="0">
                <a:effectLst/>
                <a:latin typeface="arial" panose="020B0604020202020204" pitchFamily="34" charset="0"/>
              </a:rPr>
              <a:t>는 반도체 및 </a:t>
            </a:r>
            <a:r>
              <a:rPr lang="en-US" altLang="ko-KR" sz="1100" b="0" i="0" dirty="0">
                <a:effectLst/>
                <a:latin typeface="arial" panose="020B0604020202020204" pitchFamily="34" charset="0"/>
              </a:rPr>
              <a:t>LC </a:t>
            </a:r>
            <a:r>
              <a:rPr lang="ko-KR" altLang="en-US" sz="1100" b="0" i="0" dirty="0">
                <a:effectLst/>
                <a:latin typeface="arial" panose="020B0604020202020204" pitchFamily="34" charset="0"/>
              </a:rPr>
              <a:t>생산에 필요한 제어 장비와 산업 자동화 장비를 제조하며</a:t>
            </a:r>
            <a:r>
              <a:rPr lang="en-US" altLang="ko-KR" sz="1100" b="0" i="0" dirty="0">
                <a:effectLst/>
                <a:latin typeface="arial" panose="020B0604020202020204" pitchFamily="34" charset="0"/>
              </a:rPr>
              <a:t>, </a:t>
            </a:r>
            <a:r>
              <a:rPr lang="ko-KR" altLang="en-US" sz="1100" b="0" i="0" dirty="0">
                <a:effectLst/>
                <a:latin typeface="arial" panose="020B0604020202020204" pitchFamily="34" charset="0"/>
              </a:rPr>
              <a:t>필름 부착</a:t>
            </a:r>
            <a:r>
              <a:rPr lang="en-US" altLang="ko-KR" sz="1100" b="0" i="0" dirty="0">
                <a:effectLst/>
                <a:latin typeface="arial" panose="020B0604020202020204" pitchFamily="34" charset="0"/>
              </a:rPr>
              <a:t>·</a:t>
            </a:r>
            <a:r>
              <a:rPr lang="ko-KR" altLang="en-US" sz="1100" b="0" i="0" dirty="0">
                <a:effectLst/>
                <a:latin typeface="arial" panose="020B0604020202020204" pitchFamily="34" charset="0"/>
              </a:rPr>
              <a:t>절단</a:t>
            </a:r>
            <a:r>
              <a:rPr lang="en-US" altLang="ko-KR" sz="1100" b="0" i="0" dirty="0">
                <a:effectLst/>
                <a:latin typeface="arial" panose="020B0604020202020204" pitchFamily="34" charset="0"/>
              </a:rPr>
              <a:t>, </a:t>
            </a:r>
            <a:r>
              <a:rPr lang="ko-KR" altLang="en-US" sz="1100" b="0" i="0" dirty="0">
                <a:effectLst/>
                <a:latin typeface="arial" panose="020B0604020202020204" pitchFamily="34" charset="0"/>
              </a:rPr>
              <a:t>반도체 칩 </a:t>
            </a:r>
            <a:r>
              <a:rPr lang="ko-KR" altLang="en-US" sz="1100" b="0" i="0" dirty="0" err="1">
                <a:effectLst/>
                <a:latin typeface="arial" panose="020B0604020202020204" pitchFamily="34" charset="0"/>
              </a:rPr>
              <a:t>본딩</a:t>
            </a:r>
            <a:r>
              <a:rPr lang="en-US" altLang="ko-KR" sz="1100" b="0" i="0" dirty="0">
                <a:effectLst/>
                <a:latin typeface="arial" panose="020B0604020202020204" pitchFamily="34" charset="0"/>
              </a:rPr>
              <a:t>·</a:t>
            </a:r>
            <a:r>
              <a:rPr lang="ko-KR" altLang="en-US" sz="1100" b="0" i="0" dirty="0">
                <a:effectLst/>
                <a:latin typeface="arial" panose="020B0604020202020204" pitchFamily="34" charset="0"/>
              </a:rPr>
              <a:t>이송 등 정밀 자동화 기술을 보유하고 있습니다</a:t>
            </a:r>
            <a:r>
              <a:rPr lang="en-US" altLang="ko-KR" sz="1100" b="0" i="0" dirty="0">
                <a:effectLst/>
                <a:latin typeface="arial" panose="020B0604020202020204" pitchFamily="34" charset="0"/>
              </a:rPr>
              <a:t>. </a:t>
            </a:r>
            <a:r>
              <a:rPr lang="ko-KR" altLang="en-US" sz="1100" b="0" i="0" dirty="0">
                <a:effectLst/>
                <a:latin typeface="arial" panose="020B0604020202020204" pitchFamily="34" charset="0"/>
              </a:rPr>
              <a:t>다품종 생산 공정에서 다양한 형태와 무게의 물체를 견고하게 </a:t>
            </a:r>
            <a:r>
              <a:rPr lang="ko-KR" altLang="en-US" sz="1100" b="0" i="0" dirty="0" err="1">
                <a:effectLst/>
                <a:latin typeface="arial" panose="020B0604020202020204" pitchFamily="34" charset="0"/>
              </a:rPr>
              <a:t>파지하려면</a:t>
            </a:r>
            <a:r>
              <a:rPr lang="ko-KR" altLang="en-US" sz="1100" b="0" i="0" dirty="0">
                <a:effectLst/>
                <a:latin typeface="arial" panose="020B0604020202020204" pitchFamily="34" charset="0"/>
              </a:rPr>
              <a:t> </a:t>
            </a:r>
            <a:r>
              <a:rPr lang="ko-KR" altLang="en-US" sz="1100" b="0" i="0" dirty="0" err="1">
                <a:effectLst/>
                <a:latin typeface="arial" panose="020B0604020202020204" pitchFamily="34" charset="0"/>
              </a:rPr>
              <a:t>그리퍼의</a:t>
            </a:r>
            <a:r>
              <a:rPr lang="ko-KR" altLang="en-US" sz="1100" b="0" i="0" dirty="0">
                <a:effectLst/>
                <a:latin typeface="arial" panose="020B0604020202020204" pitchFamily="34" charset="0"/>
              </a:rPr>
              <a:t> 구조와 제어 방식이 물체의 특성에 따라 유연하게 변해야 하므로</a:t>
            </a:r>
            <a:r>
              <a:rPr lang="en-US" altLang="ko-KR" sz="1100" b="0" i="0" dirty="0">
                <a:effectLst/>
                <a:latin typeface="arial" panose="020B0604020202020204" pitchFamily="34" charset="0"/>
              </a:rPr>
              <a:t>, </a:t>
            </a:r>
            <a:r>
              <a:rPr lang="ko-KR" altLang="en-US" sz="1100" b="0" i="0" dirty="0">
                <a:effectLst/>
                <a:latin typeface="arial" panose="020B0604020202020204" pitchFamily="34" charset="0"/>
              </a:rPr>
              <a:t>이를 구현하기 위한 정밀 설계와 자동화 기술이 필요합니다</a:t>
            </a:r>
            <a:r>
              <a:rPr lang="en-US" altLang="ko-KR" sz="1100" b="0" i="0" dirty="0">
                <a:effectLst/>
                <a:latin typeface="arial" panose="020B0604020202020204" pitchFamily="34" charset="0"/>
              </a:rPr>
              <a:t>. </a:t>
            </a:r>
            <a:r>
              <a:rPr lang="ko-KR" altLang="en-US" sz="1100" b="0" i="0" dirty="0" err="1">
                <a:effectLst/>
                <a:latin typeface="arial" panose="020B0604020202020204" pitchFamily="34" charset="0"/>
              </a:rPr>
              <a:t>오토윈</a:t>
            </a:r>
            <a:r>
              <a:rPr lang="en-US" altLang="ko-KR" sz="1100" b="0" i="0" dirty="0">
                <a:effectLst/>
                <a:latin typeface="arial" panose="020B0604020202020204" pitchFamily="34" charset="0"/>
              </a:rPr>
              <a:t>(</a:t>
            </a:r>
            <a:r>
              <a:rPr lang="ko-KR" altLang="en-US" sz="1100" b="0" i="0" dirty="0">
                <a:effectLst/>
                <a:latin typeface="arial" panose="020B0604020202020204" pitchFamily="34" charset="0"/>
              </a:rPr>
              <a:t>주</a:t>
            </a:r>
            <a:r>
              <a:rPr lang="en-US" altLang="ko-KR" sz="1100" b="0" i="0" dirty="0">
                <a:effectLst/>
                <a:latin typeface="arial" panose="020B0604020202020204" pitchFamily="34" charset="0"/>
              </a:rPr>
              <a:t>)</a:t>
            </a:r>
            <a:r>
              <a:rPr lang="ko-KR" altLang="en-US" sz="1100" b="0" i="0" dirty="0">
                <a:effectLst/>
                <a:latin typeface="arial" panose="020B0604020202020204" pitchFamily="34" charset="0"/>
              </a:rPr>
              <a:t>의 반도체 칩 이송</a:t>
            </a:r>
            <a:r>
              <a:rPr lang="en-US" altLang="ko-KR" sz="1100" b="0" i="0" dirty="0">
                <a:effectLst/>
                <a:latin typeface="arial" panose="020B0604020202020204" pitchFamily="34" charset="0"/>
              </a:rPr>
              <a:t>·</a:t>
            </a:r>
            <a:r>
              <a:rPr lang="ko-KR" altLang="en-US" sz="1100" b="0" i="0" dirty="0">
                <a:effectLst/>
                <a:latin typeface="arial" panose="020B0604020202020204" pitchFamily="34" charset="0"/>
              </a:rPr>
              <a:t>분리 흡착 기술과 필름 정밀 이동</a:t>
            </a:r>
            <a:r>
              <a:rPr lang="en-US" altLang="ko-KR" sz="1100" b="0" i="0" dirty="0">
                <a:effectLst/>
                <a:latin typeface="arial" panose="020B0604020202020204" pitchFamily="34" charset="0"/>
              </a:rPr>
              <a:t>·</a:t>
            </a:r>
            <a:r>
              <a:rPr lang="ko-KR" altLang="en-US" sz="1100" b="0" i="0" dirty="0">
                <a:effectLst/>
                <a:latin typeface="arial" panose="020B0604020202020204" pitchFamily="34" charset="0"/>
              </a:rPr>
              <a:t>절단 기술은 추천 과제의 </a:t>
            </a:r>
            <a:r>
              <a:rPr lang="ko-KR" altLang="en-US" sz="1100" b="0" i="0" dirty="0" err="1">
                <a:effectLst/>
                <a:latin typeface="arial" panose="020B0604020202020204" pitchFamily="34" charset="0"/>
              </a:rPr>
              <a:t>그리퍼</a:t>
            </a:r>
            <a:r>
              <a:rPr lang="ko-KR" altLang="en-US" sz="1100" b="0" i="0" dirty="0">
                <a:effectLst/>
                <a:latin typeface="arial" panose="020B0604020202020204" pitchFamily="34" charset="0"/>
              </a:rPr>
              <a:t> 시스템이 다양한 물체를 안정적으로 처리하는 중간 단계에서 활용될 수 있는 기술적 기반을 제공합니다</a:t>
            </a:r>
            <a:r>
              <a:rPr lang="en-US" altLang="ko-KR" sz="1100" b="0" i="0" dirty="0">
                <a:effectLst/>
                <a:latin typeface="arial" panose="020B0604020202020204" pitchFamily="34" charset="0"/>
              </a:rPr>
              <a:t>. </a:t>
            </a:r>
            <a:r>
              <a:rPr lang="ko-KR" altLang="en-US" sz="1100" b="0" i="0" dirty="0">
                <a:effectLst/>
                <a:latin typeface="arial" panose="020B0604020202020204" pitchFamily="34" charset="0"/>
              </a:rPr>
              <a:t>특히 보유 특허인 반도체 패키지 공정용 테이프 절단장치</a:t>
            </a:r>
            <a:r>
              <a:rPr lang="en-US" altLang="ko-KR" sz="1100" b="0" i="0" dirty="0">
                <a:effectLst/>
                <a:latin typeface="arial" panose="020B0604020202020204" pitchFamily="34" charset="0"/>
              </a:rPr>
              <a:t>, </a:t>
            </a:r>
            <a:r>
              <a:rPr lang="ko-KR" altLang="en-US" sz="1100" b="0" i="0" dirty="0">
                <a:effectLst/>
                <a:latin typeface="arial" panose="020B0604020202020204" pitchFamily="34" charset="0"/>
              </a:rPr>
              <a:t>멀티타입 반도체칩 이송핸드</a:t>
            </a:r>
            <a:r>
              <a:rPr lang="en-US" altLang="ko-KR" sz="1100" b="0" i="0" dirty="0">
                <a:effectLst/>
                <a:latin typeface="arial" panose="020B0604020202020204" pitchFamily="34" charset="0"/>
              </a:rPr>
              <a:t>, </a:t>
            </a:r>
            <a:r>
              <a:rPr lang="ko-KR" altLang="en-US" sz="1100" b="0" i="0" dirty="0">
                <a:effectLst/>
                <a:latin typeface="arial" panose="020B0604020202020204" pitchFamily="34" charset="0"/>
              </a:rPr>
              <a:t>멀티타입 </a:t>
            </a:r>
            <a:r>
              <a:rPr lang="ko-KR" altLang="en-US" sz="1100" b="0" i="0" dirty="0" err="1">
                <a:effectLst/>
                <a:latin typeface="arial" panose="020B0604020202020204" pitchFamily="34" charset="0"/>
              </a:rPr>
              <a:t>테이프이송핸드는</a:t>
            </a:r>
            <a:r>
              <a:rPr lang="ko-KR" altLang="en-US" sz="1100" b="0" i="0" dirty="0">
                <a:effectLst/>
                <a:latin typeface="arial" panose="020B0604020202020204" pitchFamily="34" charset="0"/>
              </a:rPr>
              <a:t> 정밀한 물체 조작과 이송 기술과 연결되어</a:t>
            </a:r>
            <a:r>
              <a:rPr lang="en-US" altLang="ko-KR" sz="1100" b="0" i="0" dirty="0">
                <a:effectLst/>
                <a:latin typeface="arial" panose="020B0604020202020204" pitchFamily="34" charset="0"/>
              </a:rPr>
              <a:t>, </a:t>
            </a:r>
            <a:r>
              <a:rPr lang="ko-KR" altLang="en-US" sz="1100" b="0" i="0" dirty="0">
                <a:effectLst/>
                <a:latin typeface="arial" panose="020B0604020202020204" pitchFamily="34" charset="0"/>
              </a:rPr>
              <a:t>추천 과제의 다품종 생산용 </a:t>
            </a:r>
            <a:r>
              <a:rPr lang="ko-KR" altLang="en-US" sz="1100" b="0" i="0" dirty="0" err="1">
                <a:effectLst/>
                <a:latin typeface="arial" panose="020B0604020202020204" pitchFamily="34" charset="0"/>
              </a:rPr>
              <a:t>그리퍼</a:t>
            </a:r>
            <a:r>
              <a:rPr lang="ko-KR" altLang="en-US" sz="1100" b="0" i="0" dirty="0">
                <a:effectLst/>
                <a:latin typeface="arial" panose="020B0604020202020204" pitchFamily="34" charset="0"/>
              </a:rPr>
              <a:t> 시스템 개발 방향과 기술적으로 유사한 목표를 가지고 있습니다</a:t>
            </a:r>
            <a:r>
              <a:rPr lang="en-US" altLang="ko-KR" sz="1100" b="0" i="0" dirty="0">
                <a:effectLst/>
                <a:latin typeface="arial" panose="020B0604020202020204" pitchFamily="34" charset="0"/>
              </a:rPr>
              <a:t>."</a:t>
            </a:r>
          </a:p>
        </p:txBody>
      </p:sp>
      <p:sp>
        <p:nvSpPr>
          <p:cNvPr id="10" name="Shape 4">
            <a:extLst>
              <a:ext uri="{FF2B5EF4-FFF2-40B4-BE49-F238E27FC236}">
                <a16:creationId xmlns:a16="http://schemas.microsoft.com/office/drawing/2014/main" id="{9B07E57A-CF8D-E4A0-FC8A-2D88327568FB}"/>
              </a:ext>
            </a:extLst>
          </p:cNvPr>
          <p:cNvSpPr/>
          <p:nvPr/>
        </p:nvSpPr>
        <p:spPr>
          <a:xfrm>
            <a:off x="6405110" y="1225295"/>
            <a:ext cx="4858109" cy="5324535"/>
          </a:xfrm>
          <a:prstGeom prst="roundRect">
            <a:avLst>
              <a:gd name="adj" fmla="val 4731"/>
            </a:avLst>
          </a:prstGeom>
          <a:solidFill>
            <a:srgbClr val="FFFFFF"/>
          </a:solidFill>
          <a:ln w="12700">
            <a:solidFill>
              <a:srgbClr val="D8E3F3"/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AB851F2-C013-411A-024A-A3346A9D5D28}"/>
              </a:ext>
            </a:extLst>
          </p:cNvPr>
          <p:cNvSpPr txBox="1"/>
          <p:nvPr/>
        </p:nvSpPr>
        <p:spPr>
          <a:xfrm>
            <a:off x="6517706" y="1336119"/>
            <a:ext cx="4632916" cy="44935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100" b="1" i="0" dirty="0">
                <a:effectLst/>
                <a:latin typeface="arial" panose="020B0604020202020204" pitchFamily="34" charset="0"/>
              </a:rPr>
              <a:t>"</a:t>
            </a:r>
            <a:r>
              <a:rPr lang="ko-KR" altLang="en-US" sz="1100" b="1" i="0" dirty="0">
                <a:effectLst/>
                <a:latin typeface="arial" panose="020B0604020202020204" pitchFamily="34" charset="0"/>
              </a:rPr>
              <a:t>추천 과제의 우수성</a:t>
            </a:r>
            <a:r>
              <a:rPr lang="en-US" altLang="ko-KR" sz="1100" b="1" i="0" dirty="0">
                <a:effectLst/>
                <a:latin typeface="arial" panose="020B0604020202020204" pitchFamily="34" charset="0"/>
              </a:rPr>
              <a:t>": </a:t>
            </a:r>
          </a:p>
          <a:p>
            <a:endParaRPr lang="en-US" altLang="ko-KR" sz="1100" b="1" i="0" dirty="0">
              <a:effectLst/>
              <a:latin typeface="arial" panose="020B0604020202020204" pitchFamily="34" charset="0"/>
            </a:endParaRPr>
          </a:p>
          <a:p>
            <a:r>
              <a:rPr lang="en-US" altLang="ko-KR" sz="1100" b="0" i="0" dirty="0">
                <a:effectLst/>
                <a:latin typeface="arial" panose="020B0604020202020204" pitchFamily="34" charset="0"/>
              </a:rPr>
              <a:t>"</a:t>
            </a:r>
            <a:r>
              <a:rPr lang="ko-KR" altLang="en-US" sz="1100" b="0" i="0" dirty="0">
                <a:effectLst/>
                <a:latin typeface="arial" panose="020B0604020202020204" pitchFamily="34" charset="0"/>
              </a:rPr>
              <a:t>추천된 과제는 총연구비가 로봇</a:t>
            </a:r>
            <a:r>
              <a:rPr lang="en-US" altLang="ko-KR" sz="1100" b="0" i="0" dirty="0">
                <a:effectLst/>
                <a:latin typeface="arial" panose="020B0604020202020204" pitchFamily="34" charset="0"/>
              </a:rPr>
              <a:t>/</a:t>
            </a:r>
            <a:r>
              <a:rPr lang="ko-KR" altLang="en-US" sz="1100" b="0" i="0" dirty="0">
                <a:effectLst/>
                <a:latin typeface="arial" panose="020B0604020202020204" pitchFamily="34" charset="0"/>
              </a:rPr>
              <a:t>자동화기계 업종 내 상위 </a:t>
            </a:r>
            <a:r>
              <a:rPr lang="en-US" altLang="ko-KR" sz="1100" b="0" i="0" dirty="0">
                <a:effectLst/>
                <a:latin typeface="arial" panose="020B0604020202020204" pitchFamily="34" charset="0"/>
              </a:rPr>
              <a:t>20% </a:t>
            </a:r>
            <a:r>
              <a:rPr lang="ko-KR" altLang="en-US" sz="1100" b="0" i="0" dirty="0">
                <a:effectLst/>
                <a:latin typeface="arial" panose="020B0604020202020204" pitchFamily="34" charset="0"/>
              </a:rPr>
              <a:t>수준으로 연구개발 규모 측면에서 우수한 과제로 평가됩니다</a:t>
            </a:r>
            <a:r>
              <a:rPr lang="en-US" altLang="ko-KR" sz="1100" b="0" i="0" dirty="0">
                <a:effectLst/>
                <a:latin typeface="arial" panose="020B0604020202020204" pitchFamily="34" charset="0"/>
              </a:rPr>
              <a:t>. </a:t>
            </a:r>
            <a:r>
              <a:rPr lang="ko-KR" altLang="en-US" sz="1100" b="0" i="0" dirty="0">
                <a:effectLst/>
                <a:latin typeface="arial" panose="020B0604020202020204" pitchFamily="34" charset="0"/>
              </a:rPr>
              <a:t>관련 특허 </a:t>
            </a:r>
            <a:r>
              <a:rPr lang="en-US" altLang="ko-KR" sz="1100" b="0" i="0" dirty="0">
                <a:effectLst/>
                <a:latin typeface="arial" panose="020B0604020202020204" pitchFamily="34" charset="0"/>
              </a:rPr>
              <a:t>2</a:t>
            </a:r>
            <a:r>
              <a:rPr lang="ko-KR" altLang="en-US" sz="1100" b="0" i="0" dirty="0">
                <a:effectLst/>
                <a:latin typeface="arial" panose="020B0604020202020204" pitchFamily="34" charset="0"/>
              </a:rPr>
              <a:t>건의 실적이 있어</a:t>
            </a:r>
            <a:r>
              <a:rPr lang="en-US" altLang="ko-KR" sz="1100" b="0" i="0" dirty="0">
                <a:effectLst/>
                <a:latin typeface="arial" panose="020B0604020202020204" pitchFamily="34" charset="0"/>
              </a:rPr>
              <a:t>, </a:t>
            </a:r>
            <a:r>
              <a:rPr lang="ko-KR" altLang="en-US" sz="1100" b="0" i="0" dirty="0">
                <a:effectLst/>
                <a:latin typeface="arial" panose="020B0604020202020204" pitchFamily="34" charset="0"/>
              </a:rPr>
              <a:t>그립 모듈 및 이를 포함하는 </a:t>
            </a:r>
            <a:r>
              <a:rPr lang="ko-KR" altLang="en-US" sz="1100" b="0" i="0" dirty="0" err="1">
                <a:effectLst/>
                <a:latin typeface="arial" panose="020B0604020202020204" pitchFamily="34" charset="0"/>
              </a:rPr>
              <a:t>그리퍼</a:t>
            </a:r>
            <a:r>
              <a:rPr lang="en-US" altLang="ko-KR" sz="1100" b="0" i="0" dirty="0">
                <a:effectLst/>
                <a:latin typeface="arial" panose="020B0604020202020204" pitchFamily="34" charset="0"/>
              </a:rPr>
              <a:t>, </a:t>
            </a:r>
            <a:r>
              <a:rPr lang="ko-KR" altLang="en-US" sz="1100" b="0" i="0" dirty="0">
                <a:effectLst/>
                <a:latin typeface="arial" panose="020B0604020202020204" pitchFamily="34" charset="0"/>
              </a:rPr>
              <a:t>다품종 생산 공정용 </a:t>
            </a:r>
            <a:r>
              <a:rPr lang="ko-KR" altLang="en-US" sz="1100" b="0" i="0" dirty="0" err="1">
                <a:effectLst/>
                <a:latin typeface="arial" panose="020B0604020202020204" pitchFamily="34" charset="0"/>
              </a:rPr>
              <a:t>그리퍼</a:t>
            </a:r>
            <a:r>
              <a:rPr lang="ko-KR" altLang="en-US" sz="1100" b="0" i="0" dirty="0">
                <a:effectLst/>
                <a:latin typeface="arial" panose="020B0604020202020204" pitchFamily="34" charset="0"/>
              </a:rPr>
              <a:t> 등 핵심 기술에 대한 연구 기반이 확인됩니다</a:t>
            </a:r>
            <a:r>
              <a:rPr lang="en-US" altLang="ko-KR" sz="1100" b="0" i="0" dirty="0">
                <a:effectLst/>
                <a:latin typeface="arial" panose="020B0604020202020204" pitchFamily="34" charset="0"/>
              </a:rPr>
              <a:t>. </a:t>
            </a:r>
            <a:r>
              <a:rPr lang="ko-KR" altLang="en-US" sz="1100" b="0" i="0" dirty="0" err="1">
                <a:effectLst/>
                <a:latin typeface="arial" panose="020B0604020202020204" pitchFamily="34" charset="0"/>
              </a:rPr>
              <a:t>오토윈</a:t>
            </a:r>
            <a:r>
              <a:rPr lang="en-US" altLang="ko-KR" sz="1100" b="0" i="0" dirty="0">
                <a:effectLst/>
                <a:latin typeface="arial" panose="020B0604020202020204" pitchFamily="34" charset="0"/>
              </a:rPr>
              <a:t>(</a:t>
            </a:r>
            <a:r>
              <a:rPr lang="ko-KR" altLang="en-US" sz="1100" b="0" i="0" dirty="0">
                <a:effectLst/>
                <a:latin typeface="arial" panose="020B0604020202020204" pitchFamily="34" charset="0"/>
              </a:rPr>
              <a:t>주</a:t>
            </a:r>
            <a:r>
              <a:rPr lang="en-US" altLang="ko-KR" sz="1100" b="0" i="0" dirty="0">
                <a:effectLst/>
                <a:latin typeface="arial" panose="020B0604020202020204" pitchFamily="34" charset="0"/>
              </a:rPr>
              <a:t>)</a:t>
            </a:r>
            <a:r>
              <a:rPr lang="ko-KR" altLang="en-US" sz="1100" b="0" i="0" dirty="0">
                <a:effectLst/>
                <a:latin typeface="arial" panose="020B0604020202020204" pitchFamily="34" charset="0"/>
              </a:rPr>
              <a:t>는 </a:t>
            </a:r>
            <a:r>
              <a:rPr lang="ko-KR" altLang="en-US" sz="1100" b="0" i="0" dirty="0" err="1">
                <a:effectLst/>
                <a:latin typeface="arial" panose="020B0604020202020204" pitchFamily="34" charset="0"/>
              </a:rPr>
              <a:t>이노비즈</a:t>
            </a:r>
            <a:r>
              <a:rPr lang="ko-KR" altLang="en-US" sz="1100" b="0" i="0" dirty="0">
                <a:effectLst/>
                <a:latin typeface="arial" panose="020B0604020202020204" pitchFamily="34" charset="0"/>
              </a:rPr>
              <a:t> 인증을 받은 기업으로 기술 기반 사업화 역량을 보유하고 있으며</a:t>
            </a:r>
            <a:r>
              <a:rPr lang="en-US" altLang="ko-KR" sz="1100" b="0" i="0" dirty="0">
                <a:effectLst/>
                <a:latin typeface="arial" panose="020B0604020202020204" pitchFamily="34" charset="0"/>
              </a:rPr>
              <a:t>, </a:t>
            </a:r>
            <a:r>
              <a:rPr lang="ko-KR" altLang="en-US" sz="1100" b="0" i="0" dirty="0">
                <a:effectLst/>
                <a:latin typeface="arial" panose="020B0604020202020204" pitchFamily="34" charset="0"/>
              </a:rPr>
              <a:t>부채비율이 기타 기계 및 장비 제조업 그룹 내 상위 </a:t>
            </a:r>
            <a:r>
              <a:rPr lang="en-US" altLang="ko-KR" sz="1100" b="0" i="0" dirty="0">
                <a:effectLst/>
                <a:latin typeface="arial" panose="020B0604020202020204" pitchFamily="34" charset="0"/>
              </a:rPr>
              <a:t>10% </a:t>
            </a:r>
            <a:r>
              <a:rPr lang="ko-KR" altLang="en-US" sz="1100" b="0" i="0" dirty="0">
                <a:effectLst/>
                <a:latin typeface="arial" panose="020B0604020202020204" pitchFamily="34" charset="0"/>
              </a:rPr>
              <a:t>수준으로 재무 건전성을 유지하고 있습니다</a:t>
            </a:r>
            <a:r>
              <a:rPr lang="en-US" altLang="ko-KR" sz="1100" b="0" i="0" dirty="0">
                <a:effectLst/>
                <a:latin typeface="arial" panose="020B0604020202020204" pitchFamily="34" charset="0"/>
              </a:rPr>
              <a:t>. </a:t>
            </a:r>
            <a:r>
              <a:rPr lang="ko-KR" altLang="en-US" sz="1100" b="0" i="0" dirty="0">
                <a:effectLst/>
                <a:latin typeface="arial" panose="020B0604020202020204" pitchFamily="34" charset="0"/>
              </a:rPr>
              <a:t>이러한 재무적 안정성과 기술 인증을 바탕으로</a:t>
            </a:r>
            <a:r>
              <a:rPr lang="en-US" altLang="ko-KR" sz="1100" b="0" i="0" dirty="0">
                <a:effectLst/>
                <a:latin typeface="arial" panose="020B0604020202020204" pitchFamily="34" charset="0"/>
              </a:rPr>
              <a:t>, </a:t>
            </a:r>
            <a:r>
              <a:rPr lang="ko-KR" altLang="en-US" sz="1100" b="0" i="0" dirty="0">
                <a:effectLst/>
                <a:latin typeface="arial" panose="020B0604020202020204" pitchFamily="34" charset="0"/>
              </a:rPr>
              <a:t>추천 과제의 </a:t>
            </a:r>
            <a:r>
              <a:rPr lang="ko-KR" altLang="en-US" sz="1100" b="0" i="0" dirty="0" err="1">
                <a:effectLst/>
                <a:latin typeface="arial" panose="020B0604020202020204" pitchFamily="34" charset="0"/>
              </a:rPr>
              <a:t>그리퍼</a:t>
            </a:r>
            <a:r>
              <a:rPr lang="ko-KR" altLang="en-US" sz="1100" b="0" i="0" dirty="0">
                <a:effectLst/>
                <a:latin typeface="arial" panose="020B0604020202020204" pitchFamily="34" charset="0"/>
              </a:rPr>
              <a:t> 시스템 개발이 회사의 자동화 장비 사업과 연계될 가능성이 높습니다</a:t>
            </a:r>
            <a:r>
              <a:rPr lang="en-US" altLang="ko-KR" sz="1100" b="0" i="0" dirty="0">
                <a:effectLst/>
                <a:latin typeface="arial" panose="020B0604020202020204" pitchFamily="34" charset="0"/>
              </a:rPr>
              <a:t>. </a:t>
            </a:r>
            <a:r>
              <a:rPr lang="ko-KR" altLang="en-US" sz="1100" b="0" i="0" dirty="0">
                <a:effectLst/>
                <a:latin typeface="arial" panose="020B0604020202020204" pitchFamily="34" charset="0"/>
              </a:rPr>
              <a:t>종합하면 이 과제는 회사의 정밀 자동화 기술과 연결될 수 있는 기술 주제를 가지고 있으며</a:t>
            </a:r>
            <a:r>
              <a:rPr lang="en-US" altLang="ko-KR" sz="1100" b="0" i="0" dirty="0">
                <a:effectLst/>
                <a:latin typeface="arial" panose="020B0604020202020204" pitchFamily="34" charset="0"/>
              </a:rPr>
              <a:t>, </a:t>
            </a:r>
            <a:r>
              <a:rPr lang="ko-KR" altLang="en-US" sz="1100" b="0" i="0" dirty="0">
                <a:effectLst/>
                <a:latin typeface="arial" panose="020B0604020202020204" pitchFamily="34" charset="0"/>
              </a:rPr>
              <a:t>연구 규모와 관련 특허 실적</a:t>
            </a:r>
            <a:r>
              <a:rPr lang="en-US" altLang="ko-KR" sz="1100" b="0" i="0" dirty="0">
                <a:effectLst/>
                <a:latin typeface="arial" panose="020B0604020202020204" pitchFamily="34" charset="0"/>
              </a:rPr>
              <a:t>, </a:t>
            </a:r>
            <a:r>
              <a:rPr lang="ko-KR" altLang="en-US" sz="1100" b="0" i="0" dirty="0">
                <a:effectLst/>
                <a:latin typeface="arial" panose="020B0604020202020204" pitchFamily="34" charset="0"/>
              </a:rPr>
              <a:t>회사의 기술사업화 기반을 함께 고려할 때 추천 타당성이 높습니다</a:t>
            </a:r>
            <a:r>
              <a:rPr lang="en-US" altLang="ko-KR" sz="1100" b="0" i="0" dirty="0">
                <a:effectLst/>
                <a:latin typeface="arial" panose="020B0604020202020204" pitchFamily="34" charset="0"/>
              </a:rPr>
              <a:t>.“</a:t>
            </a:r>
          </a:p>
          <a:p>
            <a:endParaRPr lang="en-US" altLang="ko-KR" sz="1100" b="1" dirty="0">
              <a:latin typeface="arial" panose="020B0604020202020204" pitchFamily="34" charset="0"/>
            </a:endParaRPr>
          </a:p>
          <a:p>
            <a:r>
              <a:rPr lang="en-US" altLang="ko-KR" sz="1100" b="1" i="0" dirty="0">
                <a:effectLst/>
                <a:latin typeface="arial" panose="020B0604020202020204" pitchFamily="34" charset="0"/>
              </a:rPr>
              <a:t>"</a:t>
            </a:r>
            <a:r>
              <a:rPr lang="ko-KR" altLang="en-US" sz="1100" b="1" i="0" dirty="0">
                <a:effectLst/>
                <a:latin typeface="arial" panose="020B0604020202020204" pitchFamily="34" charset="0"/>
              </a:rPr>
              <a:t>유사 사례</a:t>
            </a:r>
            <a:r>
              <a:rPr lang="en-US" altLang="ko-KR" sz="1100" b="1" i="0" dirty="0">
                <a:effectLst/>
                <a:latin typeface="arial" panose="020B0604020202020204" pitchFamily="34" charset="0"/>
              </a:rPr>
              <a:t>": </a:t>
            </a:r>
          </a:p>
          <a:p>
            <a:endParaRPr lang="en-US" altLang="ko-KR" sz="1100" b="1" i="0" dirty="0">
              <a:effectLst/>
              <a:latin typeface="arial" panose="020B0604020202020204" pitchFamily="34" charset="0"/>
            </a:endParaRPr>
          </a:p>
          <a:p>
            <a:r>
              <a:rPr lang="en-US" altLang="ko-KR" sz="1100" b="0" i="0" dirty="0">
                <a:effectLst/>
                <a:latin typeface="arial" panose="020B0604020202020204" pitchFamily="34" charset="0"/>
              </a:rPr>
              <a:t>"</a:t>
            </a:r>
            <a:r>
              <a:rPr lang="ko-KR" altLang="en-US" sz="1100" b="0" i="0" dirty="0" err="1">
                <a:effectLst/>
                <a:latin typeface="arial" panose="020B0604020202020204" pitchFamily="34" charset="0"/>
              </a:rPr>
              <a:t>오토윈</a:t>
            </a:r>
            <a:r>
              <a:rPr lang="en-US" altLang="ko-KR" sz="1100" b="0" i="0" dirty="0">
                <a:effectLst/>
                <a:latin typeface="arial" panose="020B0604020202020204" pitchFamily="34" charset="0"/>
              </a:rPr>
              <a:t>(</a:t>
            </a:r>
            <a:r>
              <a:rPr lang="ko-KR" altLang="en-US" sz="1100" b="0" i="0" dirty="0">
                <a:effectLst/>
                <a:latin typeface="arial" panose="020B0604020202020204" pitchFamily="34" charset="0"/>
              </a:rPr>
              <a:t>주</a:t>
            </a:r>
            <a:r>
              <a:rPr lang="en-US" altLang="ko-KR" sz="1100" b="0" i="0" dirty="0">
                <a:effectLst/>
                <a:latin typeface="arial" panose="020B0604020202020204" pitchFamily="34" charset="0"/>
              </a:rPr>
              <a:t>)</a:t>
            </a:r>
            <a:r>
              <a:rPr lang="ko-KR" altLang="en-US" sz="1100" b="0" i="0" dirty="0">
                <a:effectLst/>
                <a:latin typeface="arial" panose="020B0604020202020204" pitchFamily="34" charset="0"/>
              </a:rPr>
              <a:t>가 보유한 반도체 패키지 공정용 테이프 절단장치</a:t>
            </a:r>
            <a:r>
              <a:rPr lang="en-US" altLang="ko-KR" sz="1100" b="0" i="0" dirty="0">
                <a:effectLst/>
                <a:latin typeface="arial" panose="020B0604020202020204" pitchFamily="34" charset="0"/>
              </a:rPr>
              <a:t>, </a:t>
            </a:r>
            <a:r>
              <a:rPr lang="ko-KR" altLang="en-US" sz="1100" b="0" i="0" dirty="0">
                <a:effectLst/>
                <a:latin typeface="arial" panose="020B0604020202020204" pitchFamily="34" charset="0"/>
              </a:rPr>
              <a:t>멀티타입 반도체칩 이송핸드</a:t>
            </a:r>
            <a:r>
              <a:rPr lang="en-US" altLang="ko-KR" sz="1100" b="0" i="0" dirty="0">
                <a:effectLst/>
                <a:latin typeface="arial" panose="020B0604020202020204" pitchFamily="34" charset="0"/>
              </a:rPr>
              <a:t>, </a:t>
            </a:r>
            <a:r>
              <a:rPr lang="ko-KR" altLang="en-US" sz="1100" b="0" i="0" dirty="0">
                <a:effectLst/>
                <a:latin typeface="arial" panose="020B0604020202020204" pitchFamily="34" charset="0"/>
              </a:rPr>
              <a:t>멀티타입 </a:t>
            </a:r>
            <a:r>
              <a:rPr lang="ko-KR" altLang="en-US" sz="1100" b="0" i="0" dirty="0" err="1">
                <a:effectLst/>
                <a:latin typeface="arial" panose="020B0604020202020204" pitchFamily="34" charset="0"/>
              </a:rPr>
              <a:t>테이프이송핸드</a:t>
            </a:r>
            <a:r>
              <a:rPr lang="ko-KR" altLang="en-US" sz="1100" b="0" i="0" dirty="0">
                <a:effectLst/>
                <a:latin typeface="arial" panose="020B0604020202020204" pitchFamily="34" charset="0"/>
              </a:rPr>
              <a:t> 관련 특허는 정밀한 물체 조작과 이송 기술을 중심으로 하며</a:t>
            </a:r>
            <a:r>
              <a:rPr lang="en-US" altLang="ko-KR" sz="1100" b="0" i="0" dirty="0">
                <a:effectLst/>
                <a:latin typeface="arial" panose="020B0604020202020204" pitchFamily="34" charset="0"/>
              </a:rPr>
              <a:t>, </a:t>
            </a:r>
            <a:r>
              <a:rPr lang="ko-KR" altLang="en-US" sz="1100" b="0" i="0" dirty="0">
                <a:effectLst/>
                <a:latin typeface="arial" panose="020B0604020202020204" pitchFamily="34" charset="0"/>
              </a:rPr>
              <a:t>이는 다양한 형태와 무게의 물체를 견고하게 파지해야 하는 현재 추천 과제의 </a:t>
            </a:r>
            <a:r>
              <a:rPr lang="ko-KR" altLang="en-US" sz="1100" b="0" i="0" dirty="0" err="1">
                <a:effectLst/>
                <a:latin typeface="arial" panose="020B0604020202020204" pitchFamily="34" charset="0"/>
              </a:rPr>
              <a:t>그리퍼</a:t>
            </a:r>
            <a:r>
              <a:rPr lang="ko-KR" altLang="en-US" sz="1100" b="0" i="0" dirty="0">
                <a:effectLst/>
                <a:latin typeface="arial" panose="020B0604020202020204" pitchFamily="34" charset="0"/>
              </a:rPr>
              <a:t> 시스템 개발 기술과 연관됩니다</a:t>
            </a:r>
            <a:r>
              <a:rPr lang="en-US" altLang="ko-KR" sz="1100" b="0" i="0" dirty="0">
                <a:effectLst/>
                <a:latin typeface="arial" panose="020B0604020202020204" pitchFamily="34" charset="0"/>
              </a:rPr>
              <a:t>. </a:t>
            </a:r>
            <a:r>
              <a:rPr lang="ko-KR" altLang="en-US" sz="1100" b="0" i="0" dirty="0">
                <a:effectLst/>
                <a:latin typeface="arial" panose="020B0604020202020204" pitchFamily="34" charset="0"/>
              </a:rPr>
              <a:t>추천된 과제의 관련 특허는 그립 모듈 및 이를 포함하는 </a:t>
            </a:r>
            <a:r>
              <a:rPr lang="ko-KR" altLang="en-US" sz="1100" b="0" i="0" dirty="0" err="1">
                <a:effectLst/>
                <a:latin typeface="arial" panose="020B0604020202020204" pitchFamily="34" charset="0"/>
              </a:rPr>
              <a:t>그리퍼</a:t>
            </a:r>
            <a:r>
              <a:rPr lang="en-US" altLang="ko-KR" sz="1100" b="0" i="0" dirty="0">
                <a:effectLst/>
                <a:latin typeface="arial" panose="020B0604020202020204" pitchFamily="34" charset="0"/>
              </a:rPr>
              <a:t>, </a:t>
            </a:r>
            <a:r>
              <a:rPr lang="ko-KR" altLang="en-US" sz="1100" b="0" i="0" dirty="0">
                <a:effectLst/>
                <a:latin typeface="arial" panose="020B0604020202020204" pitchFamily="34" charset="0"/>
              </a:rPr>
              <a:t>다품종 생산 공정용 </a:t>
            </a:r>
            <a:r>
              <a:rPr lang="ko-KR" altLang="en-US" sz="1100" b="0" i="0" dirty="0" err="1">
                <a:effectLst/>
                <a:latin typeface="arial" panose="020B0604020202020204" pitchFamily="34" charset="0"/>
              </a:rPr>
              <a:t>그리퍼를</a:t>
            </a:r>
            <a:r>
              <a:rPr lang="ko-KR" altLang="en-US" sz="1100" b="0" i="0" dirty="0">
                <a:effectLst/>
                <a:latin typeface="arial" panose="020B0604020202020204" pitchFamily="34" charset="0"/>
              </a:rPr>
              <a:t> 중심으로 하고 있어</a:t>
            </a:r>
            <a:r>
              <a:rPr lang="en-US" altLang="ko-KR" sz="1100" b="0" i="0" dirty="0">
                <a:effectLst/>
                <a:latin typeface="arial" panose="020B0604020202020204" pitchFamily="34" charset="0"/>
              </a:rPr>
              <a:t>, </a:t>
            </a:r>
            <a:r>
              <a:rPr lang="ko-KR" altLang="en-US" sz="1100" b="0" i="0" dirty="0">
                <a:effectLst/>
                <a:latin typeface="arial" panose="020B0604020202020204" pitchFamily="34" charset="0"/>
              </a:rPr>
              <a:t>다양한 물체 처리에 적합한 구조와 설계 기술에 대한 연구개발이 이루어지고 있음을 보여줍니다</a:t>
            </a:r>
            <a:r>
              <a:rPr lang="en-US" altLang="ko-KR" sz="1100" b="0" i="0" dirty="0">
                <a:effectLst/>
                <a:latin typeface="arial" panose="020B0604020202020204" pitchFamily="34" charset="0"/>
              </a:rPr>
              <a:t>. </a:t>
            </a:r>
            <a:r>
              <a:rPr lang="ko-KR" altLang="en-US" sz="1100" b="0" i="0" dirty="0">
                <a:effectLst/>
                <a:latin typeface="arial" panose="020B0604020202020204" pitchFamily="34" charset="0"/>
              </a:rPr>
              <a:t>이러한 기술은 생산 현장에서 다양한 물체를 안정적으로 파지하는 로봇 </a:t>
            </a:r>
            <a:r>
              <a:rPr lang="ko-KR" altLang="en-US" sz="1100" b="0" i="0" dirty="0" err="1">
                <a:effectLst/>
                <a:latin typeface="arial" panose="020B0604020202020204" pitchFamily="34" charset="0"/>
              </a:rPr>
              <a:t>그리퍼</a:t>
            </a:r>
            <a:r>
              <a:rPr lang="ko-KR" altLang="en-US" sz="1100" b="0" i="0" dirty="0">
                <a:effectLst/>
                <a:latin typeface="arial" panose="020B0604020202020204" pitchFamily="34" charset="0"/>
              </a:rPr>
              <a:t> 시스템에 활용될 수 있으며</a:t>
            </a:r>
            <a:r>
              <a:rPr lang="en-US" altLang="ko-KR" sz="1100" b="0" i="0" dirty="0">
                <a:effectLst/>
                <a:latin typeface="arial" panose="020B0604020202020204" pitchFamily="34" charset="0"/>
              </a:rPr>
              <a:t>, </a:t>
            </a:r>
            <a:r>
              <a:rPr lang="ko-KR" altLang="en-US" sz="1100" b="0" i="0" dirty="0" err="1">
                <a:effectLst/>
                <a:latin typeface="arial" panose="020B0604020202020204" pitchFamily="34" charset="0"/>
              </a:rPr>
              <a:t>오토윈</a:t>
            </a:r>
            <a:r>
              <a:rPr lang="en-US" altLang="ko-KR" sz="1100" b="0" i="0" dirty="0">
                <a:effectLst/>
                <a:latin typeface="arial" panose="020B0604020202020204" pitchFamily="34" charset="0"/>
              </a:rPr>
              <a:t>(</a:t>
            </a:r>
            <a:r>
              <a:rPr lang="ko-KR" altLang="en-US" sz="1100" b="0" i="0" dirty="0">
                <a:effectLst/>
                <a:latin typeface="arial" panose="020B0604020202020204" pitchFamily="34" charset="0"/>
              </a:rPr>
              <a:t>주</a:t>
            </a:r>
            <a:r>
              <a:rPr lang="en-US" altLang="ko-KR" sz="1100" b="0" i="0" dirty="0">
                <a:effectLst/>
                <a:latin typeface="arial" panose="020B0604020202020204" pitchFamily="34" charset="0"/>
              </a:rPr>
              <a:t>)</a:t>
            </a:r>
            <a:r>
              <a:rPr lang="ko-KR" altLang="en-US" sz="1100" b="0" i="0" dirty="0">
                <a:effectLst/>
                <a:latin typeface="arial" panose="020B0604020202020204" pitchFamily="34" charset="0"/>
              </a:rPr>
              <a:t>의 반도체 및 </a:t>
            </a:r>
            <a:r>
              <a:rPr lang="en-US" altLang="ko-KR" sz="1100" b="0" i="0" dirty="0">
                <a:effectLst/>
                <a:latin typeface="arial" panose="020B0604020202020204" pitchFamily="34" charset="0"/>
              </a:rPr>
              <a:t>LC </a:t>
            </a:r>
            <a:r>
              <a:rPr lang="ko-KR" altLang="en-US" sz="1100" b="0" i="0" dirty="0">
                <a:effectLst/>
                <a:latin typeface="arial" panose="020B0604020202020204" pitchFamily="34" charset="0"/>
              </a:rPr>
              <a:t>생산 제어 장비</a:t>
            </a:r>
            <a:r>
              <a:rPr lang="en-US" altLang="ko-KR" sz="1100" b="0" i="0" dirty="0">
                <a:effectLst/>
                <a:latin typeface="arial" panose="020B0604020202020204" pitchFamily="34" charset="0"/>
              </a:rPr>
              <a:t>, </a:t>
            </a:r>
            <a:r>
              <a:rPr lang="ko-KR" altLang="en-US" sz="1100" b="0" i="0" dirty="0">
                <a:effectLst/>
                <a:latin typeface="arial" panose="020B0604020202020204" pitchFamily="34" charset="0"/>
              </a:rPr>
              <a:t>산업 자동화 장비 사업과 연결될 수 있습니다</a:t>
            </a:r>
            <a:r>
              <a:rPr lang="en-US" altLang="ko-KR" sz="1100" b="0" i="0" dirty="0">
                <a:effectLst/>
                <a:latin typeface="arial" panose="020B0604020202020204" pitchFamily="34" charset="0"/>
              </a:rPr>
              <a:t>."</a:t>
            </a:r>
            <a:endParaRPr lang="ko-KR" altLang="en-US" sz="11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C41BD3D-7D03-7201-8BCF-E889B15EDA11}"/>
              </a:ext>
            </a:extLst>
          </p:cNvPr>
          <p:cNvSpPr txBox="1"/>
          <p:nvPr/>
        </p:nvSpPr>
        <p:spPr>
          <a:xfrm>
            <a:off x="685800" y="1386000"/>
            <a:ext cx="4924486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400" b="1" i="0" dirty="0">
                <a:effectLst/>
                <a:latin typeface="arial" panose="020B0604020202020204" pitchFamily="34" charset="0"/>
              </a:rPr>
              <a:t>기업명 </a:t>
            </a:r>
            <a:r>
              <a:rPr lang="en-US" altLang="ko-KR" sz="1400" b="1" i="0" dirty="0">
                <a:effectLst/>
                <a:latin typeface="arial" panose="020B0604020202020204" pitchFamily="34" charset="0"/>
              </a:rPr>
              <a:t>: </a:t>
            </a:r>
            <a:r>
              <a:rPr lang="ko-KR" altLang="en-US" sz="1400" i="0" dirty="0" err="1">
                <a:effectLst/>
                <a:latin typeface="arial" panose="020B0604020202020204" pitchFamily="34" charset="0"/>
              </a:rPr>
              <a:t>오토윈</a:t>
            </a:r>
            <a:r>
              <a:rPr lang="ko-KR" altLang="en-US" sz="1400" i="0" dirty="0">
                <a:effectLst/>
                <a:latin typeface="arial" panose="020B0604020202020204" pitchFamily="34" charset="0"/>
              </a:rPr>
              <a:t>㈜</a:t>
            </a:r>
            <a:endParaRPr lang="en-US" altLang="ko-KR" sz="1400" i="0" dirty="0">
              <a:effectLst/>
              <a:latin typeface="arial" panose="020B060402020202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400" b="1" dirty="0">
                <a:latin typeface="arial" panose="020B0604020202020204" pitchFamily="34" charset="0"/>
              </a:rPr>
              <a:t>매칭 과제명</a:t>
            </a:r>
            <a:r>
              <a:rPr lang="en-US" altLang="ko-KR" sz="1400" b="1" dirty="0">
                <a:latin typeface="arial" panose="020B0604020202020204" pitchFamily="34" charset="0"/>
              </a:rPr>
              <a:t>: </a:t>
            </a:r>
            <a:r>
              <a:rPr lang="ko-KR" altLang="en-US" sz="1400" b="0" i="0" dirty="0">
                <a:effectLst/>
                <a:latin typeface="arial" panose="020B0604020202020204" pitchFamily="34" charset="0"/>
              </a:rPr>
              <a:t>다양한 형태 무게 강도의 불특정 물체를 견고하게 파지 가능한 다품종 생산 공정용 </a:t>
            </a:r>
            <a:r>
              <a:rPr lang="ko-KR" altLang="en-US" sz="1400" b="0" i="0" dirty="0" err="1">
                <a:effectLst/>
                <a:latin typeface="arial" panose="020B0604020202020204" pitchFamily="34" charset="0"/>
              </a:rPr>
              <a:t>그리퍼</a:t>
            </a:r>
            <a:r>
              <a:rPr lang="ko-KR" altLang="en-US" sz="1400" b="0" i="0" dirty="0">
                <a:effectLst/>
                <a:latin typeface="arial" panose="020B0604020202020204" pitchFamily="34" charset="0"/>
              </a:rPr>
              <a:t> 시스템 개발</a:t>
            </a:r>
            <a:endParaRPr lang="en-US" altLang="ko-KR" sz="1400" b="0" i="0" dirty="0"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763471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altLang="ko-KR" sz="1200" b="1" dirty="0">
                <a:solidFill>
                  <a:srgbClr val="1E5E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</a:t>
            </a:r>
            <a:r>
              <a:rPr lang="ko-KR" altLang="en-US" sz="1200" b="1" dirty="0">
                <a:solidFill>
                  <a:srgbClr val="1E5E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매칭 근거 설명문 예시</a:t>
            </a:r>
            <a:endParaRPr lang="en-US" altLang="ko-KR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6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매칭 근거 설명문 </a:t>
            </a:r>
            <a:r>
              <a:rPr lang="en-US" altLang="ko-KR" sz="26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| </a:t>
            </a:r>
            <a:r>
              <a:rPr lang="ko-KR" altLang="en-US" sz="26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과제 → 기업 매칭 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170432"/>
            <a:ext cx="11064240" cy="0"/>
          </a:xfrm>
          <a:prstGeom prst="line">
            <a:avLst/>
          </a:prstGeom>
          <a:noFill/>
          <a:ln w="12700">
            <a:solidFill>
              <a:srgbClr val="D7E0EA"/>
            </a:solidFill>
            <a:prstDash val="solid"/>
          </a:ln>
        </p:spPr>
      </p:sp>
      <p:sp>
        <p:nvSpPr>
          <p:cNvPr id="45" name="슬라이드 번호 개체 틀 3">
            <a:extLst>
              <a:ext uri="{FF2B5EF4-FFF2-40B4-BE49-F238E27FC236}">
                <a16:creationId xmlns:a16="http://schemas.microsoft.com/office/drawing/2014/main" id="{6AAFCD1A-2EDC-8D84-A4AC-FBA30DE37CC7}"/>
              </a:ext>
            </a:extLst>
          </p:cNvPr>
          <p:cNvSpPr txBox="1">
            <a:spLocks/>
          </p:cNvSpPr>
          <p:nvPr/>
        </p:nvSpPr>
        <p:spPr>
          <a:xfrm>
            <a:off x="11544300" y="6297168"/>
            <a:ext cx="548640" cy="401447"/>
          </a:xfrm>
          <a:prstGeom prst="rect">
            <a:avLst/>
          </a:prstGeom>
        </p:spPr>
        <p:txBody>
          <a:bodyPr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27E591A-007A-4673-8B7B-A2C2EDBF50B5}" type="slidenum">
              <a:rPr lang="ko-KR" altLang="en-US" smtClean="0"/>
              <a:pPr/>
              <a:t>5</a:t>
            </a:fld>
            <a:endParaRPr lang="ko-KR" altLang="en-US" dirty="0"/>
          </a:p>
        </p:txBody>
      </p:sp>
      <p:sp>
        <p:nvSpPr>
          <p:cNvPr id="11" name="Shape 4">
            <a:extLst>
              <a:ext uri="{FF2B5EF4-FFF2-40B4-BE49-F238E27FC236}">
                <a16:creationId xmlns:a16="http://schemas.microsoft.com/office/drawing/2014/main" id="{BD9BD9FE-926E-FE4D-0C31-613D905F6AD9}"/>
              </a:ext>
            </a:extLst>
          </p:cNvPr>
          <p:cNvSpPr/>
          <p:nvPr/>
        </p:nvSpPr>
        <p:spPr>
          <a:xfrm>
            <a:off x="685800" y="2813995"/>
            <a:ext cx="4858109" cy="3159052"/>
          </a:xfrm>
          <a:prstGeom prst="roundRect">
            <a:avLst>
              <a:gd name="adj" fmla="val 4731"/>
            </a:avLst>
          </a:prstGeom>
          <a:solidFill>
            <a:srgbClr val="FFFFFF"/>
          </a:solidFill>
          <a:ln w="12700">
            <a:solidFill>
              <a:srgbClr val="D8E3F3"/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2D11C49-DF78-7938-A1C5-7144419C1992}"/>
              </a:ext>
            </a:extLst>
          </p:cNvPr>
          <p:cNvSpPr txBox="1"/>
          <p:nvPr/>
        </p:nvSpPr>
        <p:spPr>
          <a:xfrm>
            <a:off x="798396" y="2945396"/>
            <a:ext cx="4632916" cy="29700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100" b="1" i="0" dirty="0">
                <a:effectLst/>
                <a:latin typeface="arial" panose="020B0604020202020204" pitchFamily="34" charset="0"/>
              </a:rPr>
              <a:t>"</a:t>
            </a:r>
            <a:r>
              <a:rPr lang="ko-KR" altLang="en-US" sz="1100" b="1" i="0" dirty="0">
                <a:effectLst/>
                <a:latin typeface="arial" panose="020B0604020202020204" pitchFamily="34" charset="0"/>
              </a:rPr>
              <a:t>연관성</a:t>
            </a:r>
            <a:r>
              <a:rPr lang="en-US" altLang="ko-KR" sz="1100" b="1" i="0" dirty="0">
                <a:effectLst/>
                <a:latin typeface="arial" panose="020B0604020202020204" pitchFamily="34" charset="0"/>
              </a:rPr>
              <a:t>": </a:t>
            </a:r>
          </a:p>
          <a:p>
            <a:endParaRPr lang="en-US" altLang="ko-KR" sz="1100" b="1" i="0" dirty="0">
              <a:effectLst/>
              <a:latin typeface="arial" panose="020B0604020202020204" pitchFamily="34" charset="0"/>
            </a:endParaRPr>
          </a:p>
          <a:p>
            <a:r>
              <a:rPr lang="en-US" altLang="ko-KR" sz="1100" b="0" i="0" dirty="0">
                <a:effectLst/>
                <a:latin typeface="arial" panose="020B0604020202020204" pitchFamily="34" charset="0"/>
              </a:rPr>
              <a:t>"</a:t>
            </a:r>
            <a:r>
              <a:rPr lang="ko-KR" altLang="en-US" sz="1100" b="0" i="0" dirty="0">
                <a:effectLst/>
                <a:latin typeface="arial" panose="020B0604020202020204" pitchFamily="34" charset="0"/>
              </a:rPr>
              <a:t>본 과제는 제품 생산의 유연성을 확보하기 위한 뿌리공정기술을 개발하는 것을 목표로 하며</a:t>
            </a:r>
            <a:r>
              <a:rPr lang="en-US" altLang="ko-KR" sz="1100" b="0" i="0" dirty="0">
                <a:effectLst/>
                <a:latin typeface="arial" panose="020B0604020202020204" pitchFamily="34" charset="0"/>
              </a:rPr>
              <a:t>, </a:t>
            </a:r>
            <a:r>
              <a:rPr lang="ko-KR" altLang="en-US" sz="1100" b="0" i="0" dirty="0">
                <a:effectLst/>
                <a:latin typeface="arial" panose="020B0604020202020204" pitchFamily="34" charset="0"/>
              </a:rPr>
              <a:t>금속 소재의 성형</a:t>
            </a:r>
            <a:r>
              <a:rPr lang="en-US" altLang="ko-KR" sz="1100" b="0" i="0" dirty="0">
                <a:effectLst/>
                <a:latin typeface="arial" panose="020B0604020202020204" pitchFamily="34" charset="0"/>
              </a:rPr>
              <a:t>, </a:t>
            </a:r>
            <a:r>
              <a:rPr lang="ko-KR" altLang="en-US" sz="1100" b="0" i="0" dirty="0">
                <a:effectLst/>
                <a:latin typeface="arial" panose="020B0604020202020204" pitchFamily="34" charset="0"/>
              </a:rPr>
              <a:t>용접</a:t>
            </a:r>
            <a:r>
              <a:rPr lang="en-US" altLang="ko-KR" sz="1100" b="0" i="0" dirty="0">
                <a:effectLst/>
                <a:latin typeface="arial" panose="020B0604020202020204" pitchFamily="34" charset="0"/>
              </a:rPr>
              <a:t>, </a:t>
            </a:r>
            <a:r>
              <a:rPr lang="ko-KR" altLang="en-US" sz="1100" b="0" i="0" dirty="0">
                <a:effectLst/>
                <a:latin typeface="arial" panose="020B0604020202020204" pitchFamily="34" charset="0"/>
              </a:rPr>
              <a:t>코팅 및 </a:t>
            </a:r>
            <a:r>
              <a:rPr lang="en-US" altLang="ko-KR" sz="1100" b="0" i="0" dirty="0">
                <a:effectLst/>
                <a:latin typeface="arial" panose="020B0604020202020204" pitchFamily="34" charset="0"/>
              </a:rPr>
              <a:t>3D </a:t>
            </a:r>
            <a:r>
              <a:rPr lang="ko-KR" altLang="en-US" sz="1100" b="0" i="0" dirty="0">
                <a:effectLst/>
                <a:latin typeface="arial" panose="020B0604020202020204" pitchFamily="34" charset="0"/>
              </a:rPr>
              <a:t>프린팅 기술 등 정밀한 제조 공정 기술이 핵심적으로 활용됩니다</a:t>
            </a:r>
            <a:r>
              <a:rPr lang="en-US" altLang="ko-KR" sz="1100" b="0" i="0" dirty="0">
                <a:effectLst/>
                <a:latin typeface="arial" panose="020B0604020202020204" pitchFamily="34" charset="0"/>
              </a:rPr>
              <a:t>. </a:t>
            </a:r>
            <a:r>
              <a:rPr lang="ko-KR" altLang="en-US" sz="1100" b="0" i="0" dirty="0">
                <a:effectLst/>
                <a:latin typeface="arial" panose="020B0604020202020204" pitchFamily="34" charset="0"/>
              </a:rPr>
              <a:t>금속 소재의 성형과 가공 과정에서 소재의 두께</a:t>
            </a:r>
            <a:r>
              <a:rPr lang="en-US" altLang="ko-KR" sz="1100" b="0" i="0" dirty="0">
                <a:effectLst/>
                <a:latin typeface="arial" panose="020B0604020202020204" pitchFamily="34" charset="0"/>
              </a:rPr>
              <a:t>, </a:t>
            </a:r>
            <a:r>
              <a:rPr lang="ko-KR" altLang="en-US" sz="1100" b="0" i="0" dirty="0">
                <a:effectLst/>
                <a:latin typeface="arial" panose="020B0604020202020204" pitchFamily="34" charset="0"/>
              </a:rPr>
              <a:t>강도</a:t>
            </a:r>
            <a:r>
              <a:rPr lang="en-US" altLang="ko-KR" sz="1100" b="0" i="0" dirty="0">
                <a:effectLst/>
                <a:latin typeface="arial" panose="020B0604020202020204" pitchFamily="34" charset="0"/>
              </a:rPr>
              <a:t>, </a:t>
            </a:r>
            <a:r>
              <a:rPr lang="ko-KR" altLang="en-US" sz="1100" b="0" i="0" dirty="0">
                <a:effectLst/>
                <a:latin typeface="arial" panose="020B0604020202020204" pitchFamily="34" charset="0"/>
              </a:rPr>
              <a:t>열적 안정성 등의 조건이 변하면 제품의 정밀도와 생산 효율에 직접적인 영향을 미치기 때문에</a:t>
            </a:r>
            <a:r>
              <a:rPr lang="en-US" altLang="ko-KR" sz="1100" b="0" i="0" dirty="0">
                <a:effectLst/>
                <a:latin typeface="arial" panose="020B0604020202020204" pitchFamily="34" charset="0"/>
              </a:rPr>
              <a:t>, </a:t>
            </a:r>
            <a:r>
              <a:rPr lang="ko-KR" altLang="en-US" sz="1100" b="0" i="0" dirty="0">
                <a:effectLst/>
                <a:latin typeface="arial" panose="020B0604020202020204" pitchFamily="34" charset="0"/>
              </a:rPr>
              <a:t>이를 제어할 수 있는 정밀 성형 및 코팅 기술이 필요합니다</a:t>
            </a:r>
            <a:r>
              <a:rPr lang="en-US" altLang="ko-KR" sz="1100" b="0" i="0" dirty="0">
                <a:effectLst/>
                <a:latin typeface="arial" panose="020B0604020202020204" pitchFamily="34" charset="0"/>
              </a:rPr>
              <a:t>. </a:t>
            </a:r>
            <a:r>
              <a:rPr lang="ko-KR" altLang="en-US" sz="1100" b="0" i="0" dirty="0">
                <a:effectLst/>
                <a:latin typeface="arial" panose="020B0604020202020204" pitchFamily="34" charset="0"/>
              </a:rPr>
              <a:t>따라서 점진 성형</a:t>
            </a:r>
            <a:r>
              <a:rPr lang="en-US" altLang="ko-KR" sz="1100" b="0" i="0" dirty="0">
                <a:effectLst/>
                <a:latin typeface="arial" panose="020B0604020202020204" pitchFamily="34" charset="0"/>
              </a:rPr>
              <a:t>, </a:t>
            </a:r>
            <a:r>
              <a:rPr lang="ko-KR" altLang="en-US" sz="1100" b="0" i="0" dirty="0">
                <a:effectLst/>
                <a:latin typeface="arial" panose="020B0604020202020204" pitchFamily="34" charset="0"/>
              </a:rPr>
              <a:t>프레스 성형</a:t>
            </a:r>
            <a:r>
              <a:rPr lang="en-US" altLang="ko-KR" sz="1100" b="0" i="0" dirty="0">
                <a:effectLst/>
                <a:latin typeface="arial" panose="020B0604020202020204" pitchFamily="34" charset="0"/>
              </a:rPr>
              <a:t>, </a:t>
            </a:r>
            <a:r>
              <a:rPr lang="ko-KR" altLang="en-US" sz="1100" b="0" i="0" dirty="0">
                <a:effectLst/>
                <a:latin typeface="arial" panose="020B0604020202020204" pitchFamily="34" charset="0"/>
              </a:rPr>
              <a:t>레이저 직접 구조화</a:t>
            </a:r>
            <a:r>
              <a:rPr lang="en-US" altLang="ko-KR" sz="1100" b="0" i="0" dirty="0">
                <a:effectLst/>
                <a:latin typeface="arial" panose="020B0604020202020204" pitchFamily="34" charset="0"/>
              </a:rPr>
              <a:t>, 3D </a:t>
            </a:r>
            <a:r>
              <a:rPr lang="ko-KR" altLang="en-US" sz="1100" b="0" i="0" dirty="0">
                <a:effectLst/>
                <a:latin typeface="arial" panose="020B0604020202020204" pitchFamily="34" charset="0"/>
              </a:rPr>
              <a:t>프린팅 밀도 예측 등의 기술은 소재의 기계적 특성과 열적 안정성을 개선하여 생산 유연성을 확보하는 데 필수적인 역할을 합니다</a:t>
            </a:r>
            <a:r>
              <a:rPr lang="en-US" altLang="ko-KR" sz="1100" b="0" i="0" dirty="0">
                <a:effectLst/>
                <a:latin typeface="arial" panose="020B0604020202020204" pitchFamily="34" charset="0"/>
              </a:rPr>
              <a:t>. </a:t>
            </a:r>
            <a:r>
              <a:rPr lang="ko-KR" altLang="en-US" sz="1100" b="0" i="0" dirty="0" err="1">
                <a:effectLst/>
                <a:latin typeface="arial" panose="020B0604020202020204" pitchFamily="34" charset="0"/>
              </a:rPr>
              <a:t>제룡전기</a:t>
            </a:r>
            <a:r>
              <a:rPr lang="en-US" altLang="ko-KR" sz="1100" b="0" i="0" dirty="0">
                <a:effectLst/>
                <a:latin typeface="arial" panose="020B0604020202020204" pitchFamily="34" charset="0"/>
              </a:rPr>
              <a:t>(</a:t>
            </a:r>
            <a:r>
              <a:rPr lang="ko-KR" altLang="en-US" sz="1100" b="0" i="0" dirty="0">
                <a:effectLst/>
                <a:latin typeface="arial" panose="020B0604020202020204" pitchFamily="34" charset="0"/>
              </a:rPr>
              <a:t>주</a:t>
            </a:r>
            <a:r>
              <a:rPr lang="en-US" altLang="ko-KR" sz="1100" b="0" i="0" dirty="0">
                <a:effectLst/>
                <a:latin typeface="arial" panose="020B0604020202020204" pitchFamily="34" charset="0"/>
              </a:rPr>
              <a:t>)</a:t>
            </a:r>
            <a:r>
              <a:rPr lang="ko-KR" altLang="en-US" sz="1100" b="0" i="0" dirty="0">
                <a:effectLst/>
                <a:latin typeface="arial" panose="020B0604020202020204" pitchFamily="34" charset="0"/>
              </a:rPr>
              <a:t>는 변압기 </a:t>
            </a:r>
            <a:r>
              <a:rPr lang="ko-KR" altLang="en-US" sz="1100" b="0" i="0" dirty="0" err="1">
                <a:effectLst/>
                <a:latin typeface="arial" panose="020B0604020202020204" pitchFamily="34" charset="0"/>
              </a:rPr>
              <a:t>외함체</a:t>
            </a:r>
            <a:r>
              <a:rPr lang="ko-KR" altLang="en-US" sz="1100" b="0" i="0" dirty="0">
                <a:effectLst/>
                <a:latin typeface="arial" panose="020B0604020202020204" pitchFamily="34" charset="0"/>
              </a:rPr>
              <a:t> 제조</a:t>
            </a:r>
            <a:r>
              <a:rPr lang="en-US" altLang="ko-KR" sz="1100" b="0" i="0" dirty="0">
                <a:effectLst/>
                <a:latin typeface="arial" panose="020B0604020202020204" pitchFamily="34" charset="0"/>
              </a:rPr>
              <a:t>, </a:t>
            </a:r>
            <a:r>
              <a:rPr lang="ko-KR" altLang="en-US" sz="1100" b="0" i="0" dirty="0">
                <a:effectLst/>
                <a:latin typeface="arial" panose="020B0604020202020204" pitchFamily="34" charset="0"/>
              </a:rPr>
              <a:t>절연 구조 개선</a:t>
            </a:r>
            <a:r>
              <a:rPr lang="en-US" altLang="ko-KR" sz="1100" b="0" i="0" dirty="0">
                <a:effectLst/>
                <a:latin typeface="arial" panose="020B0604020202020204" pitchFamily="34" charset="0"/>
              </a:rPr>
              <a:t>, </a:t>
            </a:r>
            <a:r>
              <a:rPr lang="ko-KR" altLang="en-US" sz="1100" b="0" i="0" dirty="0">
                <a:effectLst/>
                <a:latin typeface="arial" panose="020B0604020202020204" pitchFamily="34" charset="0"/>
              </a:rPr>
              <a:t>내진 및 방열 기능 강화 등 전력 설비의 안전성과 효율성을 높이는 기술에 집중하고 있으며</a:t>
            </a:r>
            <a:r>
              <a:rPr lang="en-US" altLang="ko-KR" sz="1100" b="0" i="0" dirty="0">
                <a:effectLst/>
                <a:latin typeface="arial" panose="020B0604020202020204" pitchFamily="34" charset="0"/>
              </a:rPr>
              <a:t>, 195</a:t>
            </a:r>
            <a:r>
              <a:rPr lang="ko-KR" altLang="en-US" sz="1100" b="0" i="0" dirty="0">
                <a:effectLst/>
                <a:latin typeface="arial" panose="020B0604020202020204" pitchFamily="34" charset="0"/>
              </a:rPr>
              <a:t>건의 특허를 통해 변압기 제조 공정 기술과 </a:t>
            </a:r>
            <a:r>
              <a:rPr lang="ko-KR" altLang="en-US" sz="1100" b="0" i="0" dirty="0" err="1">
                <a:effectLst/>
                <a:latin typeface="arial" panose="020B0604020202020204" pitchFamily="34" charset="0"/>
              </a:rPr>
              <a:t>배전망</a:t>
            </a:r>
            <a:r>
              <a:rPr lang="ko-KR" altLang="en-US" sz="1100" b="0" i="0" dirty="0">
                <a:effectLst/>
                <a:latin typeface="arial" panose="020B0604020202020204" pitchFamily="34" charset="0"/>
              </a:rPr>
              <a:t> 구성 부품 개발 역량을 보유하고 있습니다</a:t>
            </a:r>
            <a:r>
              <a:rPr lang="en-US" altLang="ko-KR" sz="1100" b="0" i="0" dirty="0">
                <a:effectLst/>
                <a:latin typeface="arial" panose="020B0604020202020204" pitchFamily="34" charset="0"/>
              </a:rPr>
              <a:t>. </a:t>
            </a:r>
            <a:r>
              <a:rPr lang="ko-KR" altLang="en-US" sz="1100" b="0" i="0" dirty="0">
                <a:effectLst/>
                <a:latin typeface="arial" panose="020B0604020202020204" pitchFamily="34" charset="0"/>
              </a:rPr>
              <a:t>이러한 기술은 금속 소재의 성형</a:t>
            </a:r>
            <a:r>
              <a:rPr lang="en-US" altLang="ko-KR" sz="1100" b="0" i="0" dirty="0">
                <a:effectLst/>
                <a:latin typeface="arial" panose="020B0604020202020204" pitchFamily="34" charset="0"/>
              </a:rPr>
              <a:t>, </a:t>
            </a:r>
            <a:r>
              <a:rPr lang="ko-KR" altLang="en-US" sz="1100" b="0" i="0" dirty="0">
                <a:effectLst/>
                <a:latin typeface="arial" panose="020B0604020202020204" pitchFamily="34" charset="0"/>
              </a:rPr>
              <a:t>코팅</a:t>
            </a:r>
            <a:r>
              <a:rPr lang="en-US" altLang="ko-KR" sz="1100" b="0" i="0" dirty="0">
                <a:effectLst/>
                <a:latin typeface="arial" panose="020B0604020202020204" pitchFamily="34" charset="0"/>
              </a:rPr>
              <a:t>, </a:t>
            </a:r>
            <a:r>
              <a:rPr lang="ko-KR" altLang="en-US" sz="1100" b="0" i="0" dirty="0">
                <a:effectLst/>
                <a:latin typeface="arial" panose="020B0604020202020204" pitchFamily="34" charset="0"/>
              </a:rPr>
              <a:t>용접 등 뿌리공정기술과 연결될 수 있으며</a:t>
            </a:r>
            <a:r>
              <a:rPr lang="en-US" altLang="ko-KR" sz="1100" b="0" i="0" dirty="0">
                <a:effectLst/>
                <a:latin typeface="arial" panose="020B0604020202020204" pitchFamily="34" charset="0"/>
              </a:rPr>
              <a:t>, </a:t>
            </a:r>
            <a:r>
              <a:rPr lang="ko-KR" altLang="en-US" sz="1100" b="0" i="0" dirty="0">
                <a:effectLst/>
                <a:latin typeface="arial" panose="020B0604020202020204" pitchFamily="34" charset="0"/>
              </a:rPr>
              <a:t>특히 변압기 </a:t>
            </a:r>
            <a:r>
              <a:rPr lang="ko-KR" altLang="en-US" sz="1100" b="0" i="0" dirty="0" err="1">
                <a:effectLst/>
                <a:latin typeface="arial" panose="020B0604020202020204" pitchFamily="34" charset="0"/>
              </a:rPr>
              <a:t>외함체</a:t>
            </a:r>
            <a:r>
              <a:rPr lang="ko-KR" altLang="en-US" sz="1100" b="0" i="0" dirty="0">
                <a:effectLst/>
                <a:latin typeface="arial" panose="020B0604020202020204" pitchFamily="34" charset="0"/>
              </a:rPr>
              <a:t> 제조나 전력 설비 부품 제작 과정에서 요구되는 정밀 가공 및 소재 제어 기술이 과제의 목표와 부합합니다</a:t>
            </a:r>
            <a:r>
              <a:rPr lang="en-US" altLang="ko-KR" sz="1100" b="0" i="0" dirty="0">
                <a:effectLst/>
                <a:latin typeface="arial" panose="020B0604020202020204" pitchFamily="34" charset="0"/>
              </a:rPr>
              <a:t>."</a:t>
            </a:r>
          </a:p>
        </p:txBody>
      </p:sp>
      <p:sp>
        <p:nvSpPr>
          <p:cNvPr id="13" name="Shape 4">
            <a:extLst>
              <a:ext uri="{FF2B5EF4-FFF2-40B4-BE49-F238E27FC236}">
                <a16:creationId xmlns:a16="http://schemas.microsoft.com/office/drawing/2014/main" id="{AFF90EC3-ABBF-7D94-75EB-CEF254EE60CC}"/>
              </a:ext>
            </a:extLst>
          </p:cNvPr>
          <p:cNvSpPr/>
          <p:nvPr/>
        </p:nvSpPr>
        <p:spPr>
          <a:xfrm>
            <a:off x="6405110" y="1225295"/>
            <a:ext cx="4858109" cy="5324535"/>
          </a:xfrm>
          <a:prstGeom prst="roundRect">
            <a:avLst>
              <a:gd name="adj" fmla="val 4731"/>
            </a:avLst>
          </a:prstGeom>
          <a:solidFill>
            <a:srgbClr val="FFFFFF"/>
          </a:solidFill>
          <a:ln w="12700">
            <a:solidFill>
              <a:srgbClr val="D8E3F3"/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51541A4-948A-0D9C-F3B3-0FFE1D62CEAC}"/>
              </a:ext>
            </a:extLst>
          </p:cNvPr>
          <p:cNvSpPr txBox="1"/>
          <p:nvPr/>
        </p:nvSpPr>
        <p:spPr>
          <a:xfrm>
            <a:off x="6517706" y="1336119"/>
            <a:ext cx="4632916" cy="46628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100" b="1" i="0" dirty="0">
                <a:effectLst/>
                <a:latin typeface="arial" panose="020B0604020202020204" pitchFamily="34" charset="0"/>
              </a:rPr>
              <a:t>"</a:t>
            </a:r>
            <a:r>
              <a:rPr lang="ko-KR" altLang="en-US" sz="1100" b="1" i="0" dirty="0">
                <a:effectLst/>
                <a:latin typeface="arial" panose="020B0604020202020204" pitchFamily="34" charset="0"/>
              </a:rPr>
              <a:t>추천 기업의 우수성</a:t>
            </a:r>
            <a:r>
              <a:rPr lang="en-US" altLang="ko-KR" sz="1100" b="1" i="0" dirty="0">
                <a:effectLst/>
                <a:latin typeface="arial" panose="020B0604020202020204" pitchFamily="34" charset="0"/>
              </a:rPr>
              <a:t>": </a:t>
            </a:r>
          </a:p>
          <a:p>
            <a:endParaRPr lang="en-US" altLang="ko-KR" sz="1100" b="1" i="0" dirty="0">
              <a:effectLst/>
              <a:latin typeface="arial" panose="020B0604020202020204" pitchFamily="34" charset="0"/>
            </a:endParaRPr>
          </a:p>
          <a:p>
            <a:r>
              <a:rPr lang="en-US" altLang="ko-KR" sz="1100" b="0" i="0" dirty="0">
                <a:effectLst/>
                <a:latin typeface="arial" panose="020B0604020202020204" pitchFamily="34" charset="0"/>
              </a:rPr>
              <a:t>"</a:t>
            </a:r>
            <a:r>
              <a:rPr lang="ko-KR" altLang="en-US" sz="1100" b="0" i="0" dirty="0">
                <a:effectLst/>
                <a:latin typeface="arial" panose="020B0604020202020204" pitchFamily="34" charset="0"/>
              </a:rPr>
              <a:t>현재 과제는 </a:t>
            </a:r>
            <a:r>
              <a:rPr lang="en-US" altLang="ko-KR" sz="1100" b="0" i="0" dirty="0">
                <a:effectLst/>
                <a:latin typeface="arial" panose="020B0604020202020204" pitchFamily="34" charset="0"/>
              </a:rPr>
              <a:t>52</a:t>
            </a:r>
            <a:r>
              <a:rPr lang="ko-KR" altLang="en-US" sz="1100" b="0" i="0" dirty="0">
                <a:effectLst/>
                <a:latin typeface="arial" panose="020B0604020202020204" pitchFamily="34" charset="0"/>
              </a:rPr>
              <a:t>건의 논문과 </a:t>
            </a:r>
            <a:r>
              <a:rPr lang="en-US" altLang="ko-KR" sz="1100" b="0" i="0" dirty="0">
                <a:effectLst/>
                <a:latin typeface="arial" panose="020B0604020202020204" pitchFamily="34" charset="0"/>
              </a:rPr>
              <a:t>19</a:t>
            </a:r>
            <a:r>
              <a:rPr lang="ko-KR" altLang="en-US" sz="1100" b="0" i="0" dirty="0">
                <a:effectLst/>
                <a:latin typeface="arial" panose="020B0604020202020204" pitchFamily="34" charset="0"/>
              </a:rPr>
              <a:t>건의 특허 실적이 있어</a:t>
            </a:r>
            <a:r>
              <a:rPr lang="en-US" altLang="ko-KR" sz="1100" b="0" i="0" dirty="0">
                <a:effectLst/>
                <a:latin typeface="arial" panose="020B0604020202020204" pitchFamily="34" charset="0"/>
              </a:rPr>
              <a:t>, </a:t>
            </a:r>
            <a:r>
              <a:rPr lang="ko-KR" altLang="en-US" sz="1100" b="0" i="0" dirty="0">
                <a:effectLst/>
                <a:latin typeface="arial" panose="020B0604020202020204" pitchFamily="34" charset="0"/>
              </a:rPr>
              <a:t>금속 소재의 성형</a:t>
            </a:r>
            <a:r>
              <a:rPr lang="en-US" altLang="ko-KR" sz="1100" b="0" i="0" dirty="0">
                <a:effectLst/>
                <a:latin typeface="arial" panose="020B0604020202020204" pitchFamily="34" charset="0"/>
              </a:rPr>
              <a:t>, </a:t>
            </a:r>
            <a:r>
              <a:rPr lang="ko-KR" altLang="en-US" sz="1100" b="0" i="0" dirty="0">
                <a:effectLst/>
                <a:latin typeface="arial" panose="020B0604020202020204" pitchFamily="34" charset="0"/>
              </a:rPr>
              <a:t>용접</a:t>
            </a:r>
            <a:r>
              <a:rPr lang="en-US" altLang="ko-KR" sz="1100" b="0" i="0" dirty="0">
                <a:effectLst/>
                <a:latin typeface="arial" panose="020B0604020202020204" pitchFamily="34" charset="0"/>
              </a:rPr>
              <a:t>, </a:t>
            </a:r>
            <a:r>
              <a:rPr lang="ko-KR" altLang="en-US" sz="1100" b="0" i="0" dirty="0">
                <a:effectLst/>
                <a:latin typeface="arial" panose="020B0604020202020204" pitchFamily="34" charset="0"/>
              </a:rPr>
              <a:t>코팅</a:t>
            </a:r>
            <a:r>
              <a:rPr lang="en-US" altLang="ko-KR" sz="1100" b="0" i="0" dirty="0">
                <a:effectLst/>
                <a:latin typeface="arial" panose="020B0604020202020204" pitchFamily="34" charset="0"/>
              </a:rPr>
              <a:t>, 3D </a:t>
            </a:r>
            <a:r>
              <a:rPr lang="ko-KR" altLang="en-US" sz="1100" b="0" i="0" dirty="0">
                <a:effectLst/>
                <a:latin typeface="arial" panose="020B0604020202020204" pitchFamily="34" charset="0"/>
              </a:rPr>
              <a:t>프린팅 기술에 대한 연구 기반이 탄탄한 과제로 볼 수 있습니다</a:t>
            </a:r>
            <a:r>
              <a:rPr lang="en-US" altLang="ko-KR" sz="1100" b="0" i="0" dirty="0">
                <a:effectLst/>
                <a:latin typeface="arial" panose="020B0604020202020204" pitchFamily="34" charset="0"/>
              </a:rPr>
              <a:t>. </a:t>
            </a:r>
            <a:r>
              <a:rPr lang="ko-KR" altLang="en-US" sz="1100" b="0" i="0" dirty="0">
                <a:effectLst/>
                <a:latin typeface="arial" panose="020B0604020202020204" pitchFamily="34" charset="0"/>
              </a:rPr>
              <a:t>추천된 </a:t>
            </a:r>
            <a:r>
              <a:rPr lang="ko-KR" altLang="en-US" sz="1100" b="0" i="0" dirty="0" err="1">
                <a:effectLst/>
                <a:latin typeface="arial" panose="020B0604020202020204" pitchFamily="34" charset="0"/>
              </a:rPr>
              <a:t>제룡전기</a:t>
            </a:r>
            <a:r>
              <a:rPr lang="en-US" altLang="ko-KR" sz="1100" b="0" i="0" dirty="0">
                <a:effectLst/>
                <a:latin typeface="arial" panose="020B0604020202020204" pitchFamily="34" charset="0"/>
              </a:rPr>
              <a:t>(</a:t>
            </a:r>
            <a:r>
              <a:rPr lang="ko-KR" altLang="en-US" sz="1100" b="0" i="0" dirty="0">
                <a:effectLst/>
                <a:latin typeface="arial" panose="020B0604020202020204" pitchFamily="34" charset="0"/>
              </a:rPr>
              <a:t>주</a:t>
            </a:r>
            <a:r>
              <a:rPr lang="en-US" altLang="ko-KR" sz="1100" b="0" i="0" dirty="0">
                <a:effectLst/>
                <a:latin typeface="arial" panose="020B0604020202020204" pitchFamily="34" charset="0"/>
              </a:rPr>
              <a:t>)</a:t>
            </a:r>
            <a:r>
              <a:rPr lang="ko-KR" altLang="en-US" sz="1100" b="0" i="0" dirty="0">
                <a:effectLst/>
                <a:latin typeface="arial" panose="020B0604020202020204" pitchFamily="34" charset="0"/>
              </a:rPr>
              <a:t>는 벤처기업과 </a:t>
            </a:r>
            <a:r>
              <a:rPr lang="ko-KR" altLang="en-US" sz="1100" b="0" i="0" dirty="0" err="1">
                <a:effectLst/>
                <a:latin typeface="arial" panose="020B0604020202020204" pitchFamily="34" charset="0"/>
              </a:rPr>
              <a:t>이노비즈</a:t>
            </a:r>
            <a:r>
              <a:rPr lang="ko-KR" altLang="en-US" sz="1100" b="0" i="0" dirty="0">
                <a:effectLst/>
                <a:latin typeface="arial" panose="020B0604020202020204" pitchFamily="34" charset="0"/>
              </a:rPr>
              <a:t> 인증을 보유하고 있으며</a:t>
            </a:r>
            <a:r>
              <a:rPr lang="en-US" altLang="ko-KR" sz="1100" b="0" i="0" dirty="0">
                <a:effectLst/>
                <a:latin typeface="arial" panose="020B0604020202020204" pitchFamily="34" charset="0"/>
              </a:rPr>
              <a:t>, </a:t>
            </a:r>
            <a:r>
              <a:rPr lang="ko-KR" altLang="en-US" sz="1100" b="0" i="0" dirty="0">
                <a:effectLst/>
                <a:latin typeface="arial" panose="020B0604020202020204" pitchFamily="34" charset="0"/>
              </a:rPr>
              <a:t>특구 지정기업으로 기술 개발과 사업화 역량을 뒷받침하는 근거가 있습니다</a:t>
            </a:r>
            <a:r>
              <a:rPr lang="en-US" altLang="ko-KR" sz="1100" b="0" i="0" dirty="0">
                <a:effectLst/>
                <a:latin typeface="arial" panose="020B0604020202020204" pitchFamily="34" charset="0"/>
              </a:rPr>
              <a:t>. </a:t>
            </a:r>
            <a:r>
              <a:rPr lang="ko-KR" altLang="en-US" sz="1100" b="0" i="0" dirty="0">
                <a:effectLst/>
                <a:latin typeface="arial" panose="020B0604020202020204" pitchFamily="34" charset="0"/>
              </a:rPr>
              <a:t>또한 매출성장율은 전기장비 제조업 업종 내 상위 </a:t>
            </a:r>
            <a:r>
              <a:rPr lang="en-US" altLang="ko-KR" sz="1100" b="0" i="0" dirty="0">
                <a:effectLst/>
                <a:latin typeface="arial" panose="020B0604020202020204" pitchFamily="34" charset="0"/>
              </a:rPr>
              <a:t>20%, </a:t>
            </a:r>
            <a:r>
              <a:rPr lang="ko-KR" altLang="en-US" sz="1100" b="0" i="0" dirty="0">
                <a:effectLst/>
                <a:latin typeface="arial" panose="020B0604020202020204" pitchFamily="34" charset="0"/>
              </a:rPr>
              <a:t>영업이익율은 전기장비 제조업 업종 내 상위 </a:t>
            </a:r>
            <a:r>
              <a:rPr lang="en-US" altLang="ko-KR" sz="1100" b="0" i="0" dirty="0">
                <a:effectLst/>
                <a:latin typeface="arial" panose="020B0604020202020204" pitchFamily="34" charset="0"/>
              </a:rPr>
              <a:t>5%, </a:t>
            </a:r>
            <a:r>
              <a:rPr lang="ko-KR" altLang="en-US" sz="1100" b="0" i="0" dirty="0">
                <a:effectLst/>
                <a:latin typeface="arial" panose="020B0604020202020204" pitchFamily="34" charset="0"/>
              </a:rPr>
              <a:t>부채비율은 전기장비 제조업 업종 내 상위 </a:t>
            </a:r>
            <a:r>
              <a:rPr lang="en-US" altLang="ko-KR" sz="1100" b="0" i="0" dirty="0">
                <a:effectLst/>
                <a:latin typeface="arial" panose="020B0604020202020204" pitchFamily="34" charset="0"/>
              </a:rPr>
              <a:t>20% </a:t>
            </a:r>
            <a:r>
              <a:rPr lang="ko-KR" altLang="en-US" sz="1100" b="0" i="0" dirty="0">
                <a:effectLst/>
                <a:latin typeface="arial" panose="020B0604020202020204" pitchFamily="34" charset="0"/>
              </a:rPr>
              <a:t>수준으로 나타나 재무적 안정성과 성장 가능성을 보여줍니다</a:t>
            </a:r>
            <a:r>
              <a:rPr lang="en-US" altLang="ko-KR" sz="1100" b="0" i="0" dirty="0">
                <a:effectLst/>
                <a:latin typeface="arial" panose="020B0604020202020204" pitchFamily="34" charset="0"/>
              </a:rPr>
              <a:t>. </a:t>
            </a:r>
            <a:r>
              <a:rPr lang="ko-KR" altLang="en-US" sz="1100" b="0" i="0" dirty="0">
                <a:effectLst/>
                <a:latin typeface="arial" panose="020B0604020202020204" pitchFamily="34" charset="0"/>
              </a:rPr>
              <a:t>과제 자체도 총연구비가 금속재료 업종 내 상위 </a:t>
            </a:r>
            <a:r>
              <a:rPr lang="en-US" altLang="ko-KR" sz="1100" b="0" i="0" dirty="0">
                <a:effectLst/>
                <a:latin typeface="arial" panose="020B0604020202020204" pitchFamily="34" charset="0"/>
              </a:rPr>
              <a:t>5% </a:t>
            </a:r>
            <a:r>
              <a:rPr lang="ko-KR" altLang="en-US" sz="1100" b="0" i="0" dirty="0">
                <a:effectLst/>
                <a:latin typeface="arial" panose="020B0604020202020204" pitchFamily="34" charset="0"/>
              </a:rPr>
              <a:t>수준에 해당해 연구개발 투자 규모 측면에서 우수성이 있습니다</a:t>
            </a:r>
            <a:r>
              <a:rPr lang="en-US" altLang="ko-KR" sz="1100" b="0" i="0" dirty="0">
                <a:effectLst/>
                <a:latin typeface="arial" panose="020B0604020202020204" pitchFamily="34" charset="0"/>
              </a:rPr>
              <a:t>. </a:t>
            </a:r>
            <a:r>
              <a:rPr lang="ko-KR" altLang="en-US" sz="1100" b="0" i="0" dirty="0">
                <a:effectLst/>
                <a:latin typeface="arial" panose="020B0604020202020204" pitchFamily="34" charset="0"/>
              </a:rPr>
              <a:t>종합하면 </a:t>
            </a:r>
            <a:r>
              <a:rPr lang="ko-KR" altLang="en-US" sz="1100" b="0" i="0" dirty="0" err="1">
                <a:effectLst/>
                <a:latin typeface="arial" panose="020B0604020202020204" pitchFamily="34" charset="0"/>
              </a:rPr>
              <a:t>제룡전기</a:t>
            </a:r>
            <a:r>
              <a:rPr lang="en-US" altLang="ko-KR" sz="1100" b="0" i="0" dirty="0">
                <a:effectLst/>
                <a:latin typeface="arial" panose="020B0604020202020204" pitchFamily="34" charset="0"/>
              </a:rPr>
              <a:t>(</a:t>
            </a:r>
            <a:r>
              <a:rPr lang="ko-KR" altLang="en-US" sz="1100" b="0" i="0" dirty="0">
                <a:effectLst/>
                <a:latin typeface="arial" panose="020B0604020202020204" pitchFamily="34" charset="0"/>
              </a:rPr>
              <a:t>주</a:t>
            </a:r>
            <a:r>
              <a:rPr lang="en-US" altLang="ko-KR" sz="1100" b="0" i="0" dirty="0">
                <a:effectLst/>
                <a:latin typeface="arial" panose="020B0604020202020204" pitchFamily="34" charset="0"/>
              </a:rPr>
              <a:t>)</a:t>
            </a:r>
            <a:r>
              <a:rPr lang="ko-KR" altLang="en-US" sz="1100" b="0" i="0" dirty="0">
                <a:effectLst/>
                <a:latin typeface="arial" panose="020B0604020202020204" pitchFamily="34" charset="0"/>
              </a:rPr>
              <a:t>는 전력 설비 제조와 금속 소재 가공 기술을 바탕으로 해당 과제의 뿌리공정기술 개발 방향과 잘 연결될 수 있는 추천 기업입니다</a:t>
            </a:r>
            <a:r>
              <a:rPr lang="en-US" altLang="ko-KR" sz="1100" b="0" i="0" dirty="0">
                <a:effectLst/>
                <a:latin typeface="arial" panose="020B0604020202020204" pitchFamily="34" charset="0"/>
              </a:rPr>
              <a:t>.“</a:t>
            </a:r>
          </a:p>
          <a:p>
            <a:endParaRPr lang="en-US" altLang="ko-KR" sz="1100" dirty="0">
              <a:latin typeface="arial" panose="020B0604020202020204" pitchFamily="34" charset="0"/>
            </a:endParaRPr>
          </a:p>
          <a:p>
            <a:r>
              <a:rPr lang="en-US" altLang="ko-KR" sz="1100" b="1" i="0" dirty="0">
                <a:effectLst/>
                <a:latin typeface="arial" panose="020B0604020202020204" pitchFamily="34" charset="0"/>
              </a:rPr>
              <a:t>“</a:t>
            </a:r>
            <a:r>
              <a:rPr lang="ko-KR" altLang="en-US" sz="1100" b="1" i="0" dirty="0">
                <a:effectLst/>
                <a:latin typeface="arial" panose="020B0604020202020204" pitchFamily="34" charset="0"/>
              </a:rPr>
              <a:t>유사 사례</a:t>
            </a:r>
            <a:r>
              <a:rPr lang="en-US" altLang="ko-KR" sz="1100" b="1" i="0" dirty="0">
                <a:effectLst/>
                <a:latin typeface="arial" panose="020B0604020202020204" pitchFamily="34" charset="0"/>
              </a:rPr>
              <a:t>": </a:t>
            </a:r>
          </a:p>
          <a:p>
            <a:endParaRPr lang="en-US" altLang="ko-KR" sz="1100" b="1" i="0" dirty="0">
              <a:effectLst/>
              <a:latin typeface="arial" panose="020B0604020202020204" pitchFamily="34" charset="0"/>
            </a:endParaRPr>
          </a:p>
          <a:p>
            <a:r>
              <a:rPr lang="en-US" altLang="ko-KR" sz="1100" b="0" i="0" dirty="0">
                <a:effectLst/>
                <a:latin typeface="arial" panose="020B0604020202020204" pitchFamily="34" charset="0"/>
              </a:rPr>
              <a:t>"</a:t>
            </a:r>
            <a:r>
              <a:rPr lang="ko-KR" altLang="en-US" sz="1100" b="0" i="0" dirty="0" err="1">
                <a:effectLst/>
                <a:latin typeface="arial" panose="020B0604020202020204" pitchFamily="34" charset="0"/>
              </a:rPr>
              <a:t>제룡전기</a:t>
            </a:r>
            <a:r>
              <a:rPr lang="en-US" altLang="ko-KR" sz="1100" b="0" i="0" dirty="0">
                <a:effectLst/>
                <a:latin typeface="arial" panose="020B0604020202020204" pitchFamily="34" charset="0"/>
              </a:rPr>
              <a:t>(</a:t>
            </a:r>
            <a:r>
              <a:rPr lang="ko-KR" altLang="en-US" sz="1100" b="0" i="0" dirty="0">
                <a:effectLst/>
                <a:latin typeface="arial" panose="020B0604020202020204" pitchFamily="34" charset="0"/>
              </a:rPr>
              <a:t>주</a:t>
            </a:r>
            <a:r>
              <a:rPr lang="en-US" altLang="ko-KR" sz="1100" b="0" i="0" dirty="0">
                <a:effectLst/>
                <a:latin typeface="arial" panose="020B0604020202020204" pitchFamily="34" charset="0"/>
              </a:rPr>
              <a:t>)</a:t>
            </a:r>
            <a:r>
              <a:rPr lang="ko-KR" altLang="en-US" sz="1100" b="0" i="0" dirty="0">
                <a:effectLst/>
                <a:latin typeface="arial" panose="020B0604020202020204" pitchFamily="34" charset="0"/>
              </a:rPr>
              <a:t>의 관련 특허들은 </a:t>
            </a:r>
            <a:r>
              <a:rPr lang="ko-KR" altLang="en-US" sz="1100" b="0" i="0" dirty="0" err="1">
                <a:effectLst/>
                <a:latin typeface="arial" panose="020B0604020202020204" pitchFamily="34" charset="0"/>
              </a:rPr>
              <a:t>전주용외물접촉고장방지피복완금의제작방법</a:t>
            </a:r>
            <a:r>
              <a:rPr lang="en-US" altLang="ko-KR" sz="1100" b="0" i="0" dirty="0">
                <a:effectLst/>
                <a:latin typeface="arial" panose="020B0604020202020204" pitchFamily="34" charset="0"/>
              </a:rPr>
              <a:t>, </a:t>
            </a:r>
            <a:r>
              <a:rPr lang="ko-KR" altLang="en-US" sz="1100" b="0" i="0" dirty="0" err="1">
                <a:effectLst/>
                <a:latin typeface="arial" panose="020B0604020202020204" pitchFamily="34" charset="0"/>
              </a:rPr>
              <a:t>수직장주용금구의설치구조</a:t>
            </a:r>
            <a:r>
              <a:rPr lang="en-US" altLang="ko-KR" sz="1100" b="0" i="0" dirty="0">
                <a:effectLst/>
                <a:latin typeface="arial" panose="020B0604020202020204" pitchFamily="34" charset="0"/>
              </a:rPr>
              <a:t>, </a:t>
            </a:r>
            <a:r>
              <a:rPr lang="ko-KR" altLang="en-US" sz="1100" b="0" i="0" dirty="0" err="1">
                <a:effectLst/>
                <a:latin typeface="arial" panose="020B0604020202020204" pitchFamily="34" charset="0"/>
              </a:rPr>
              <a:t>완금설치용</a:t>
            </a:r>
            <a:r>
              <a:rPr lang="ko-KR" altLang="en-US" sz="1100" b="0" i="0" dirty="0">
                <a:effectLst/>
                <a:latin typeface="arial" panose="020B0604020202020204" pitchFamily="34" charset="0"/>
              </a:rPr>
              <a:t> </a:t>
            </a:r>
            <a:r>
              <a:rPr lang="ko-KR" altLang="en-US" sz="1100" b="0" i="0" dirty="0" err="1">
                <a:effectLst/>
                <a:latin typeface="arial" panose="020B0604020202020204" pitchFamily="34" charset="0"/>
              </a:rPr>
              <a:t>지지부</a:t>
            </a:r>
            <a:r>
              <a:rPr lang="ko-KR" altLang="en-US" sz="1100" b="0" i="0" dirty="0">
                <a:effectLst/>
                <a:latin typeface="arial" panose="020B0604020202020204" pitchFamily="34" charset="0"/>
              </a:rPr>
              <a:t> 구조 등 전력 설비 부품의 제조 및 설치 구조 기술 주제를 공통적으로 가리킵니다</a:t>
            </a:r>
            <a:r>
              <a:rPr lang="en-US" altLang="ko-KR" sz="1100" b="0" i="0" dirty="0">
                <a:effectLst/>
                <a:latin typeface="arial" panose="020B0604020202020204" pitchFamily="34" charset="0"/>
              </a:rPr>
              <a:t>. </a:t>
            </a:r>
            <a:r>
              <a:rPr lang="ko-KR" altLang="en-US" sz="1100" b="0" i="0" dirty="0">
                <a:effectLst/>
                <a:latin typeface="arial" panose="020B0604020202020204" pitchFamily="34" charset="0"/>
              </a:rPr>
              <a:t>이는 제품 생산의 유연성을 확보하기 위한 뿌리공정기술에서 금속 소재의 성형</a:t>
            </a:r>
            <a:r>
              <a:rPr lang="en-US" altLang="ko-KR" sz="1100" b="0" i="0" dirty="0">
                <a:effectLst/>
                <a:latin typeface="arial" panose="020B0604020202020204" pitchFamily="34" charset="0"/>
              </a:rPr>
              <a:t>, </a:t>
            </a:r>
            <a:r>
              <a:rPr lang="ko-KR" altLang="en-US" sz="1100" b="0" i="0" dirty="0">
                <a:effectLst/>
                <a:latin typeface="arial" panose="020B0604020202020204" pitchFamily="34" charset="0"/>
              </a:rPr>
              <a:t>코팅</a:t>
            </a:r>
            <a:r>
              <a:rPr lang="en-US" altLang="ko-KR" sz="1100" b="0" i="0" dirty="0">
                <a:effectLst/>
                <a:latin typeface="arial" panose="020B0604020202020204" pitchFamily="34" charset="0"/>
              </a:rPr>
              <a:t>, </a:t>
            </a:r>
            <a:r>
              <a:rPr lang="ko-KR" altLang="en-US" sz="1100" b="0" i="0" dirty="0">
                <a:effectLst/>
                <a:latin typeface="arial" panose="020B0604020202020204" pitchFamily="34" charset="0"/>
              </a:rPr>
              <a:t>용접 등 정밀 가공 기술과 연결됩니다</a:t>
            </a:r>
            <a:r>
              <a:rPr lang="en-US" altLang="ko-KR" sz="1100" b="0" i="0" dirty="0">
                <a:effectLst/>
                <a:latin typeface="arial" panose="020B0604020202020204" pitchFamily="34" charset="0"/>
              </a:rPr>
              <a:t>. </a:t>
            </a:r>
            <a:r>
              <a:rPr lang="ko-KR" altLang="en-US" sz="1100" b="0" i="0" dirty="0">
                <a:effectLst/>
                <a:latin typeface="arial" panose="020B0604020202020204" pitchFamily="34" charset="0"/>
              </a:rPr>
              <a:t>현재 과제의 유사 논문과 특허는 점진 성형</a:t>
            </a:r>
            <a:r>
              <a:rPr lang="en-US" altLang="ko-KR" sz="1100" b="0" i="0" dirty="0">
                <a:effectLst/>
                <a:latin typeface="arial" panose="020B0604020202020204" pitchFamily="34" charset="0"/>
              </a:rPr>
              <a:t>, </a:t>
            </a:r>
            <a:r>
              <a:rPr lang="ko-KR" altLang="en-US" sz="1100" b="0" i="0" dirty="0">
                <a:effectLst/>
                <a:latin typeface="arial" panose="020B0604020202020204" pitchFamily="34" charset="0"/>
              </a:rPr>
              <a:t>프레스 성형</a:t>
            </a:r>
            <a:r>
              <a:rPr lang="en-US" altLang="ko-KR" sz="1100" b="0" i="0" dirty="0">
                <a:effectLst/>
                <a:latin typeface="arial" panose="020B0604020202020204" pitchFamily="34" charset="0"/>
              </a:rPr>
              <a:t>, </a:t>
            </a:r>
            <a:r>
              <a:rPr lang="ko-KR" altLang="en-US" sz="1100" b="0" i="0" dirty="0">
                <a:effectLst/>
                <a:latin typeface="arial" panose="020B0604020202020204" pitchFamily="34" charset="0"/>
              </a:rPr>
              <a:t>레이저 직접 구조화</a:t>
            </a:r>
            <a:r>
              <a:rPr lang="en-US" altLang="ko-KR" sz="1100" b="0" i="0" dirty="0">
                <a:effectLst/>
                <a:latin typeface="arial" panose="020B0604020202020204" pitchFamily="34" charset="0"/>
              </a:rPr>
              <a:t>, 3D </a:t>
            </a:r>
            <a:r>
              <a:rPr lang="ko-KR" altLang="en-US" sz="1100" b="0" i="0" dirty="0">
                <a:effectLst/>
                <a:latin typeface="arial" panose="020B0604020202020204" pitchFamily="34" charset="0"/>
              </a:rPr>
              <a:t>프린팅 밀도 예측 등 정밀한 제조 공정 기술에 집중되어 있으며</a:t>
            </a:r>
            <a:r>
              <a:rPr lang="en-US" altLang="ko-KR" sz="1100" b="0" i="0" dirty="0">
                <a:effectLst/>
                <a:latin typeface="arial" panose="020B0604020202020204" pitchFamily="34" charset="0"/>
              </a:rPr>
              <a:t>, </a:t>
            </a:r>
            <a:r>
              <a:rPr lang="ko-KR" altLang="en-US" sz="1100" b="0" i="0" dirty="0">
                <a:effectLst/>
                <a:latin typeface="arial" panose="020B0604020202020204" pitchFamily="34" charset="0"/>
              </a:rPr>
              <a:t>이러한 기술은 일반적으로 금속 소재의 성형</a:t>
            </a:r>
            <a:r>
              <a:rPr lang="en-US" altLang="ko-KR" sz="1100" b="0" i="0" dirty="0">
                <a:effectLst/>
                <a:latin typeface="arial" panose="020B0604020202020204" pitchFamily="34" charset="0"/>
              </a:rPr>
              <a:t>, </a:t>
            </a:r>
            <a:r>
              <a:rPr lang="ko-KR" altLang="en-US" sz="1100" b="0" i="0" dirty="0">
                <a:effectLst/>
                <a:latin typeface="arial" panose="020B0604020202020204" pitchFamily="34" charset="0"/>
              </a:rPr>
              <a:t>코팅</a:t>
            </a:r>
            <a:r>
              <a:rPr lang="en-US" altLang="ko-KR" sz="1100" b="0" i="0" dirty="0">
                <a:effectLst/>
                <a:latin typeface="arial" panose="020B0604020202020204" pitchFamily="34" charset="0"/>
              </a:rPr>
              <a:t>, </a:t>
            </a:r>
            <a:r>
              <a:rPr lang="ko-KR" altLang="en-US" sz="1100" b="0" i="0" dirty="0">
                <a:effectLst/>
                <a:latin typeface="arial" panose="020B0604020202020204" pitchFamily="34" charset="0"/>
              </a:rPr>
              <a:t>용접</a:t>
            </a:r>
            <a:r>
              <a:rPr lang="en-US" altLang="ko-KR" sz="1100" b="0" i="0" dirty="0">
                <a:effectLst/>
                <a:latin typeface="arial" panose="020B0604020202020204" pitchFamily="34" charset="0"/>
              </a:rPr>
              <a:t>, 3D </a:t>
            </a:r>
            <a:r>
              <a:rPr lang="ko-KR" altLang="en-US" sz="1100" b="0" i="0" dirty="0">
                <a:effectLst/>
                <a:latin typeface="arial" panose="020B0604020202020204" pitchFamily="34" charset="0"/>
              </a:rPr>
              <a:t>프린팅 시스템 등에 활용될 수 있습니다</a:t>
            </a:r>
            <a:r>
              <a:rPr lang="en-US" altLang="ko-KR" sz="1100" b="0" i="0" dirty="0">
                <a:effectLst/>
                <a:latin typeface="arial" panose="020B0604020202020204" pitchFamily="34" charset="0"/>
              </a:rPr>
              <a:t>. </a:t>
            </a:r>
            <a:r>
              <a:rPr lang="ko-KR" altLang="en-US" sz="1100" b="0" i="0" dirty="0">
                <a:effectLst/>
                <a:latin typeface="arial" panose="020B0604020202020204" pitchFamily="34" charset="0"/>
              </a:rPr>
              <a:t>해당 장치와 시스템은 </a:t>
            </a:r>
            <a:r>
              <a:rPr lang="ko-KR" altLang="en-US" sz="1100" b="0" i="0" dirty="0" err="1">
                <a:effectLst/>
                <a:latin typeface="arial" panose="020B0604020202020204" pitchFamily="34" charset="0"/>
              </a:rPr>
              <a:t>제룡전기</a:t>
            </a:r>
            <a:r>
              <a:rPr lang="en-US" altLang="ko-KR" sz="1100" b="0" i="0" dirty="0">
                <a:effectLst/>
                <a:latin typeface="arial" panose="020B0604020202020204" pitchFamily="34" charset="0"/>
              </a:rPr>
              <a:t>(</a:t>
            </a:r>
            <a:r>
              <a:rPr lang="ko-KR" altLang="en-US" sz="1100" b="0" i="0" dirty="0">
                <a:effectLst/>
                <a:latin typeface="arial" panose="020B0604020202020204" pitchFamily="34" charset="0"/>
              </a:rPr>
              <a:t>주</a:t>
            </a:r>
            <a:r>
              <a:rPr lang="en-US" altLang="ko-KR" sz="1100" b="0" i="0" dirty="0">
                <a:effectLst/>
                <a:latin typeface="arial" panose="020B0604020202020204" pitchFamily="34" charset="0"/>
              </a:rPr>
              <a:t>)</a:t>
            </a:r>
            <a:r>
              <a:rPr lang="ko-KR" altLang="en-US" sz="1100" b="0" i="0" dirty="0">
                <a:effectLst/>
                <a:latin typeface="arial" panose="020B0604020202020204" pitchFamily="34" charset="0"/>
              </a:rPr>
              <a:t>가 설명하고 있는 변압기 </a:t>
            </a:r>
            <a:r>
              <a:rPr lang="ko-KR" altLang="en-US" sz="1100" b="0" i="0" dirty="0" err="1">
                <a:effectLst/>
                <a:latin typeface="arial" panose="020B0604020202020204" pitchFamily="34" charset="0"/>
              </a:rPr>
              <a:t>외함체</a:t>
            </a:r>
            <a:r>
              <a:rPr lang="ko-KR" altLang="en-US" sz="1100" b="0" i="0" dirty="0">
                <a:effectLst/>
                <a:latin typeface="arial" panose="020B0604020202020204" pitchFamily="34" charset="0"/>
              </a:rPr>
              <a:t> 제조</a:t>
            </a:r>
            <a:r>
              <a:rPr lang="en-US" altLang="ko-KR" sz="1100" b="0" i="0" dirty="0">
                <a:effectLst/>
                <a:latin typeface="arial" panose="020B0604020202020204" pitchFamily="34" charset="0"/>
              </a:rPr>
              <a:t>, </a:t>
            </a:r>
            <a:r>
              <a:rPr lang="ko-KR" altLang="en-US" sz="1100" b="0" i="0" dirty="0">
                <a:effectLst/>
                <a:latin typeface="arial" panose="020B0604020202020204" pitchFamily="34" charset="0"/>
              </a:rPr>
              <a:t>절연 구조 개선</a:t>
            </a:r>
            <a:r>
              <a:rPr lang="en-US" altLang="ko-KR" sz="1100" b="0" i="0" dirty="0">
                <a:effectLst/>
                <a:latin typeface="arial" panose="020B0604020202020204" pitchFamily="34" charset="0"/>
              </a:rPr>
              <a:t>, </a:t>
            </a:r>
            <a:r>
              <a:rPr lang="ko-KR" altLang="en-US" sz="1100" b="0" i="0" dirty="0">
                <a:effectLst/>
                <a:latin typeface="arial" panose="020B0604020202020204" pitchFamily="34" charset="0"/>
              </a:rPr>
              <a:t>내진 및 방열 기능 강화 등 전력 설비 제조 분야와 연결됩니다</a:t>
            </a:r>
            <a:r>
              <a:rPr lang="en-US" altLang="ko-KR" sz="1100" b="0" i="0" dirty="0">
                <a:effectLst/>
                <a:latin typeface="arial" panose="020B0604020202020204" pitchFamily="34" charset="0"/>
              </a:rPr>
              <a:t>."</a:t>
            </a:r>
            <a:endParaRPr lang="ko-KR" altLang="en-US" sz="11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DFF18A9-D6D0-3BE9-9C92-1321AB5B8387}"/>
              </a:ext>
            </a:extLst>
          </p:cNvPr>
          <p:cNvSpPr txBox="1"/>
          <p:nvPr/>
        </p:nvSpPr>
        <p:spPr>
          <a:xfrm>
            <a:off x="685800" y="1386000"/>
            <a:ext cx="492448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400" b="1" i="0" dirty="0">
                <a:effectLst/>
                <a:latin typeface="arial" panose="020B0604020202020204" pitchFamily="34" charset="0"/>
              </a:rPr>
              <a:t>과제명 </a:t>
            </a:r>
            <a:r>
              <a:rPr lang="en-US" altLang="ko-KR" sz="1400" b="1" i="0" dirty="0">
                <a:effectLst/>
                <a:latin typeface="arial" panose="020B0604020202020204" pitchFamily="34" charset="0"/>
              </a:rPr>
              <a:t>: </a:t>
            </a:r>
            <a:r>
              <a:rPr lang="ko-KR" altLang="en-US" sz="1400" b="0" i="0" dirty="0">
                <a:effectLst/>
                <a:latin typeface="arial" panose="020B0604020202020204" pitchFamily="34" charset="0"/>
              </a:rPr>
              <a:t>제품생산 유연성 확보를 위한 뿌리공정기술 개발</a:t>
            </a:r>
            <a:endParaRPr lang="en-US" altLang="ko-KR" sz="1400" i="0" dirty="0">
              <a:effectLst/>
              <a:latin typeface="arial" panose="020B060402020202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400" b="1" dirty="0">
                <a:latin typeface="arial" panose="020B0604020202020204" pitchFamily="34" charset="0"/>
              </a:rPr>
              <a:t>매칭 기업명</a:t>
            </a:r>
            <a:r>
              <a:rPr lang="en-US" altLang="ko-KR" sz="1400" b="1" dirty="0">
                <a:latin typeface="arial" panose="020B0604020202020204" pitchFamily="34" charset="0"/>
              </a:rPr>
              <a:t>: </a:t>
            </a:r>
            <a:r>
              <a:rPr lang="ko-KR" altLang="en-US" sz="1400" b="0" i="0" dirty="0" err="1">
                <a:effectLst/>
                <a:latin typeface="arial" panose="020B0604020202020204" pitchFamily="34" charset="0"/>
              </a:rPr>
              <a:t>제룡전기</a:t>
            </a:r>
            <a:r>
              <a:rPr lang="ko-KR" altLang="en-US" sz="1400" b="0" i="0" dirty="0">
                <a:effectLst/>
                <a:latin typeface="arial" panose="020B0604020202020204" pitchFamily="34" charset="0"/>
              </a:rPr>
              <a:t>㈜</a:t>
            </a:r>
            <a:endParaRPr lang="en-US" altLang="ko-KR" sz="1400" b="0" i="0" dirty="0"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114567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altLang="ko-KR" sz="1200" b="1" dirty="0">
                <a:solidFill>
                  <a:srgbClr val="1E5E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</a:t>
            </a:r>
            <a:r>
              <a:rPr lang="ko-KR" altLang="en-US" sz="1200" b="1" dirty="0">
                <a:solidFill>
                  <a:srgbClr val="1E5E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 및 데이터</a:t>
            </a:r>
            <a:endParaRPr lang="en-US" altLang="ko-KR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6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 및 데이터 구성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387410"/>
            <a:ext cx="11064240" cy="0"/>
          </a:xfrm>
          <a:prstGeom prst="line">
            <a:avLst/>
          </a:prstGeom>
          <a:noFill/>
          <a:ln w="12700">
            <a:solidFill>
              <a:srgbClr val="D7E0EA"/>
            </a:solidFill>
            <a:prstDash val="solid"/>
          </a:ln>
        </p:spPr>
      </p:sp>
      <p:sp>
        <p:nvSpPr>
          <p:cNvPr id="58" name="슬라이드 번호 개체 틀 3">
            <a:extLst>
              <a:ext uri="{FF2B5EF4-FFF2-40B4-BE49-F238E27FC236}">
                <a16:creationId xmlns:a16="http://schemas.microsoft.com/office/drawing/2014/main" id="{1199CCB7-1622-4984-CFAE-B97BAEC53F50}"/>
              </a:ext>
            </a:extLst>
          </p:cNvPr>
          <p:cNvSpPr txBox="1">
            <a:spLocks/>
          </p:cNvSpPr>
          <p:nvPr/>
        </p:nvSpPr>
        <p:spPr>
          <a:xfrm>
            <a:off x="11544300" y="6297168"/>
            <a:ext cx="548640" cy="401447"/>
          </a:xfrm>
          <a:prstGeom prst="rect">
            <a:avLst/>
          </a:prstGeom>
        </p:spPr>
        <p:txBody>
          <a:bodyPr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27E591A-007A-4673-8B7B-A2C2EDBF50B5}" type="slidenum">
              <a:rPr lang="ko-KR" altLang="en-US" smtClean="0"/>
              <a:pPr/>
              <a:t>6</a:t>
            </a:fld>
            <a:endParaRPr lang="ko-KR" altLang="en-US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A9D63CD2-4316-A2FD-602B-028C96B122DB}"/>
              </a:ext>
            </a:extLst>
          </p:cNvPr>
          <p:cNvSpPr/>
          <p:nvPr/>
        </p:nvSpPr>
        <p:spPr>
          <a:xfrm>
            <a:off x="548640" y="1439129"/>
            <a:ext cx="10930689" cy="689769"/>
          </a:xfrm>
          <a:prstGeom prst="roundRect">
            <a:avLst>
              <a:gd name="adj" fmla="val 4731"/>
            </a:avLst>
          </a:prstGeom>
          <a:solidFill>
            <a:srgbClr val="FFFFFF"/>
          </a:solidFill>
          <a:ln w="12700">
            <a:solidFill>
              <a:srgbClr val="D8E3F3"/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589C5D0-AD47-B888-480F-795ABB5CF95A}"/>
              </a:ext>
            </a:extLst>
          </p:cNvPr>
          <p:cNvSpPr txBox="1"/>
          <p:nvPr/>
        </p:nvSpPr>
        <p:spPr>
          <a:xfrm>
            <a:off x="597974" y="1488759"/>
            <a:ext cx="1088135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sz="1400" b="1" dirty="0">
                <a:solidFill>
                  <a:srgbClr val="1F1F1F"/>
                </a:solidFill>
                <a:latin typeface="Google Sans Text"/>
              </a:rPr>
              <a:t>사용 모델 </a:t>
            </a:r>
            <a:r>
              <a:rPr lang="en-US" altLang="ko-KR" sz="1400" b="1" dirty="0">
                <a:solidFill>
                  <a:srgbClr val="1F1F1F"/>
                </a:solidFill>
                <a:latin typeface="Google Sans Text"/>
              </a:rPr>
              <a:t>: </a:t>
            </a:r>
            <a:r>
              <a:rPr lang="en-US" altLang="ko-KR" sz="1400" dirty="0">
                <a:solidFill>
                  <a:srgbClr val="1F1F1F"/>
                </a:solidFill>
                <a:latin typeface="Google Sans Text"/>
              </a:rPr>
              <a:t>Qwen3.5-35B-A3B-GPTQ-Int4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sz="1400" b="1" dirty="0">
                <a:solidFill>
                  <a:srgbClr val="1F1F1F"/>
                </a:solidFill>
                <a:latin typeface="Google Sans Text"/>
              </a:rPr>
              <a:t>데이터 구성 </a:t>
            </a:r>
            <a:r>
              <a:rPr lang="en-US" altLang="ko-KR" sz="1400" b="1" dirty="0">
                <a:solidFill>
                  <a:srgbClr val="1F1F1F"/>
                </a:solidFill>
                <a:latin typeface="Google Sans Text"/>
              </a:rPr>
              <a:t>(</a:t>
            </a:r>
            <a:r>
              <a:rPr lang="ko-KR" altLang="en-US" sz="1400" b="1" dirty="0">
                <a:solidFill>
                  <a:srgbClr val="1F1F1F"/>
                </a:solidFill>
                <a:latin typeface="Google Sans Text"/>
              </a:rPr>
              <a:t>필수 값</a:t>
            </a:r>
            <a:r>
              <a:rPr lang="en-US" altLang="ko-KR" sz="1400" b="1" dirty="0">
                <a:solidFill>
                  <a:srgbClr val="1F1F1F"/>
                </a:solidFill>
                <a:latin typeface="Google Sans Text"/>
              </a:rPr>
              <a:t>)</a:t>
            </a:r>
            <a:r>
              <a:rPr lang="ko-KR" altLang="en-US" sz="1400" b="1" dirty="0">
                <a:solidFill>
                  <a:srgbClr val="1F1F1F"/>
                </a:solidFill>
                <a:latin typeface="Google Sans Text"/>
              </a:rPr>
              <a:t> </a:t>
            </a:r>
            <a:endParaRPr lang="en-US" altLang="ko-KR" b="1" dirty="0">
              <a:solidFill>
                <a:srgbClr val="1F1F1F"/>
              </a:solidFill>
              <a:latin typeface="Google Sans Text"/>
            </a:endParaRPr>
          </a:p>
        </p:txBody>
      </p:sp>
      <p:sp>
        <p:nvSpPr>
          <p:cNvPr id="17" name="Shape 10">
            <a:extLst>
              <a:ext uri="{FF2B5EF4-FFF2-40B4-BE49-F238E27FC236}">
                <a16:creationId xmlns:a16="http://schemas.microsoft.com/office/drawing/2014/main" id="{8A2D468E-CB1B-A35A-A94B-2EF6314FA922}"/>
              </a:ext>
            </a:extLst>
          </p:cNvPr>
          <p:cNvSpPr/>
          <p:nvPr/>
        </p:nvSpPr>
        <p:spPr>
          <a:xfrm>
            <a:off x="548639" y="2167543"/>
            <a:ext cx="3025269" cy="4438080"/>
          </a:xfrm>
          <a:prstGeom prst="roundRect">
            <a:avLst>
              <a:gd name="adj" fmla="val 6383"/>
            </a:avLst>
          </a:prstGeom>
          <a:solidFill>
            <a:srgbClr val="EEF4FF"/>
          </a:solidFill>
          <a:ln w="12700">
            <a:solidFill>
              <a:srgbClr val="D9E2EA"/>
            </a:solidFill>
            <a:prstDash val="solid"/>
          </a:ln>
          <a:effectLst>
            <a:outerShdw blurRad="12700" dist="508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2">
            <a:extLst>
              <a:ext uri="{FF2B5EF4-FFF2-40B4-BE49-F238E27FC236}">
                <a16:creationId xmlns:a16="http://schemas.microsoft.com/office/drawing/2014/main" id="{4110B5AF-6F79-0C1A-E9C6-4641C9CF7CEE}"/>
              </a:ext>
            </a:extLst>
          </p:cNvPr>
          <p:cNvSpPr/>
          <p:nvPr/>
        </p:nvSpPr>
        <p:spPr>
          <a:xfrm>
            <a:off x="650162" y="2216599"/>
            <a:ext cx="2824557" cy="3020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dirty="0"/>
              <a:t>Company DB</a:t>
            </a:r>
          </a:p>
        </p:txBody>
      </p:sp>
      <p:sp>
        <p:nvSpPr>
          <p:cNvPr id="19" name="Text 13">
            <a:extLst>
              <a:ext uri="{FF2B5EF4-FFF2-40B4-BE49-F238E27FC236}">
                <a16:creationId xmlns:a16="http://schemas.microsoft.com/office/drawing/2014/main" id="{0F7011F2-875D-5D6B-FEDC-9591AEE11985}"/>
              </a:ext>
            </a:extLst>
          </p:cNvPr>
          <p:cNvSpPr/>
          <p:nvPr/>
        </p:nvSpPr>
        <p:spPr>
          <a:xfrm>
            <a:off x="650163" y="2615721"/>
            <a:ext cx="2824557" cy="3859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050" dirty="0">
                <a:solidFill>
                  <a:srgbClr val="667487"/>
                </a:solidFill>
                <a:latin typeface="Malgun Gothic" pitchFamily="34" charset="0"/>
                <a:ea typeface="Malgun Gothic" pitchFamily="34" charset="-122"/>
              </a:rPr>
              <a:t>사업자번호</a:t>
            </a:r>
            <a:endParaRPr lang="en-US" altLang="ko-KR" sz="1050" dirty="0">
              <a:solidFill>
                <a:srgbClr val="667487"/>
              </a:solidFill>
              <a:latin typeface="Malgun Gothic" pitchFamily="34" charset="0"/>
              <a:ea typeface="Malgun Gothic" pitchFamily="34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050" dirty="0">
                <a:solidFill>
                  <a:srgbClr val="667487"/>
                </a:solidFill>
                <a:latin typeface="Malgun Gothic" pitchFamily="34" charset="0"/>
                <a:ea typeface="Malgun Gothic" pitchFamily="34" charset="-122"/>
              </a:rPr>
              <a:t>한글업체명</a:t>
            </a:r>
            <a:endParaRPr lang="en-US" altLang="ko-KR" sz="1050" dirty="0">
              <a:solidFill>
                <a:srgbClr val="667487"/>
              </a:solidFill>
              <a:latin typeface="Malgun Gothic" pitchFamily="34" charset="0"/>
              <a:ea typeface="Malgun Gothic" pitchFamily="34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050" dirty="0" err="1">
                <a:solidFill>
                  <a:srgbClr val="667487"/>
                </a:solidFill>
                <a:latin typeface="Malgun Gothic" pitchFamily="34" charset="0"/>
                <a:ea typeface="Malgun Gothic" pitchFamily="34" charset="-122"/>
              </a:rPr>
              <a:t>company_purpose_list</a:t>
            </a:r>
            <a:r>
              <a:rPr lang="en-US" altLang="ko-KR" sz="1050" dirty="0">
                <a:solidFill>
                  <a:srgbClr val="667487"/>
                </a:solidFill>
                <a:latin typeface="Malgun Gothic" pitchFamily="34" charset="0"/>
                <a:ea typeface="Malgun Gothic" pitchFamily="34" charset="-122"/>
              </a:rPr>
              <a:t> (:</a:t>
            </a:r>
            <a:r>
              <a:rPr lang="ko-KR" altLang="en-US" sz="1050" dirty="0">
                <a:solidFill>
                  <a:srgbClr val="667487"/>
                </a:solidFill>
                <a:latin typeface="Malgun Gothic" pitchFamily="34" charset="0"/>
                <a:ea typeface="Malgun Gothic" pitchFamily="34" charset="-122"/>
              </a:rPr>
              <a:t>회사 목적 리스트</a:t>
            </a:r>
            <a:r>
              <a:rPr lang="en-US" altLang="ko-KR" sz="1050" dirty="0">
                <a:solidFill>
                  <a:srgbClr val="667487"/>
                </a:solidFill>
                <a:latin typeface="Malgun Gothic" pitchFamily="34" charset="0"/>
                <a:ea typeface="Malgun Gothic" pitchFamily="34" charset="-122"/>
              </a:rPr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050" dirty="0">
                <a:solidFill>
                  <a:srgbClr val="667487"/>
                </a:solidFill>
                <a:latin typeface="Malgun Gothic" pitchFamily="34" charset="0"/>
                <a:ea typeface="Malgun Gothic" pitchFamily="34" charset="-122"/>
              </a:rPr>
              <a:t>키워드</a:t>
            </a:r>
            <a:r>
              <a:rPr lang="en-US" altLang="ko-KR" sz="1050" dirty="0">
                <a:solidFill>
                  <a:srgbClr val="667487"/>
                </a:solidFill>
                <a:latin typeface="Malgun Gothic" pitchFamily="34" charset="0"/>
                <a:ea typeface="Malgun Gothic" pitchFamily="34" charset="-122"/>
              </a:rPr>
              <a:t>_company</a:t>
            </a:r>
            <a:r>
              <a:rPr lang="ko-KR" altLang="en-US" sz="1050" dirty="0">
                <a:solidFill>
                  <a:srgbClr val="667487"/>
                </a:solidFill>
                <a:latin typeface="Malgun Gothic" pitchFamily="34" charset="0"/>
                <a:ea typeface="Malgun Gothic" pitchFamily="34" charset="-122"/>
              </a:rPr>
              <a:t> </a:t>
            </a:r>
            <a:r>
              <a:rPr lang="en-US" altLang="ko-KR" sz="1050" dirty="0">
                <a:solidFill>
                  <a:srgbClr val="667487"/>
                </a:solidFill>
                <a:latin typeface="Malgun Gothic" pitchFamily="34" charset="0"/>
                <a:ea typeface="Malgun Gothic" pitchFamily="34" charset="-122"/>
              </a:rPr>
              <a:t>(:</a:t>
            </a:r>
            <a:r>
              <a:rPr lang="ko-KR" altLang="en-US" sz="1050" dirty="0">
                <a:solidFill>
                  <a:srgbClr val="667487"/>
                </a:solidFill>
                <a:latin typeface="Malgun Gothic" pitchFamily="34" charset="0"/>
                <a:ea typeface="Malgun Gothic" pitchFamily="34" charset="-122"/>
              </a:rPr>
              <a:t>키워드</a:t>
            </a:r>
            <a:r>
              <a:rPr lang="en-US" altLang="ko-KR" sz="1050" dirty="0">
                <a:solidFill>
                  <a:srgbClr val="667487"/>
                </a:solidFill>
                <a:latin typeface="Malgun Gothic" pitchFamily="34" charset="0"/>
                <a:ea typeface="Malgun Gothic" pitchFamily="34" charset="-122"/>
              </a:rPr>
              <a:t> </a:t>
            </a:r>
            <a:r>
              <a:rPr lang="ko-KR" altLang="en-US" sz="1050" dirty="0">
                <a:solidFill>
                  <a:srgbClr val="667487"/>
                </a:solidFill>
                <a:latin typeface="Malgun Gothic" pitchFamily="34" charset="0"/>
                <a:ea typeface="Malgun Gothic" pitchFamily="34" charset="-122"/>
              </a:rPr>
              <a:t>리스트</a:t>
            </a:r>
            <a:r>
              <a:rPr lang="en-US" altLang="ko-KR" sz="1050" dirty="0">
                <a:solidFill>
                  <a:srgbClr val="667487"/>
                </a:solidFill>
                <a:latin typeface="Malgun Gothic" pitchFamily="34" charset="0"/>
                <a:ea typeface="Malgun Gothic" pitchFamily="34" charset="-122"/>
              </a:rPr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050" dirty="0">
                <a:solidFill>
                  <a:srgbClr val="667487"/>
                </a:solidFill>
                <a:latin typeface="Malgun Gothic" pitchFamily="34" charset="0"/>
                <a:ea typeface="Malgun Gothic" pitchFamily="34" charset="-122"/>
              </a:rPr>
              <a:t>region</a:t>
            </a:r>
            <a:r>
              <a:rPr lang="ko-KR" altLang="en-US" sz="1050" dirty="0">
                <a:solidFill>
                  <a:srgbClr val="667487"/>
                </a:solidFill>
                <a:latin typeface="Malgun Gothic" pitchFamily="34" charset="0"/>
                <a:ea typeface="Malgun Gothic" pitchFamily="34" charset="-122"/>
              </a:rPr>
              <a:t> </a:t>
            </a:r>
            <a:r>
              <a:rPr lang="en-US" altLang="ko-KR" sz="1050" dirty="0">
                <a:solidFill>
                  <a:srgbClr val="667487"/>
                </a:solidFill>
                <a:latin typeface="Malgun Gothic" pitchFamily="34" charset="0"/>
                <a:ea typeface="Malgun Gothic" pitchFamily="34" charset="-122"/>
              </a:rPr>
              <a:t>(:</a:t>
            </a:r>
            <a:r>
              <a:rPr lang="ko-KR" altLang="en-US" sz="1050" dirty="0">
                <a:solidFill>
                  <a:srgbClr val="667487"/>
                </a:solidFill>
                <a:latin typeface="Malgun Gothic" pitchFamily="34" charset="0"/>
                <a:ea typeface="Malgun Gothic" pitchFamily="34" charset="-122"/>
              </a:rPr>
              <a:t>기업의 지역 위치</a:t>
            </a:r>
            <a:r>
              <a:rPr lang="en-US" altLang="ko-KR" sz="1050" dirty="0">
                <a:solidFill>
                  <a:srgbClr val="667487"/>
                </a:solidFill>
                <a:latin typeface="Malgun Gothic" pitchFamily="34" charset="0"/>
                <a:ea typeface="Malgun Gothic" pitchFamily="34" charset="-122"/>
              </a:rPr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050" dirty="0" err="1">
                <a:solidFill>
                  <a:srgbClr val="667487"/>
                </a:solidFill>
                <a:latin typeface="Malgun Gothic" pitchFamily="34" charset="0"/>
                <a:ea typeface="Malgun Gothic" pitchFamily="34" charset="-122"/>
              </a:rPr>
              <a:t>Company_norm_embed</a:t>
            </a:r>
            <a:r>
              <a:rPr lang="en-US" altLang="ko-KR" sz="1050" dirty="0">
                <a:solidFill>
                  <a:srgbClr val="667487"/>
                </a:solidFill>
                <a:latin typeface="Malgun Gothic" pitchFamily="34" charset="0"/>
                <a:ea typeface="Malgun Gothic" pitchFamily="34" charset="-122"/>
              </a:rPr>
              <a:t> (:</a:t>
            </a:r>
            <a:r>
              <a:rPr lang="ko-KR" altLang="en-US" sz="1050" dirty="0" err="1">
                <a:solidFill>
                  <a:srgbClr val="667487"/>
                </a:solidFill>
                <a:latin typeface="Malgun Gothic" pitchFamily="34" charset="0"/>
                <a:ea typeface="Malgun Gothic" pitchFamily="34" charset="-122"/>
              </a:rPr>
              <a:t>임베딩</a:t>
            </a:r>
            <a:r>
              <a:rPr lang="ko-KR" altLang="en-US" sz="1050" dirty="0">
                <a:solidFill>
                  <a:srgbClr val="667487"/>
                </a:solidFill>
                <a:latin typeface="Malgun Gothic" pitchFamily="34" charset="0"/>
                <a:ea typeface="Malgun Gothic" pitchFamily="34" charset="-122"/>
              </a:rPr>
              <a:t> 값</a:t>
            </a:r>
            <a:r>
              <a:rPr lang="en-US" altLang="ko-KR" sz="1050" dirty="0">
                <a:solidFill>
                  <a:srgbClr val="667487"/>
                </a:solidFill>
                <a:latin typeface="Malgun Gothic" pitchFamily="34" charset="0"/>
                <a:ea typeface="Malgun Gothic" pitchFamily="34" charset="-122"/>
              </a:rPr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050" dirty="0">
                <a:solidFill>
                  <a:srgbClr val="667487"/>
                </a:solidFill>
                <a:latin typeface="Malgun Gothic" pitchFamily="34" charset="0"/>
                <a:ea typeface="Malgun Gothic" pitchFamily="34" charset="-122"/>
              </a:rPr>
              <a:t>연구개발비</a:t>
            </a:r>
            <a:r>
              <a:rPr lang="en-US" altLang="ko-KR" sz="1050" dirty="0">
                <a:solidFill>
                  <a:srgbClr val="667487"/>
                </a:solidFill>
                <a:latin typeface="Malgun Gothic" pitchFamily="34" charset="0"/>
                <a:ea typeface="Malgun Gothic" pitchFamily="34" charset="-122"/>
              </a:rPr>
              <a:t>_</a:t>
            </a:r>
            <a:r>
              <a:rPr lang="ko-KR" altLang="en-US" sz="1050" dirty="0">
                <a:solidFill>
                  <a:srgbClr val="667487"/>
                </a:solidFill>
                <a:latin typeface="Malgun Gothic" pitchFamily="34" charset="0"/>
                <a:ea typeface="Malgun Gothic" pitchFamily="34" charset="-122"/>
              </a:rPr>
              <a:t>상위비율</a:t>
            </a:r>
            <a:endParaRPr lang="en-US" altLang="ko-KR" sz="1050" dirty="0">
              <a:solidFill>
                <a:srgbClr val="667487"/>
              </a:solidFill>
              <a:latin typeface="Malgun Gothic" pitchFamily="34" charset="0"/>
              <a:ea typeface="Malgun Gothic" pitchFamily="34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050" dirty="0">
                <a:solidFill>
                  <a:srgbClr val="667487"/>
                </a:solidFill>
                <a:latin typeface="Malgun Gothic" pitchFamily="34" charset="0"/>
                <a:ea typeface="Malgun Gothic" pitchFamily="34" charset="-122"/>
              </a:rPr>
              <a:t>연구개발비</a:t>
            </a:r>
            <a:r>
              <a:rPr lang="en-US" altLang="ko-KR" sz="1050" dirty="0">
                <a:solidFill>
                  <a:srgbClr val="667487"/>
                </a:solidFill>
                <a:latin typeface="Malgun Gothic" pitchFamily="34" charset="0"/>
                <a:ea typeface="Malgun Gothic" pitchFamily="34" charset="-122"/>
              </a:rPr>
              <a:t>_</a:t>
            </a:r>
            <a:r>
              <a:rPr lang="ko-KR" altLang="en-US" sz="1050" dirty="0">
                <a:solidFill>
                  <a:srgbClr val="667487"/>
                </a:solidFill>
                <a:latin typeface="Malgun Gothic" pitchFamily="34" charset="0"/>
                <a:ea typeface="Malgun Gothic" pitchFamily="34" charset="-122"/>
              </a:rPr>
              <a:t>판정정보</a:t>
            </a:r>
            <a:endParaRPr lang="en-US" altLang="ko-KR" sz="1050" dirty="0">
              <a:solidFill>
                <a:srgbClr val="667487"/>
              </a:solidFill>
              <a:latin typeface="Malgun Gothic" pitchFamily="34" charset="0"/>
              <a:ea typeface="Malgun Gothic" pitchFamily="34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050" dirty="0">
                <a:solidFill>
                  <a:srgbClr val="667487"/>
                </a:solidFill>
                <a:latin typeface="Malgun Gothic" pitchFamily="34" charset="0"/>
                <a:ea typeface="Malgun Gothic" pitchFamily="34" charset="-122"/>
              </a:rPr>
              <a:t>매출성장율</a:t>
            </a:r>
            <a:r>
              <a:rPr lang="en-US" altLang="ko-KR" sz="1050" dirty="0">
                <a:solidFill>
                  <a:srgbClr val="667487"/>
                </a:solidFill>
                <a:latin typeface="Malgun Gothic" pitchFamily="34" charset="0"/>
                <a:ea typeface="Malgun Gothic" pitchFamily="34" charset="-122"/>
              </a:rPr>
              <a:t>_</a:t>
            </a:r>
            <a:r>
              <a:rPr lang="ko-KR" altLang="en-US" sz="1050" dirty="0">
                <a:solidFill>
                  <a:srgbClr val="667487"/>
                </a:solidFill>
                <a:latin typeface="Malgun Gothic" pitchFamily="34" charset="0"/>
                <a:ea typeface="Malgun Gothic" pitchFamily="34" charset="-122"/>
              </a:rPr>
              <a:t>상위비율</a:t>
            </a:r>
            <a:endParaRPr lang="en-US" altLang="ko-KR" sz="1050" dirty="0">
              <a:solidFill>
                <a:srgbClr val="667487"/>
              </a:solidFill>
              <a:latin typeface="Malgun Gothic" pitchFamily="34" charset="0"/>
              <a:ea typeface="Malgun Gothic" pitchFamily="34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050" dirty="0">
                <a:solidFill>
                  <a:srgbClr val="667487"/>
                </a:solidFill>
                <a:latin typeface="Malgun Gothic" pitchFamily="34" charset="0"/>
                <a:ea typeface="Malgun Gothic" pitchFamily="34" charset="-122"/>
              </a:rPr>
              <a:t>매출성장율</a:t>
            </a:r>
            <a:r>
              <a:rPr lang="en-US" altLang="ko-KR" sz="1050" dirty="0">
                <a:solidFill>
                  <a:srgbClr val="667487"/>
                </a:solidFill>
                <a:latin typeface="Malgun Gothic" pitchFamily="34" charset="0"/>
                <a:ea typeface="Malgun Gothic" pitchFamily="34" charset="-122"/>
              </a:rPr>
              <a:t>_</a:t>
            </a:r>
            <a:r>
              <a:rPr lang="ko-KR" altLang="en-US" sz="1050" dirty="0">
                <a:solidFill>
                  <a:srgbClr val="667487"/>
                </a:solidFill>
                <a:latin typeface="Malgun Gothic" pitchFamily="34" charset="0"/>
                <a:ea typeface="Malgun Gothic" pitchFamily="34" charset="-122"/>
              </a:rPr>
              <a:t>판정정보</a:t>
            </a:r>
            <a:endParaRPr lang="en-US" altLang="ko-KR" sz="1050" dirty="0">
              <a:solidFill>
                <a:srgbClr val="667487"/>
              </a:solidFill>
              <a:latin typeface="Malgun Gothic" pitchFamily="34" charset="0"/>
              <a:ea typeface="Malgun Gothic" pitchFamily="34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050" dirty="0">
                <a:solidFill>
                  <a:srgbClr val="667487"/>
                </a:solidFill>
                <a:latin typeface="Malgun Gothic" pitchFamily="34" charset="0"/>
                <a:ea typeface="Malgun Gothic" pitchFamily="34" charset="-122"/>
              </a:rPr>
              <a:t>영업이익율</a:t>
            </a:r>
            <a:r>
              <a:rPr lang="en-US" altLang="ko-KR" sz="1050" dirty="0">
                <a:solidFill>
                  <a:srgbClr val="667487"/>
                </a:solidFill>
                <a:latin typeface="Malgun Gothic" pitchFamily="34" charset="0"/>
                <a:ea typeface="Malgun Gothic" pitchFamily="34" charset="-122"/>
              </a:rPr>
              <a:t>_</a:t>
            </a:r>
            <a:r>
              <a:rPr lang="ko-KR" altLang="en-US" sz="1050" dirty="0">
                <a:solidFill>
                  <a:srgbClr val="667487"/>
                </a:solidFill>
                <a:latin typeface="Malgun Gothic" pitchFamily="34" charset="0"/>
                <a:ea typeface="Malgun Gothic" pitchFamily="34" charset="-122"/>
              </a:rPr>
              <a:t>상위비율</a:t>
            </a:r>
            <a:endParaRPr lang="en-US" altLang="ko-KR" sz="1050" dirty="0">
              <a:solidFill>
                <a:srgbClr val="667487"/>
              </a:solidFill>
              <a:latin typeface="Malgun Gothic" pitchFamily="34" charset="0"/>
              <a:ea typeface="Malgun Gothic" pitchFamily="34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050" dirty="0">
                <a:solidFill>
                  <a:srgbClr val="667487"/>
                </a:solidFill>
                <a:latin typeface="Malgun Gothic" pitchFamily="34" charset="0"/>
                <a:ea typeface="Malgun Gothic" pitchFamily="34" charset="-122"/>
              </a:rPr>
              <a:t>영업이익율</a:t>
            </a:r>
            <a:r>
              <a:rPr lang="en-US" altLang="ko-KR" sz="1050" dirty="0">
                <a:solidFill>
                  <a:srgbClr val="667487"/>
                </a:solidFill>
                <a:latin typeface="Malgun Gothic" pitchFamily="34" charset="0"/>
                <a:ea typeface="Malgun Gothic" pitchFamily="34" charset="-122"/>
              </a:rPr>
              <a:t>_</a:t>
            </a:r>
            <a:r>
              <a:rPr lang="ko-KR" altLang="en-US" sz="1050" dirty="0">
                <a:solidFill>
                  <a:srgbClr val="667487"/>
                </a:solidFill>
                <a:latin typeface="Malgun Gothic" pitchFamily="34" charset="0"/>
                <a:ea typeface="Malgun Gothic" pitchFamily="34" charset="-122"/>
              </a:rPr>
              <a:t>판정정보</a:t>
            </a:r>
            <a:endParaRPr lang="en-US" altLang="ko-KR" sz="1050" dirty="0">
              <a:solidFill>
                <a:srgbClr val="667487"/>
              </a:solidFill>
              <a:latin typeface="Malgun Gothic" pitchFamily="34" charset="0"/>
              <a:ea typeface="Malgun Gothic" pitchFamily="34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050" dirty="0">
                <a:solidFill>
                  <a:srgbClr val="667487"/>
                </a:solidFill>
                <a:latin typeface="Malgun Gothic" pitchFamily="34" charset="0"/>
                <a:ea typeface="Malgun Gothic" pitchFamily="34" charset="-122"/>
              </a:rPr>
              <a:t>부채비율</a:t>
            </a:r>
            <a:r>
              <a:rPr lang="en-US" altLang="ko-KR" sz="1050" dirty="0">
                <a:solidFill>
                  <a:srgbClr val="667487"/>
                </a:solidFill>
                <a:latin typeface="Malgun Gothic" pitchFamily="34" charset="0"/>
                <a:ea typeface="Malgun Gothic" pitchFamily="34" charset="-122"/>
              </a:rPr>
              <a:t>_</a:t>
            </a:r>
            <a:r>
              <a:rPr lang="ko-KR" altLang="en-US" sz="1050" dirty="0">
                <a:solidFill>
                  <a:srgbClr val="667487"/>
                </a:solidFill>
                <a:latin typeface="Malgun Gothic" pitchFamily="34" charset="0"/>
                <a:ea typeface="Malgun Gothic" pitchFamily="34" charset="-122"/>
              </a:rPr>
              <a:t>하위비율</a:t>
            </a:r>
            <a:endParaRPr lang="en-US" altLang="ko-KR" sz="1050" dirty="0">
              <a:solidFill>
                <a:srgbClr val="667487"/>
              </a:solidFill>
              <a:latin typeface="Malgun Gothic" pitchFamily="34" charset="0"/>
              <a:ea typeface="Malgun Gothic" pitchFamily="34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050" dirty="0">
                <a:solidFill>
                  <a:srgbClr val="667487"/>
                </a:solidFill>
                <a:latin typeface="Malgun Gothic" pitchFamily="34" charset="0"/>
                <a:ea typeface="Malgun Gothic" pitchFamily="34" charset="-122"/>
              </a:rPr>
              <a:t>부채비율</a:t>
            </a:r>
            <a:r>
              <a:rPr lang="en-US" altLang="ko-KR" sz="1050" dirty="0">
                <a:solidFill>
                  <a:srgbClr val="667487"/>
                </a:solidFill>
                <a:latin typeface="Malgun Gothic" pitchFamily="34" charset="0"/>
                <a:ea typeface="Malgun Gothic" pitchFamily="34" charset="-122"/>
              </a:rPr>
              <a:t>_</a:t>
            </a:r>
            <a:r>
              <a:rPr lang="ko-KR" altLang="en-US" sz="1050" dirty="0">
                <a:solidFill>
                  <a:srgbClr val="667487"/>
                </a:solidFill>
                <a:latin typeface="Malgun Gothic" pitchFamily="34" charset="0"/>
                <a:ea typeface="Malgun Gothic" pitchFamily="34" charset="-122"/>
              </a:rPr>
              <a:t>판정정보</a:t>
            </a:r>
            <a:endParaRPr lang="en-US" altLang="ko-KR" sz="1050" dirty="0">
              <a:solidFill>
                <a:srgbClr val="667487"/>
              </a:solidFill>
              <a:latin typeface="Malgun Gothic" pitchFamily="34" charset="0"/>
              <a:ea typeface="Malgun Gothic" pitchFamily="34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050" dirty="0">
                <a:solidFill>
                  <a:srgbClr val="667487"/>
                </a:solidFill>
                <a:latin typeface="Malgun Gothic" pitchFamily="34" charset="0"/>
                <a:ea typeface="Malgun Gothic" pitchFamily="34" charset="-122"/>
              </a:rPr>
              <a:t>벤처기업여부</a:t>
            </a:r>
            <a:endParaRPr lang="en-US" altLang="ko-KR" sz="1050" dirty="0">
              <a:solidFill>
                <a:srgbClr val="667487"/>
              </a:solidFill>
              <a:latin typeface="Malgun Gothic" pitchFamily="34" charset="0"/>
              <a:ea typeface="Malgun Gothic" pitchFamily="34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050" dirty="0" err="1">
                <a:solidFill>
                  <a:srgbClr val="667487"/>
                </a:solidFill>
                <a:latin typeface="Malgun Gothic" pitchFamily="34" charset="0"/>
                <a:ea typeface="Malgun Gothic" pitchFamily="34" charset="-122"/>
              </a:rPr>
              <a:t>이노비즈여부</a:t>
            </a:r>
            <a:endParaRPr lang="en-US" altLang="ko-KR" sz="1050" dirty="0">
              <a:solidFill>
                <a:srgbClr val="667487"/>
              </a:solidFill>
              <a:latin typeface="Malgun Gothic" pitchFamily="34" charset="0"/>
              <a:ea typeface="Malgun Gothic" pitchFamily="34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050" dirty="0" err="1">
                <a:solidFill>
                  <a:srgbClr val="667487"/>
                </a:solidFill>
                <a:latin typeface="Malgun Gothic" pitchFamily="34" charset="0"/>
                <a:ea typeface="Malgun Gothic" pitchFamily="34" charset="-122"/>
              </a:rPr>
              <a:t>메인비즈여부</a:t>
            </a:r>
            <a:endParaRPr lang="en-US" altLang="ko-KR" sz="1050" dirty="0">
              <a:solidFill>
                <a:srgbClr val="667487"/>
              </a:solidFill>
              <a:latin typeface="Malgun Gothic" pitchFamily="34" charset="0"/>
              <a:ea typeface="Malgun Gothic" pitchFamily="34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050" dirty="0">
                <a:solidFill>
                  <a:srgbClr val="667487"/>
                </a:solidFill>
                <a:latin typeface="Malgun Gothic" pitchFamily="34" charset="0"/>
                <a:ea typeface="Malgun Gothic" pitchFamily="34" charset="-122"/>
              </a:rPr>
              <a:t>ASTI </a:t>
            </a:r>
            <a:r>
              <a:rPr lang="ko-KR" altLang="en-US" sz="1050" dirty="0">
                <a:solidFill>
                  <a:srgbClr val="667487"/>
                </a:solidFill>
                <a:latin typeface="Malgun Gothic" pitchFamily="34" charset="0"/>
                <a:ea typeface="Malgun Gothic" pitchFamily="34" charset="-122"/>
              </a:rPr>
              <a:t>여부</a:t>
            </a:r>
            <a:endParaRPr lang="en-US" altLang="ko-KR" sz="1050" dirty="0">
              <a:solidFill>
                <a:srgbClr val="667487"/>
              </a:solidFill>
              <a:latin typeface="Malgun Gothic" pitchFamily="34" charset="0"/>
              <a:ea typeface="Malgun Gothic" pitchFamily="34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050" dirty="0">
                <a:solidFill>
                  <a:srgbClr val="667487"/>
                </a:solidFill>
                <a:latin typeface="Malgun Gothic" pitchFamily="34" charset="0"/>
                <a:ea typeface="Malgun Gothic" pitchFamily="34" charset="-122"/>
              </a:rPr>
              <a:t>특구 여부</a:t>
            </a:r>
            <a:endParaRPr lang="en-US" altLang="ko-KR" sz="1050" dirty="0">
              <a:solidFill>
                <a:srgbClr val="667487"/>
              </a:solidFill>
              <a:latin typeface="Malgun Gothic" pitchFamily="34" charset="0"/>
              <a:ea typeface="Malgun Gothic" pitchFamily="34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050" dirty="0">
                <a:solidFill>
                  <a:srgbClr val="667487"/>
                </a:solidFill>
                <a:latin typeface="Malgun Gothic" pitchFamily="34" charset="0"/>
                <a:ea typeface="Malgun Gothic" pitchFamily="34" charset="-122"/>
              </a:rPr>
              <a:t>매출액</a:t>
            </a:r>
            <a:endParaRPr lang="en-US" altLang="ko-KR" sz="1050" dirty="0">
              <a:solidFill>
                <a:srgbClr val="667487"/>
              </a:solidFill>
              <a:latin typeface="Malgun Gothic" pitchFamily="34" charset="0"/>
              <a:ea typeface="Malgun Gothic" pitchFamily="34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050" dirty="0" err="1">
                <a:solidFill>
                  <a:srgbClr val="667487"/>
                </a:solidFill>
                <a:latin typeface="Malgun Gothic" pitchFamily="34" charset="0"/>
                <a:ea typeface="Malgun Gothic" pitchFamily="34" charset="-122"/>
              </a:rPr>
              <a:t>company_patent</a:t>
            </a:r>
            <a:r>
              <a:rPr lang="en-US" altLang="ko-KR" sz="1050" dirty="0">
                <a:solidFill>
                  <a:srgbClr val="667487"/>
                </a:solidFill>
                <a:latin typeface="Malgun Gothic" pitchFamily="34" charset="0"/>
                <a:ea typeface="Malgun Gothic" pitchFamily="34" charset="-122"/>
              </a:rPr>
              <a:t> (:</a:t>
            </a:r>
            <a:r>
              <a:rPr lang="ko-KR" altLang="en-US" sz="1050" dirty="0" err="1">
                <a:solidFill>
                  <a:srgbClr val="667487"/>
                </a:solidFill>
                <a:latin typeface="Malgun Gothic" pitchFamily="34" charset="0"/>
                <a:ea typeface="Malgun Gothic" pitchFamily="34" charset="-122"/>
              </a:rPr>
              <a:t>특허명</a:t>
            </a:r>
            <a:r>
              <a:rPr lang="ko-KR" altLang="en-US" sz="1050" dirty="0">
                <a:solidFill>
                  <a:srgbClr val="667487"/>
                </a:solidFill>
                <a:latin typeface="Malgun Gothic" pitchFamily="34" charset="0"/>
                <a:ea typeface="Malgun Gothic" pitchFamily="34" charset="-122"/>
              </a:rPr>
              <a:t> 리스트</a:t>
            </a:r>
            <a:r>
              <a:rPr lang="en-US" altLang="ko-KR" sz="1050" dirty="0">
                <a:solidFill>
                  <a:srgbClr val="667487"/>
                </a:solidFill>
                <a:latin typeface="Malgun Gothic" pitchFamily="34" charset="0"/>
                <a:ea typeface="Malgun Gothic" pitchFamily="34" charset="-122"/>
              </a:rPr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050" dirty="0" err="1">
                <a:solidFill>
                  <a:srgbClr val="667487"/>
                </a:solidFill>
                <a:latin typeface="Malgun Gothic" pitchFamily="34" charset="0"/>
                <a:ea typeface="Malgun Gothic" pitchFamily="34" charset="-122"/>
              </a:rPr>
              <a:t>conduct_list_project</a:t>
            </a:r>
            <a:r>
              <a:rPr lang="en-US" altLang="ko-KR" sz="1050" dirty="0">
                <a:solidFill>
                  <a:srgbClr val="667487"/>
                </a:solidFill>
                <a:latin typeface="Malgun Gothic" pitchFamily="34" charset="0"/>
                <a:ea typeface="Malgun Gothic" pitchFamily="34" charset="-122"/>
              </a:rPr>
              <a:t> (:</a:t>
            </a:r>
            <a:r>
              <a:rPr lang="ko-KR" altLang="en-US" sz="1050" dirty="0">
                <a:solidFill>
                  <a:srgbClr val="667487"/>
                </a:solidFill>
                <a:latin typeface="Malgun Gothic" pitchFamily="34" charset="0"/>
                <a:ea typeface="Malgun Gothic" pitchFamily="34" charset="-122"/>
              </a:rPr>
              <a:t>기업이 수행한 프로젝트 리스트</a:t>
            </a:r>
            <a:r>
              <a:rPr lang="en-US" altLang="ko-KR" sz="1050" dirty="0">
                <a:solidFill>
                  <a:srgbClr val="667487"/>
                </a:solidFill>
                <a:latin typeface="Malgun Gothic" pitchFamily="34" charset="0"/>
                <a:ea typeface="Malgun Gothic" pitchFamily="34" charset="-122"/>
              </a:rPr>
              <a:t>)</a:t>
            </a:r>
          </a:p>
        </p:txBody>
      </p:sp>
      <p:sp>
        <p:nvSpPr>
          <p:cNvPr id="20" name="Shape 10">
            <a:extLst>
              <a:ext uri="{FF2B5EF4-FFF2-40B4-BE49-F238E27FC236}">
                <a16:creationId xmlns:a16="http://schemas.microsoft.com/office/drawing/2014/main" id="{329586B6-D44E-CA21-E329-5261F2304169}"/>
              </a:ext>
            </a:extLst>
          </p:cNvPr>
          <p:cNvSpPr/>
          <p:nvPr/>
        </p:nvSpPr>
        <p:spPr>
          <a:xfrm>
            <a:off x="3719013" y="2167544"/>
            <a:ext cx="3025268" cy="2936660"/>
          </a:xfrm>
          <a:prstGeom prst="roundRect">
            <a:avLst>
              <a:gd name="adj" fmla="val 6383"/>
            </a:avLst>
          </a:prstGeom>
          <a:solidFill>
            <a:srgbClr val="EEF4FF"/>
          </a:solidFill>
          <a:ln w="12700">
            <a:solidFill>
              <a:srgbClr val="D9E2EA"/>
            </a:solidFill>
            <a:prstDash val="solid"/>
          </a:ln>
          <a:effectLst>
            <a:outerShdw blurRad="12700" dist="508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2">
            <a:extLst>
              <a:ext uri="{FF2B5EF4-FFF2-40B4-BE49-F238E27FC236}">
                <a16:creationId xmlns:a16="http://schemas.microsoft.com/office/drawing/2014/main" id="{0C7F74BC-B82E-46CC-7C8C-931F42A6B19F}"/>
              </a:ext>
            </a:extLst>
          </p:cNvPr>
          <p:cNvSpPr/>
          <p:nvPr/>
        </p:nvSpPr>
        <p:spPr>
          <a:xfrm>
            <a:off x="3820535" y="2216599"/>
            <a:ext cx="2834435" cy="3020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dirty="0"/>
              <a:t>Project DB</a:t>
            </a:r>
          </a:p>
        </p:txBody>
      </p:sp>
      <p:sp>
        <p:nvSpPr>
          <p:cNvPr id="22" name="Text 13">
            <a:extLst>
              <a:ext uri="{FF2B5EF4-FFF2-40B4-BE49-F238E27FC236}">
                <a16:creationId xmlns:a16="http://schemas.microsoft.com/office/drawing/2014/main" id="{901C9980-0480-CD9A-93D8-3C82DB137A57}"/>
              </a:ext>
            </a:extLst>
          </p:cNvPr>
          <p:cNvSpPr/>
          <p:nvPr/>
        </p:nvSpPr>
        <p:spPr>
          <a:xfrm>
            <a:off x="3820536" y="2605407"/>
            <a:ext cx="2834436" cy="23423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000" dirty="0">
                <a:solidFill>
                  <a:srgbClr val="66748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과제고유번호</a:t>
            </a:r>
            <a:endParaRPr lang="en-US" altLang="ko-KR" sz="1000" dirty="0">
              <a:solidFill>
                <a:srgbClr val="667487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000" dirty="0">
                <a:solidFill>
                  <a:srgbClr val="667487"/>
                </a:solidFill>
                <a:latin typeface="Malgun Gothic" pitchFamily="34" charset="0"/>
                <a:ea typeface="Malgun Gothic" pitchFamily="34" charset="-122"/>
              </a:rPr>
              <a:t>과제명</a:t>
            </a:r>
            <a:endParaRPr lang="en-US" altLang="ko-KR" sz="1000" dirty="0">
              <a:solidFill>
                <a:srgbClr val="667487"/>
              </a:solidFill>
              <a:latin typeface="Malgun Gothic" pitchFamily="34" charset="0"/>
              <a:ea typeface="Malgun Gothic" pitchFamily="34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000" dirty="0">
                <a:solidFill>
                  <a:srgbClr val="667487"/>
                </a:solidFill>
                <a:latin typeface="Malgun Gothic" pitchFamily="34" charset="0"/>
                <a:ea typeface="Malgun Gothic" pitchFamily="34" charset="-122"/>
              </a:rPr>
              <a:t>키워드</a:t>
            </a:r>
            <a:r>
              <a:rPr lang="en-US" altLang="ko-KR" sz="1000" dirty="0">
                <a:solidFill>
                  <a:srgbClr val="667487"/>
                </a:solidFill>
                <a:latin typeface="Malgun Gothic" pitchFamily="34" charset="0"/>
                <a:ea typeface="Malgun Gothic" pitchFamily="34" charset="-122"/>
              </a:rPr>
              <a:t>_project (:</a:t>
            </a:r>
            <a:r>
              <a:rPr lang="ko-KR" altLang="en-US" sz="1000" dirty="0">
                <a:solidFill>
                  <a:srgbClr val="667487"/>
                </a:solidFill>
                <a:latin typeface="Malgun Gothic" pitchFamily="34" charset="0"/>
                <a:ea typeface="Malgun Gothic" pitchFamily="34" charset="-122"/>
              </a:rPr>
              <a:t>키워드 리스트</a:t>
            </a:r>
            <a:r>
              <a:rPr lang="en-US" altLang="ko-KR" sz="1000" dirty="0">
                <a:solidFill>
                  <a:srgbClr val="667487"/>
                </a:solidFill>
                <a:latin typeface="Malgun Gothic" pitchFamily="34" charset="0"/>
                <a:ea typeface="Malgun Gothic" pitchFamily="34" charset="-122"/>
              </a:rPr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000" dirty="0">
                <a:solidFill>
                  <a:srgbClr val="667487"/>
                </a:solidFill>
                <a:latin typeface="Malgun Gothic" pitchFamily="34" charset="0"/>
                <a:ea typeface="Malgun Gothic" pitchFamily="34" charset="-122"/>
              </a:rPr>
              <a:t>과제수행기관명</a:t>
            </a:r>
            <a:endParaRPr lang="en-US" altLang="ko-KR" sz="1000" dirty="0">
              <a:solidFill>
                <a:srgbClr val="667487"/>
              </a:solidFill>
              <a:latin typeface="Malgun Gothic" pitchFamily="34" charset="0"/>
              <a:ea typeface="Malgun Gothic" pitchFamily="34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000" dirty="0">
                <a:solidFill>
                  <a:srgbClr val="667487"/>
                </a:solidFill>
                <a:latin typeface="Malgun Gothic" pitchFamily="34" charset="0"/>
                <a:ea typeface="Malgun Gothic" pitchFamily="34" charset="-122"/>
              </a:rPr>
              <a:t>paper (:</a:t>
            </a:r>
            <a:r>
              <a:rPr lang="ko-KR" altLang="en-US" sz="1000" dirty="0" err="1">
                <a:solidFill>
                  <a:srgbClr val="667487"/>
                </a:solidFill>
                <a:latin typeface="Malgun Gothic" pitchFamily="34" charset="0"/>
                <a:ea typeface="Malgun Gothic" pitchFamily="34" charset="-122"/>
              </a:rPr>
              <a:t>논문명</a:t>
            </a:r>
            <a:r>
              <a:rPr lang="ko-KR" altLang="en-US" sz="1000" dirty="0">
                <a:solidFill>
                  <a:srgbClr val="667487"/>
                </a:solidFill>
                <a:latin typeface="Malgun Gothic" pitchFamily="34" charset="0"/>
                <a:ea typeface="Malgun Gothic" pitchFamily="34" charset="-122"/>
              </a:rPr>
              <a:t> 리스트</a:t>
            </a:r>
            <a:r>
              <a:rPr lang="en-US" altLang="ko-KR" sz="1000" dirty="0">
                <a:solidFill>
                  <a:srgbClr val="667487"/>
                </a:solidFill>
                <a:latin typeface="Malgun Gothic" pitchFamily="34" charset="0"/>
                <a:ea typeface="Malgun Gothic" pitchFamily="34" charset="-122"/>
              </a:rPr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000" dirty="0">
                <a:solidFill>
                  <a:srgbClr val="667487"/>
                </a:solidFill>
                <a:latin typeface="Malgun Gothic" pitchFamily="34" charset="0"/>
                <a:ea typeface="Malgun Gothic" pitchFamily="34" charset="-122"/>
              </a:rPr>
              <a:t>patent (:</a:t>
            </a:r>
            <a:r>
              <a:rPr lang="ko-KR" altLang="en-US" sz="1000" dirty="0" err="1">
                <a:solidFill>
                  <a:srgbClr val="667487"/>
                </a:solidFill>
                <a:latin typeface="Malgun Gothic" pitchFamily="34" charset="0"/>
                <a:ea typeface="Malgun Gothic" pitchFamily="34" charset="-122"/>
              </a:rPr>
              <a:t>특허명</a:t>
            </a:r>
            <a:r>
              <a:rPr lang="ko-KR" altLang="en-US" sz="1000" dirty="0">
                <a:solidFill>
                  <a:srgbClr val="667487"/>
                </a:solidFill>
                <a:latin typeface="Malgun Gothic" pitchFamily="34" charset="0"/>
                <a:ea typeface="Malgun Gothic" pitchFamily="34" charset="-122"/>
              </a:rPr>
              <a:t> 리스트</a:t>
            </a:r>
            <a:r>
              <a:rPr lang="en-US" altLang="ko-KR" sz="1000" dirty="0">
                <a:solidFill>
                  <a:srgbClr val="667487"/>
                </a:solidFill>
                <a:latin typeface="Malgun Gothic" pitchFamily="34" charset="0"/>
                <a:ea typeface="Malgun Gothic" pitchFamily="34" charset="-122"/>
              </a:rPr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000" dirty="0" err="1">
                <a:solidFill>
                  <a:srgbClr val="667487"/>
                </a:solidFill>
                <a:latin typeface="Malgun Gothic" pitchFamily="34" charset="0"/>
                <a:ea typeface="Malgun Gothic" pitchFamily="34" charset="-122"/>
              </a:rPr>
              <a:t>conduct_list_company</a:t>
            </a:r>
            <a:r>
              <a:rPr lang="en-US" altLang="ko-KR" sz="1000" dirty="0">
                <a:solidFill>
                  <a:srgbClr val="667487"/>
                </a:solidFill>
                <a:latin typeface="Malgun Gothic" pitchFamily="34" charset="0"/>
                <a:ea typeface="Malgun Gothic" pitchFamily="34" charset="-122"/>
              </a:rPr>
              <a:t> (:</a:t>
            </a:r>
            <a:r>
              <a:rPr lang="ko-KR" altLang="en-US" sz="1000" dirty="0" err="1">
                <a:solidFill>
                  <a:srgbClr val="667487"/>
                </a:solidFill>
                <a:latin typeface="Malgun Gothic" pitchFamily="34" charset="0"/>
                <a:ea typeface="Malgun Gothic" pitchFamily="34" charset="-122"/>
              </a:rPr>
              <a:t>임베딩</a:t>
            </a:r>
            <a:r>
              <a:rPr lang="ko-KR" altLang="en-US" sz="1000" dirty="0">
                <a:solidFill>
                  <a:srgbClr val="667487"/>
                </a:solidFill>
                <a:latin typeface="Malgun Gothic" pitchFamily="34" charset="0"/>
                <a:ea typeface="Malgun Gothic" pitchFamily="34" charset="-122"/>
              </a:rPr>
              <a:t> 값</a:t>
            </a:r>
            <a:r>
              <a:rPr lang="en-US" altLang="ko-KR" sz="1000" dirty="0">
                <a:solidFill>
                  <a:srgbClr val="667487"/>
                </a:solidFill>
                <a:latin typeface="Malgun Gothic" pitchFamily="34" charset="0"/>
                <a:ea typeface="Malgun Gothic" pitchFamily="34" charset="-122"/>
              </a:rPr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000" dirty="0">
                <a:solidFill>
                  <a:srgbClr val="667487"/>
                </a:solidFill>
                <a:latin typeface="Malgun Gothic" pitchFamily="34" charset="0"/>
                <a:ea typeface="Malgun Gothic" pitchFamily="34" charset="-122"/>
              </a:rPr>
              <a:t>총연구비</a:t>
            </a:r>
            <a:r>
              <a:rPr lang="en-US" altLang="ko-KR" sz="1000" dirty="0">
                <a:solidFill>
                  <a:srgbClr val="667487"/>
                </a:solidFill>
                <a:latin typeface="Malgun Gothic" pitchFamily="34" charset="0"/>
                <a:ea typeface="Malgun Gothic" pitchFamily="34" charset="-122"/>
              </a:rPr>
              <a:t>_</a:t>
            </a:r>
            <a:r>
              <a:rPr lang="ko-KR" altLang="en-US" sz="1000" dirty="0">
                <a:solidFill>
                  <a:srgbClr val="667487"/>
                </a:solidFill>
                <a:latin typeface="Malgun Gothic" pitchFamily="34" charset="0"/>
                <a:ea typeface="Malgun Gothic" pitchFamily="34" charset="-122"/>
              </a:rPr>
              <a:t>상위비율</a:t>
            </a:r>
            <a:endParaRPr lang="en-US" altLang="ko-KR" sz="1000" dirty="0">
              <a:solidFill>
                <a:srgbClr val="667487"/>
              </a:solidFill>
              <a:latin typeface="Malgun Gothic" pitchFamily="34" charset="0"/>
              <a:ea typeface="Malgun Gothic" pitchFamily="34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000" dirty="0">
                <a:solidFill>
                  <a:srgbClr val="667487"/>
                </a:solidFill>
                <a:latin typeface="Malgun Gothic" pitchFamily="34" charset="0"/>
                <a:ea typeface="Malgun Gothic" pitchFamily="34" charset="-122"/>
              </a:rPr>
              <a:t>총연구비</a:t>
            </a:r>
            <a:r>
              <a:rPr lang="en-US" altLang="ko-KR" sz="1000" dirty="0">
                <a:solidFill>
                  <a:srgbClr val="667487"/>
                </a:solidFill>
                <a:latin typeface="Malgun Gothic" pitchFamily="34" charset="0"/>
                <a:ea typeface="Malgun Gothic" pitchFamily="34" charset="-122"/>
              </a:rPr>
              <a:t>_</a:t>
            </a:r>
            <a:r>
              <a:rPr lang="ko-KR" altLang="en-US" sz="1000" dirty="0">
                <a:solidFill>
                  <a:srgbClr val="667487"/>
                </a:solidFill>
                <a:latin typeface="Malgun Gothic" pitchFamily="34" charset="0"/>
                <a:ea typeface="Malgun Gothic" pitchFamily="34" charset="-122"/>
              </a:rPr>
              <a:t>판정정보</a:t>
            </a:r>
            <a:endParaRPr lang="en-US" altLang="ko-KR" sz="1000" dirty="0">
              <a:solidFill>
                <a:srgbClr val="667487"/>
              </a:solidFill>
              <a:latin typeface="Malgun Gothic" pitchFamily="34" charset="0"/>
              <a:ea typeface="Malgun Gothic" pitchFamily="34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000" dirty="0">
                <a:solidFill>
                  <a:srgbClr val="667487"/>
                </a:solidFill>
                <a:latin typeface="Malgun Gothic" pitchFamily="34" charset="0"/>
                <a:ea typeface="Malgun Gothic" pitchFamily="34" charset="-122"/>
              </a:rPr>
              <a:t>총연구기간</a:t>
            </a:r>
            <a:endParaRPr lang="en-US" altLang="ko-KR" sz="1000" dirty="0">
              <a:solidFill>
                <a:srgbClr val="667487"/>
              </a:solidFill>
              <a:latin typeface="Malgun Gothic" pitchFamily="34" charset="0"/>
              <a:ea typeface="Malgun Gothic" pitchFamily="34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000" dirty="0" err="1">
                <a:solidFill>
                  <a:srgbClr val="667487"/>
                </a:solidFill>
                <a:latin typeface="Malgun Gothic" pitchFamily="34" charset="0"/>
                <a:ea typeface="Malgun Gothic" pitchFamily="34" charset="-122"/>
              </a:rPr>
              <a:t>project_norm_embed</a:t>
            </a:r>
            <a:r>
              <a:rPr lang="en-US" altLang="ko-KR" sz="1000" dirty="0">
                <a:solidFill>
                  <a:srgbClr val="667487"/>
                </a:solidFill>
                <a:latin typeface="Malgun Gothic" pitchFamily="34" charset="0"/>
                <a:ea typeface="Malgun Gothic" pitchFamily="34" charset="-122"/>
              </a:rPr>
              <a:t> (:</a:t>
            </a:r>
            <a:r>
              <a:rPr lang="ko-KR" altLang="en-US" sz="1000" dirty="0" err="1">
                <a:solidFill>
                  <a:srgbClr val="667487"/>
                </a:solidFill>
                <a:latin typeface="Malgun Gothic" pitchFamily="34" charset="0"/>
                <a:ea typeface="Malgun Gothic" pitchFamily="34" charset="-122"/>
              </a:rPr>
              <a:t>임베딩</a:t>
            </a:r>
            <a:r>
              <a:rPr lang="ko-KR" altLang="en-US" sz="1000" dirty="0">
                <a:solidFill>
                  <a:srgbClr val="667487"/>
                </a:solidFill>
                <a:latin typeface="Malgun Gothic" pitchFamily="34" charset="0"/>
                <a:ea typeface="Malgun Gothic" pitchFamily="34" charset="-122"/>
              </a:rPr>
              <a:t> 값</a:t>
            </a:r>
            <a:r>
              <a:rPr lang="en-US" altLang="ko-KR" sz="1000" dirty="0">
                <a:solidFill>
                  <a:srgbClr val="667487"/>
                </a:solidFill>
                <a:latin typeface="Malgun Gothic" pitchFamily="34" charset="0"/>
                <a:ea typeface="Malgun Gothic" pitchFamily="34" charset="-122"/>
              </a:rPr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000" dirty="0" err="1">
                <a:solidFill>
                  <a:srgbClr val="667487"/>
                </a:solidFill>
                <a:latin typeface="Malgun Gothic" pitchFamily="34" charset="0"/>
                <a:ea typeface="Malgun Gothic" pitchFamily="34" charset="-122"/>
              </a:rPr>
              <a:t>conduct_list_company</a:t>
            </a:r>
            <a:r>
              <a:rPr lang="en-US" altLang="ko-KR" sz="1000" dirty="0">
                <a:solidFill>
                  <a:srgbClr val="667487"/>
                </a:solidFill>
                <a:latin typeface="Malgun Gothic" pitchFamily="34" charset="0"/>
                <a:ea typeface="Malgun Gothic" pitchFamily="34" charset="-122"/>
              </a:rPr>
              <a:t> (:</a:t>
            </a:r>
            <a:r>
              <a:rPr lang="ko-KR" altLang="en-US" sz="1000" dirty="0">
                <a:solidFill>
                  <a:srgbClr val="667487"/>
                </a:solidFill>
                <a:latin typeface="Malgun Gothic" pitchFamily="34" charset="0"/>
                <a:ea typeface="Malgun Gothic" pitchFamily="34" charset="-122"/>
              </a:rPr>
              <a:t>과제를 수행한 기업 리스트</a:t>
            </a:r>
            <a:r>
              <a:rPr lang="en-US" altLang="ko-KR" sz="1000" dirty="0">
                <a:solidFill>
                  <a:srgbClr val="667487"/>
                </a:solidFill>
                <a:latin typeface="Malgun Gothic" pitchFamily="34" charset="0"/>
                <a:ea typeface="Malgun Gothic" pitchFamily="34" charset="-122"/>
              </a:rPr>
              <a:t>)</a:t>
            </a:r>
          </a:p>
        </p:txBody>
      </p:sp>
      <p:sp>
        <p:nvSpPr>
          <p:cNvPr id="23" name="Shape 10">
            <a:extLst>
              <a:ext uri="{FF2B5EF4-FFF2-40B4-BE49-F238E27FC236}">
                <a16:creationId xmlns:a16="http://schemas.microsoft.com/office/drawing/2014/main" id="{7F0FBC5E-ED76-5260-72D8-1D29D77DF77C}"/>
              </a:ext>
            </a:extLst>
          </p:cNvPr>
          <p:cNvSpPr/>
          <p:nvPr/>
        </p:nvSpPr>
        <p:spPr>
          <a:xfrm>
            <a:off x="8235280" y="2610552"/>
            <a:ext cx="3263877" cy="1391358"/>
          </a:xfrm>
          <a:prstGeom prst="roundRect">
            <a:avLst>
              <a:gd name="adj" fmla="val 6383"/>
            </a:avLst>
          </a:prstGeom>
          <a:solidFill>
            <a:srgbClr val="EEF4FF"/>
          </a:solidFill>
          <a:ln w="12700">
            <a:solidFill>
              <a:srgbClr val="D9E2EA"/>
            </a:solidFill>
            <a:prstDash val="solid"/>
          </a:ln>
          <a:effectLst>
            <a:outerShdw blurRad="12700" dist="508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4" name="Text 12">
            <a:extLst>
              <a:ext uri="{FF2B5EF4-FFF2-40B4-BE49-F238E27FC236}">
                <a16:creationId xmlns:a16="http://schemas.microsoft.com/office/drawing/2014/main" id="{99D8B726-C96D-73E5-ADC1-CF91EEAD3DF6}"/>
              </a:ext>
            </a:extLst>
          </p:cNvPr>
          <p:cNvSpPr/>
          <p:nvPr/>
        </p:nvSpPr>
        <p:spPr>
          <a:xfrm>
            <a:off x="8582530" y="2659606"/>
            <a:ext cx="2417806" cy="3020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dirty="0"/>
              <a:t>Matching Data</a:t>
            </a:r>
          </a:p>
        </p:txBody>
      </p:sp>
      <p:sp>
        <p:nvSpPr>
          <p:cNvPr id="25" name="화살표: 오른쪽 24">
            <a:extLst>
              <a:ext uri="{FF2B5EF4-FFF2-40B4-BE49-F238E27FC236}">
                <a16:creationId xmlns:a16="http://schemas.microsoft.com/office/drawing/2014/main" id="{1D33DAF5-5539-C486-F73F-E32A7AA67D6E}"/>
              </a:ext>
            </a:extLst>
          </p:cNvPr>
          <p:cNvSpPr/>
          <p:nvPr/>
        </p:nvSpPr>
        <p:spPr>
          <a:xfrm>
            <a:off x="6851865" y="3063915"/>
            <a:ext cx="978408" cy="4846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Text 13">
            <a:extLst>
              <a:ext uri="{FF2B5EF4-FFF2-40B4-BE49-F238E27FC236}">
                <a16:creationId xmlns:a16="http://schemas.microsoft.com/office/drawing/2014/main" id="{162147EA-D78D-717E-3F82-58D80B937E59}"/>
              </a:ext>
            </a:extLst>
          </p:cNvPr>
          <p:cNvSpPr/>
          <p:nvPr/>
        </p:nvSpPr>
        <p:spPr>
          <a:xfrm>
            <a:off x="8314794" y="3142373"/>
            <a:ext cx="30937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ko-KR" altLang="en-US" sz="1000" dirty="0">
                <a:solidFill>
                  <a:srgbClr val="66748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매칭된 기업과 과제에 해당하는 데이터를 </a:t>
            </a:r>
            <a:endParaRPr lang="en-US" altLang="ko-KR" sz="1000" dirty="0">
              <a:solidFill>
                <a:srgbClr val="667487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indent="0">
              <a:buNone/>
            </a:pPr>
            <a:r>
              <a:rPr lang="en-US" altLang="ko-KR" sz="1000" dirty="0">
                <a:solidFill>
                  <a:srgbClr val="66748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Company DB</a:t>
            </a:r>
            <a:r>
              <a:rPr lang="ko-KR" altLang="en-US" sz="1000" dirty="0">
                <a:solidFill>
                  <a:srgbClr val="66748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와 </a:t>
            </a:r>
            <a:r>
              <a:rPr lang="en-US" altLang="ko-KR" sz="1000" dirty="0">
                <a:solidFill>
                  <a:srgbClr val="66748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Project DB</a:t>
            </a:r>
            <a:r>
              <a:rPr lang="ko-KR" altLang="en-US" sz="1000" dirty="0">
                <a:solidFill>
                  <a:srgbClr val="66748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에서 호출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9037161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altLang="ko-KR" sz="1200" b="1" dirty="0">
                <a:solidFill>
                  <a:srgbClr val="1E5E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</a:t>
            </a:r>
            <a:r>
              <a:rPr lang="ko-KR" altLang="en-US" sz="1200" b="1" dirty="0">
                <a:solidFill>
                  <a:srgbClr val="1E5E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 및 데이터</a:t>
            </a:r>
            <a:endParaRPr lang="en-US" altLang="ko-KR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6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생성 방식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387410"/>
            <a:ext cx="11064240" cy="0"/>
          </a:xfrm>
          <a:prstGeom prst="line">
            <a:avLst/>
          </a:prstGeom>
          <a:noFill/>
          <a:ln w="12700">
            <a:solidFill>
              <a:srgbClr val="D7E0EA"/>
            </a:solidFill>
            <a:prstDash val="solid"/>
          </a:ln>
        </p:spPr>
      </p:sp>
      <p:sp>
        <p:nvSpPr>
          <p:cNvPr id="58" name="슬라이드 번호 개체 틀 3">
            <a:extLst>
              <a:ext uri="{FF2B5EF4-FFF2-40B4-BE49-F238E27FC236}">
                <a16:creationId xmlns:a16="http://schemas.microsoft.com/office/drawing/2014/main" id="{1199CCB7-1622-4984-CFAE-B97BAEC53F50}"/>
              </a:ext>
            </a:extLst>
          </p:cNvPr>
          <p:cNvSpPr txBox="1">
            <a:spLocks/>
          </p:cNvSpPr>
          <p:nvPr/>
        </p:nvSpPr>
        <p:spPr>
          <a:xfrm>
            <a:off x="11544300" y="6297168"/>
            <a:ext cx="548640" cy="401447"/>
          </a:xfrm>
          <a:prstGeom prst="rect">
            <a:avLst/>
          </a:prstGeom>
        </p:spPr>
        <p:txBody>
          <a:bodyPr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27E591A-007A-4673-8B7B-A2C2EDBF50B5}" type="slidenum">
              <a:rPr lang="ko-KR" altLang="en-US" smtClean="0"/>
              <a:pPr/>
              <a:t>7</a:t>
            </a:fld>
            <a:endParaRPr lang="ko-KR" altLang="en-US" dirty="0"/>
          </a:p>
        </p:txBody>
      </p:sp>
      <p:sp>
        <p:nvSpPr>
          <p:cNvPr id="5" name="Shape 10">
            <a:extLst>
              <a:ext uri="{FF2B5EF4-FFF2-40B4-BE49-F238E27FC236}">
                <a16:creationId xmlns:a16="http://schemas.microsoft.com/office/drawing/2014/main" id="{16EE605C-DE95-76D1-43B5-7EB4AB4162AC}"/>
              </a:ext>
            </a:extLst>
          </p:cNvPr>
          <p:cNvSpPr/>
          <p:nvPr/>
        </p:nvSpPr>
        <p:spPr>
          <a:xfrm>
            <a:off x="548640" y="1640022"/>
            <a:ext cx="3025269" cy="2330644"/>
          </a:xfrm>
          <a:prstGeom prst="roundRect">
            <a:avLst>
              <a:gd name="adj" fmla="val 6383"/>
            </a:avLst>
          </a:prstGeom>
          <a:solidFill>
            <a:srgbClr val="EEF4FF"/>
          </a:solidFill>
          <a:ln w="12700">
            <a:solidFill>
              <a:srgbClr val="D9E2EA"/>
            </a:solidFill>
            <a:prstDash val="solid"/>
          </a:ln>
          <a:effectLst>
            <a:outerShdw blurRad="12700" dist="508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7" name="Text 12">
            <a:extLst>
              <a:ext uri="{FF2B5EF4-FFF2-40B4-BE49-F238E27FC236}">
                <a16:creationId xmlns:a16="http://schemas.microsoft.com/office/drawing/2014/main" id="{70762C47-F5A8-2306-149A-37129071432C}"/>
              </a:ext>
            </a:extLst>
          </p:cNvPr>
          <p:cNvSpPr/>
          <p:nvPr/>
        </p:nvSpPr>
        <p:spPr>
          <a:xfrm>
            <a:off x="650164" y="1672304"/>
            <a:ext cx="2824557" cy="3020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dirty="0"/>
              <a:t>Company DB</a:t>
            </a:r>
          </a:p>
        </p:txBody>
      </p:sp>
      <p:sp>
        <p:nvSpPr>
          <p:cNvPr id="8" name="Text 13">
            <a:extLst>
              <a:ext uri="{FF2B5EF4-FFF2-40B4-BE49-F238E27FC236}">
                <a16:creationId xmlns:a16="http://schemas.microsoft.com/office/drawing/2014/main" id="{51CADB89-9D9C-CB88-F2A9-0B24AB5720C2}"/>
              </a:ext>
            </a:extLst>
          </p:cNvPr>
          <p:cNvSpPr/>
          <p:nvPr/>
        </p:nvSpPr>
        <p:spPr>
          <a:xfrm>
            <a:off x="650165" y="2071426"/>
            <a:ext cx="2824557" cy="18291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050" dirty="0">
                <a:solidFill>
                  <a:srgbClr val="667487"/>
                </a:solidFill>
                <a:latin typeface="Malgun Gothic" pitchFamily="34" charset="0"/>
                <a:ea typeface="Malgun Gothic" pitchFamily="34" charset="-122"/>
              </a:rPr>
              <a:t>연구개발비</a:t>
            </a:r>
            <a:r>
              <a:rPr lang="en-US" altLang="ko-KR" sz="1050" dirty="0">
                <a:solidFill>
                  <a:srgbClr val="667487"/>
                </a:solidFill>
                <a:latin typeface="Malgun Gothic" pitchFamily="34" charset="0"/>
                <a:ea typeface="Malgun Gothic" pitchFamily="34" charset="-122"/>
              </a:rPr>
              <a:t>_</a:t>
            </a:r>
            <a:r>
              <a:rPr lang="ko-KR" altLang="en-US" sz="1050" dirty="0">
                <a:solidFill>
                  <a:srgbClr val="667487"/>
                </a:solidFill>
                <a:latin typeface="Malgun Gothic" pitchFamily="34" charset="0"/>
                <a:ea typeface="Malgun Gothic" pitchFamily="34" charset="-122"/>
              </a:rPr>
              <a:t>상위비율</a:t>
            </a:r>
            <a:endParaRPr lang="en-US" altLang="ko-KR" sz="1050" dirty="0">
              <a:solidFill>
                <a:srgbClr val="667487"/>
              </a:solidFill>
              <a:latin typeface="Malgun Gothic" pitchFamily="34" charset="0"/>
              <a:ea typeface="Malgun Gothic" pitchFamily="34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050" dirty="0">
                <a:solidFill>
                  <a:srgbClr val="667487"/>
                </a:solidFill>
                <a:latin typeface="Malgun Gothic" pitchFamily="34" charset="0"/>
                <a:ea typeface="Malgun Gothic" pitchFamily="34" charset="-122"/>
              </a:rPr>
              <a:t>연구개발비</a:t>
            </a:r>
            <a:r>
              <a:rPr lang="en-US" altLang="ko-KR" sz="1050" dirty="0">
                <a:solidFill>
                  <a:srgbClr val="667487"/>
                </a:solidFill>
                <a:latin typeface="Malgun Gothic" pitchFamily="34" charset="0"/>
                <a:ea typeface="Malgun Gothic" pitchFamily="34" charset="-122"/>
              </a:rPr>
              <a:t>_</a:t>
            </a:r>
            <a:r>
              <a:rPr lang="ko-KR" altLang="en-US" sz="1050" dirty="0">
                <a:solidFill>
                  <a:srgbClr val="667487"/>
                </a:solidFill>
                <a:latin typeface="Malgun Gothic" pitchFamily="34" charset="0"/>
                <a:ea typeface="Malgun Gothic" pitchFamily="34" charset="-122"/>
              </a:rPr>
              <a:t>판정정보</a:t>
            </a:r>
            <a:endParaRPr lang="en-US" altLang="ko-KR" sz="1050" dirty="0">
              <a:solidFill>
                <a:srgbClr val="667487"/>
              </a:solidFill>
              <a:latin typeface="Malgun Gothic" pitchFamily="34" charset="0"/>
              <a:ea typeface="Malgun Gothic" pitchFamily="34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050" dirty="0">
                <a:solidFill>
                  <a:srgbClr val="667487"/>
                </a:solidFill>
                <a:latin typeface="Malgun Gothic" pitchFamily="34" charset="0"/>
                <a:ea typeface="Malgun Gothic" pitchFamily="34" charset="-122"/>
              </a:rPr>
              <a:t>매출성장율</a:t>
            </a:r>
            <a:r>
              <a:rPr lang="en-US" altLang="ko-KR" sz="1050" dirty="0">
                <a:solidFill>
                  <a:srgbClr val="667487"/>
                </a:solidFill>
                <a:latin typeface="Malgun Gothic" pitchFamily="34" charset="0"/>
                <a:ea typeface="Malgun Gothic" pitchFamily="34" charset="-122"/>
              </a:rPr>
              <a:t>_</a:t>
            </a:r>
            <a:r>
              <a:rPr lang="ko-KR" altLang="en-US" sz="1050" dirty="0">
                <a:solidFill>
                  <a:srgbClr val="667487"/>
                </a:solidFill>
                <a:latin typeface="Malgun Gothic" pitchFamily="34" charset="0"/>
                <a:ea typeface="Malgun Gothic" pitchFamily="34" charset="-122"/>
              </a:rPr>
              <a:t>상위비율</a:t>
            </a:r>
            <a:endParaRPr lang="en-US" altLang="ko-KR" sz="1050" dirty="0">
              <a:solidFill>
                <a:srgbClr val="667487"/>
              </a:solidFill>
              <a:latin typeface="Malgun Gothic" pitchFamily="34" charset="0"/>
              <a:ea typeface="Malgun Gothic" pitchFamily="34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050" dirty="0">
                <a:solidFill>
                  <a:srgbClr val="667487"/>
                </a:solidFill>
                <a:latin typeface="Malgun Gothic" pitchFamily="34" charset="0"/>
                <a:ea typeface="Malgun Gothic" pitchFamily="34" charset="-122"/>
              </a:rPr>
              <a:t>매출성장율</a:t>
            </a:r>
            <a:r>
              <a:rPr lang="en-US" altLang="ko-KR" sz="1050" dirty="0">
                <a:solidFill>
                  <a:srgbClr val="667487"/>
                </a:solidFill>
                <a:latin typeface="Malgun Gothic" pitchFamily="34" charset="0"/>
                <a:ea typeface="Malgun Gothic" pitchFamily="34" charset="-122"/>
              </a:rPr>
              <a:t>_</a:t>
            </a:r>
            <a:r>
              <a:rPr lang="ko-KR" altLang="en-US" sz="1050" dirty="0">
                <a:solidFill>
                  <a:srgbClr val="667487"/>
                </a:solidFill>
                <a:latin typeface="Malgun Gothic" pitchFamily="34" charset="0"/>
                <a:ea typeface="Malgun Gothic" pitchFamily="34" charset="-122"/>
              </a:rPr>
              <a:t>판정정보</a:t>
            </a:r>
            <a:endParaRPr lang="en-US" altLang="ko-KR" sz="1050" dirty="0">
              <a:solidFill>
                <a:srgbClr val="667487"/>
              </a:solidFill>
              <a:latin typeface="Malgun Gothic" pitchFamily="34" charset="0"/>
              <a:ea typeface="Malgun Gothic" pitchFamily="34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050" dirty="0">
                <a:solidFill>
                  <a:srgbClr val="667487"/>
                </a:solidFill>
                <a:latin typeface="Malgun Gothic" pitchFamily="34" charset="0"/>
                <a:ea typeface="Malgun Gothic" pitchFamily="34" charset="-122"/>
              </a:rPr>
              <a:t>영업이익율</a:t>
            </a:r>
            <a:r>
              <a:rPr lang="en-US" altLang="ko-KR" sz="1050" dirty="0">
                <a:solidFill>
                  <a:srgbClr val="667487"/>
                </a:solidFill>
                <a:latin typeface="Malgun Gothic" pitchFamily="34" charset="0"/>
                <a:ea typeface="Malgun Gothic" pitchFamily="34" charset="-122"/>
              </a:rPr>
              <a:t>_</a:t>
            </a:r>
            <a:r>
              <a:rPr lang="ko-KR" altLang="en-US" sz="1050" dirty="0">
                <a:solidFill>
                  <a:srgbClr val="667487"/>
                </a:solidFill>
                <a:latin typeface="Malgun Gothic" pitchFamily="34" charset="0"/>
                <a:ea typeface="Malgun Gothic" pitchFamily="34" charset="-122"/>
              </a:rPr>
              <a:t>상위비율</a:t>
            </a:r>
            <a:endParaRPr lang="en-US" altLang="ko-KR" sz="1050" dirty="0">
              <a:solidFill>
                <a:srgbClr val="667487"/>
              </a:solidFill>
              <a:latin typeface="Malgun Gothic" pitchFamily="34" charset="0"/>
              <a:ea typeface="Malgun Gothic" pitchFamily="34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050" dirty="0">
                <a:solidFill>
                  <a:srgbClr val="667487"/>
                </a:solidFill>
                <a:latin typeface="Malgun Gothic" pitchFamily="34" charset="0"/>
                <a:ea typeface="Malgun Gothic" pitchFamily="34" charset="-122"/>
              </a:rPr>
              <a:t>영업이익율</a:t>
            </a:r>
            <a:r>
              <a:rPr lang="en-US" altLang="ko-KR" sz="1050" dirty="0">
                <a:solidFill>
                  <a:srgbClr val="667487"/>
                </a:solidFill>
                <a:latin typeface="Malgun Gothic" pitchFamily="34" charset="0"/>
                <a:ea typeface="Malgun Gothic" pitchFamily="34" charset="-122"/>
              </a:rPr>
              <a:t>_</a:t>
            </a:r>
            <a:r>
              <a:rPr lang="ko-KR" altLang="en-US" sz="1050" dirty="0">
                <a:solidFill>
                  <a:srgbClr val="667487"/>
                </a:solidFill>
                <a:latin typeface="Malgun Gothic" pitchFamily="34" charset="0"/>
                <a:ea typeface="Malgun Gothic" pitchFamily="34" charset="-122"/>
              </a:rPr>
              <a:t>판정정보</a:t>
            </a:r>
            <a:endParaRPr lang="en-US" altLang="ko-KR" sz="1050" dirty="0">
              <a:solidFill>
                <a:srgbClr val="667487"/>
              </a:solidFill>
              <a:latin typeface="Malgun Gothic" pitchFamily="34" charset="0"/>
              <a:ea typeface="Malgun Gothic" pitchFamily="34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050" dirty="0">
                <a:solidFill>
                  <a:srgbClr val="667487"/>
                </a:solidFill>
                <a:latin typeface="Malgun Gothic" pitchFamily="34" charset="0"/>
                <a:ea typeface="Malgun Gothic" pitchFamily="34" charset="-122"/>
              </a:rPr>
              <a:t>부채비율</a:t>
            </a:r>
            <a:r>
              <a:rPr lang="en-US" altLang="ko-KR" sz="1050" dirty="0">
                <a:solidFill>
                  <a:srgbClr val="667487"/>
                </a:solidFill>
                <a:latin typeface="Malgun Gothic" pitchFamily="34" charset="0"/>
                <a:ea typeface="Malgun Gothic" pitchFamily="34" charset="-122"/>
              </a:rPr>
              <a:t>_</a:t>
            </a:r>
            <a:r>
              <a:rPr lang="ko-KR" altLang="en-US" sz="1050" dirty="0">
                <a:solidFill>
                  <a:srgbClr val="667487"/>
                </a:solidFill>
                <a:latin typeface="Malgun Gothic" pitchFamily="34" charset="0"/>
                <a:ea typeface="Malgun Gothic" pitchFamily="34" charset="-122"/>
              </a:rPr>
              <a:t>하위비율</a:t>
            </a:r>
            <a:endParaRPr lang="en-US" altLang="ko-KR" sz="1050" dirty="0">
              <a:solidFill>
                <a:srgbClr val="667487"/>
              </a:solidFill>
              <a:latin typeface="Malgun Gothic" pitchFamily="34" charset="0"/>
              <a:ea typeface="Malgun Gothic" pitchFamily="34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050" dirty="0">
                <a:solidFill>
                  <a:srgbClr val="667487"/>
                </a:solidFill>
                <a:latin typeface="Malgun Gothic" pitchFamily="34" charset="0"/>
                <a:ea typeface="Malgun Gothic" pitchFamily="34" charset="-122"/>
              </a:rPr>
              <a:t>부채비율</a:t>
            </a:r>
            <a:r>
              <a:rPr lang="en-US" altLang="ko-KR" sz="1050" dirty="0">
                <a:solidFill>
                  <a:srgbClr val="667487"/>
                </a:solidFill>
                <a:latin typeface="Malgun Gothic" pitchFamily="34" charset="0"/>
                <a:ea typeface="Malgun Gothic" pitchFamily="34" charset="-122"/>
              </a:rPr>
              <a:t>_</a:t>
            </a:r>
            <a:r>
              <a:rPr lang="ko-KR" altLang="en-US" sz="1050" dirty="0">
                <a:solidFill>
                  <a:srgbClr val="667487"/>
                </a:solidFill>
                <a:latin typeface="Malgun Gothic" pitchFamily="34" charset="0"/>
                <a:ea typeface="Malgun Gothic" pitchFamily="34" charset="-122"/>
              </a:rPr>
              <a:t>판정정보</a:t>
            </a:r>
            <a:endParaRPr lang="en-US" altLang="ko-KR" sz="1050" dirty="0">
              <a:solidFill>
                <a:srgbClr val="667487"/>
              </a:solidFill>
              <a:latin typeface="Malgun Gothic" pitchFamily="34" charset="0"/>
              <a:ea typeface="Malgun Gothic" pitchFamily="34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050" dirty="0" err="1">
                <a:solidFill>
                  <a:srgbClr val="667487"/>
                </a:solidFill>
                <a:latin typeface="Malgun Gothic" pitchFamily="34" charset="0"/>
                <a:ea typeface="Malgun Gothic" pitchFamily="34" charset="-122"/>
              </a:rPr>
              <a:t>conduct_list_project</a:t>
            </a:r>
            <a:r>
              <a:rPr lang="en-US" altLang="ko-KR" sz="1050" dirty="0">
                <a:solidFill>
                  <a:srgbClr val="667487"/>
                </a:solidFill>
                <a:latin typeface="Malgun Gothic" pitchFamily="34" charset="0"/>
                <a:ea typeface="Malgun Gothic" pitchFamily="34" charset="-122"/>
              </a:rPr>
              <a:t> (:</a:t>
            </a:r>
            <a:r>
              <a:rPr lang="ko-KR" altLang="en-US" sz="1050" dirty="0">
                <a:solidFill>
                  <a:srgbClr val="667487"/>
                </a:solidFill>
                <a:latin typeface="Malgun Gothic" pitchFamily="34" charset="0"/>
                <a:ea typeface="Malgun Gothic" pitchFamily="34" charset="-122"/>
              </a:rPr>
              <a:t>기업이 수행한 프로젝트 리스트</a:t>
            </a:r>
            <a:r>
              <a:rPr lang="en-US" altLang="ko-KR" sz="1050" dirty="0">
                <a:solidFill>
                  <a:srgbClr val="667487"/>
                </a:solidFill>
                <a:latin typeface="Malgun Gothic" pitchFamily="34" charset="0"/>
                <a:ea typeface="Malgun Gothic" pitchFamily="34" charset="-122"/>
              </a:rPr>
              <a:t>)</a:t>
            </a:r>
          </a:p>
        </p:txBody>
      </p:sp>
      <p:sp>
        <p:nvSpPr>
          <p:cNvPr id="19" name="오른쪽 중괄호 18">
            <a:extLst>
              <a:ext uri="{FF2B5EF4-FFF2-40B4-BE49-F238E27FC236}">
                <a16:creationId xmlns:a16="http://schemas.microsoft.com/office/drawing/2014/main" id="{4F81D4EC-4451-C08C-1C17-D556939C2F15}"/>
              </a:ext>
            </a:extLst>
          </p:cNvPr>
          <p:cNvSpPr/>
          <p:nvPr/>
        </p:nvSpPr>
        <p:spPr>
          <a:xfrm>
            <a:off x="2501427" y="2120480"/>
            <a:ext cx="155448" cy="1155861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4AE9D83-A15F-7B57-CFA2-B1423EF3DFE2}"/>
              </a:ext>
            </a:extLst>
          </p:cNvPr>
          <p:cNvSpPr txBox="1"/>
          <p:nvPr/>
        </p:nvSpPr>
        <p:spPr>
          <a:xfrm>
            <a:off x="2708395" y="2236745"/>
            <a:ext cx="9312089" cy="9233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900" dirty="0"/>
              <a:t>‘10</a:t>
            </a:r>
            <a:r>
              <a:rPr lang="ko-KR" altLang="en-US" sz="900" dirty="0"/>
              <a:t>차산업코드명</a:t>
            </a:r>
            <a:r>
              <a:rPr lang="en-US" altLang="ko-KR" sz="900" dirty="0"/>
              <a:t>_</a:t>
            </a:r>
            <a:r>
              <a:rPr lang="ko-KR" altLang="en-US" sz="900" dirty="0"/>
              <a:t>중분류</a:t>
            </a:r>
            <a:r>
              <a:rPr lang="en-US" altLang="ko-KR" sz="900" dirty="0"/>
              <a:t>’</a:t>
            </a:r>
            <a:r>
              <a:rPr lang="ko-KR" altLang="en-US" sz="900" dirty="0"/>
              <a:t> 데이터 그룹화 →</a:t>
            </a:r>
            <a:r>
              <a:rPr lang="en-US" altLang="ko-KR" sz="900" dirty="0"/>
              <a:t> </a:t>
            </a:r>
          </a:p>
          <a:p>
            <a:r>
              <a:rPr lang="ko-KR" altLang="en-US" sz="900" dirty="0"/>
              <a:t>해당 그룹 내에서 </a:t>
            </a:r>
            <a:r>
              <a:rPr lang="en-US" altLang="ko-KR" sz="900" dirty="0"/>
              <a:t>‘</a:t>
            </a:r>
            <a:r>
              <a:rPr lang="ko-KR" altLang="en-US" sz="900" dirty="0"/>
              <a:t>연구개발비</a:t>
            </a:r>
            <a:r>
              <a:rPr lang="en-US" altLang="ko-KR" sz="900" dirty="0"/>
              <a:t>’, ‘</a:t>
            </a:r>
            <a:r>
              <a:rPr lang="ko-KR" altLang="en-US" sz="900" dirty="0"/>
              <a:t>매출성장율</a:t>
            </a:r>
            <a:r>
              <a:rPr lang="en-US" altLang="ko-KR" sz="900" dirty="0"/>
              <a:t>‘, ‘</a:t>
            </a:r>
            <a:r>
              <a:rPr lang="ko-KR" altLang="en-US" sz="900" dirty="0"/>
              <a:t>영업이익율</a:t>
            </a:r>
            <a:r>
              <a:rPr lang="en-US" altLang="ko-KR" sz="900" dirty="0"/>
              <a:t>‘, ‘</a:t>
            </a:r>
            <a:r>
              <a:rPr lang="ko-KR" altLang="en-US" sz="900" dirty="0"/>
              <a:t>부채비율</a:t>
            </a:r>
            <a:r>
              <a:rPr lang="en-US" altLang="ko-KR" sz="900" dirty="0"/>
              <a:t>‘ </a:t>
            </a:r>
            <a:r>
              <a:rPr lang="ko-KR" altLang="en-US" sz="900" dirty="0"/>
              <a:t>각각의 데이터 상위</a:t>
            </a:r>
            <a:r>
              <a:rPr lang="en-US" altLang="ko-KR" sz="900" dirty="0"/>
              <a:t>(</a:t>
            </a:r>
            <a:r>
              <a:rPr lang="ko-KR" altLang="en-US" sz="900" dirty="0"/>
              <a:t>부채비율은 하위</a:t>
            </a:r>
            <a:r>
              <a:rPr lang="en-US" altLang="ko-KR" sz="900" dirty="0"/>
              <a:t>)</a:t>
            </a:r>
            <a:r>
              <a:rPr lang="ko-KR" altLang="en-US" sz="900" dirty="0"/>
              <a:t> </a:t>
            </a:r>
            <a:r>
              <a:rPr lang="en-US" altLang="ko-KR" sz="900" dirty="0"/>
              <a:t>1, 5, 10, 20% </a:t>
            </a:r>
            <a:r>
              <a:rPr lang="ko-KR" altLang="en-US" sz="900" dirty="0"/>
              <a:t>계산 </a:t>
            </a:r>
            <a:r>
              <a:rPr lang="en-US" altLang="ko-KR" sz="900" dirty="0"/>
              <a:t>(</a:t>
            </a:r>
            <a:r>
              <a:rPr lang="ko-KR" altLang="en-US" sz="900" dirty="0"/>
              <a:t>해당 그룹의 데이터가 </a:t>
            </a:r>
            <a:r>
              <a:rPr lang="en-US" altLang="ko-KR" sz="900" dirty="0"/>
              <a:t>5</a:t>
            </a:r>
            <a:r>
              <a:rPr lang="ko-KR" altLang="en-US" sz="900" dirty="0"/>
              <a:t>개 미만이면 전체 데이터에 대한 비율로 계산</a:t>
            </a:r>
            <a:r>
              <a:rPr lang="en-US" altLang="ko-KR" sz="900" dirty="0"/>
              <a:t>) </a:t>
            </a:r>
            <a:r>
              <a:rPr lang="ko-KR" altLang="en-US" sz="900" dirty="0"/>
              <a:t>→</a:t>
            </a:r>
            <a:endParaRPr lang="en-US" altLang="ko-KR" sz="900" dirty="0"/>
          </a:p>
          <a:p>
            <a:r>
              <a:rPr lang="ko-KR" altLang="en-US" sz="900" dirty="0"/>
              <a:t>다음과 같이 데이터 저장</a:t>
            </a:r>
            <a:endParaRPr lang="en-US" altLang="ko-KR" sz="900" dirty="0"/>
          </a:p>
          <a:p>
            <a:r>
              <a:rPr lang="en-US" altLang="ko-KR" sz="900" dirty="0"/>
              <a:t>*_</a:t>
            </a:r>
            <a:r>
              <a:rPr lang="ko-KR" altLang="en-US" sz="900" dirty="0"/>
              <a:t>상위</a:t>
            </a:r>
            <a:r>
              <a:rPr lang="en-US" altLang="ko-KR" sz="900" dirty="0"/>
              <a:t>(</a:t>
            </a:r>
            <a:r>
              <a:rPr lang="ko-KR" altLang="en-US" sz="900" dirty="0"/>
              <a:t>하위</a:t>
            </a:r>
            <a:r>
              <a:rPr lang="en-US" altLang="ko-KR" sz="900" dirty="0"/>
              <a:t>)</a:t>
            </a:r>
            <a:r>
              <a:rPr lang="ko-KR" altLang="en-US" sz="900" dirty="0"/>
              <a:t>비율 </a:t>
            </a:r>
            <a:r>
              <a:rPr lang="en-US" altLang="ko-KR" sz="900" dirty="0"/>
              <a:t>: 1, 5, 10, 20, </a:t>
            </a:r>
            <a:r>
              <a:rPr lang="ko-KR" altLang="en-US" sz="900" dirty="0" err="1"/>
              <a:t>빈값</a:t>
            </a:r>
            <a:r>
              <a:rPr lang="en-US" altLang="ko-KR" sz="900" dirty="0"/>
              <a:t>(“”)</a:t>
            </a:r>
            <a:r>
              <a:rPr lang="ko-KR" altLang="en-US" sz="900" dirty="0"/>
              <a:t> 중 하나로 저장 </a:t>
            </a:r>
            <a:r>
              <a:rPr lang="en-US" altLang="ko-KR" sz="900" dirty="0"/>
              <a:t>(1, 5, 10, 20% </a:t>
            </a:r>
            <a:r>
              <a:rPr lang="ko-KR" altLang="en-US" sz="900" dirty="0"/>
              <a:t>내에 들지 않을 때는 </a:t>
            </a:r>
            <a:r>
              <a:rPr lang="ko-KR" altLang="en-US" sz="900" dirty="0" err="1"/>
              <a:t>빈값으로</a:t>
            </a:r>
            <a:r>
              <a:rPr lang="ko-KR" altLang="en-US" sz="900" dirty="0"/>
              <a:t> 저장</a:t>
            </a:r>
            <a:r>
              <a:rPr lang="en-US" altLang="ko-KR" sz="900" dirty="0"/>
              <a:t>)</a:t>
            </a:r>
          </a:p>
          <a:p>
            <a:r>
              <a:rPr lang="en-US" altLang="ko-KR" sz="900" dirty="0"/>
              <a:t>*_</a:t>
            </a:r>
            <a:r>
              <a:rPr lang="ko-KR" altLang="en-US" sz="900" dirty="0"/>
              <a:t>판정정보 </a:t>
            </a:r>
            <a:r>
              <a:rPr lang="en-US" altLang="ko-KR" sz="900" dirty="0"/>
              <a:t>:  {“rank”:</a:t>
            </a:r>
            <a:r>
              <a:rPr lang="ko-KR" altLang="en-US" sz="900" dirty="0"/>
              <a:t> 위에서 계산한 </a:t>
            </a:r>
            <a:r>
              <a:rPr lang="ko-KR" altLang="en-US" sz="900" dirty="0" err="1"/>
              <a:t>비율값</a:t>
            </a:r>
            <a:r>
              <a:rPr lang="en-US" altLang="ko-KR" sz="900" dirty="0"/>
              <a:t>, “group”: ‘</a:t>
            </a:r>
            <a:r>
              <a:rPr lang="ko-KR" altLang="en-US" sz="900" dirty="0" err="1"/>
              <a:t>그룹명</a:t>
            </a:r>
            <a:r>
              <a:rPr lang="en-US" altLang="ko-KR" sz="900" dirty="0"/>
              <a:t>’</a:t>
            </a:r>
            <a:r>
              <a:rPr lang="ko-KR" altLang="en-US" sz="900" dirty="0"/>
              <a:t> 또는 </a:t>
            </a:r>
            <a:r>
              <a:rPr lang="en-US" altLang="ko-KR" sz="900" dirty="0"/>
              <a:t>‘</a:t>
            </a:r>
            <a:r>
              <a:rPr lang="ko-KR" altLang="en-US" sz="900" dirty="0"/>
              <a:t>전체</a:t>
            </a:r>
            <a:r>
              <a:rPr lang="en-US" altLang="ko-KR" sz="900" dirty="0"/>
              <a:t>’} (*_</a:t>
            </a:r>
            <a:r>
              <a:rPr lang="ko-KR" altLang="en-US" sz="900" dirty="0"/>
              <a:t>상위</a:t>
            </a:r>
            <a:r>
              <a:rPr lang="en-US" altLang="ko-KR" sz="900" dirty="0"/>
              <a:t>(</a:t>
            </a:r>
            <a:r>
              <a:rPr lang="ko-KR" altLang="en-US" sz="900" dirty="0"/>
              <a:t>하위</a:t>
            </a:r>
            <a:r>
              <a:rPr lang="en-US" altLang="ko-KR" sz="900" dirty="0"/>
              <a:t>)</a:t>
            </a:r>
            <a:r>
              <a:rPr lang="ko-KR" altLang="en-US" sz="900" dirty="0"/>
              <a:t>비율의 값이 </a:t>
            </a:r>
            <a:r>
              <a:rPr lang="ko-KR" altLang="en-US" sz="900" dirty="0" err="1"/>
              <a:t>빈값인</a:t>
            </a:r>
            <a:r>
              <a:rPr lang="ko-KR" altLang="en-US" sz="900" dirty="0"/>
              <a:t> 경우에 </a:t>
            </a:r>
            <a:r>
              <a:rPr lang="en-US" altLang="ko-KR" sz="900" dirty="0"/>
              <a:t>None </a:t>
            </a:r>
            <a:r>
              <a:rPr lang="ko-KR" altLang="en-US" sz="900" dirty="0"/>
              <a:t>저장</a:t>
            </a:r>
            <a:r>
              <a:rPr lang="en-US" altLang="ko-KR" sz="900" dirty="0"/>
              <a:t>) </a:t>
            </a:r>
            <a:endParaRPr lang="ko-KR" altLang="en-US" sz="900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1C438A2A-B506-2EBD-C62B-B523EB2F0167}"/>
              </a:ext>
            </a:extLst>
          </p:cNvPr>
          <p:cNvSpPr txBox="1"/>
          <p:nvPr/>
        </p:nvSpPr>
        <p:spPr>
          <a:xfrm>
            <a:off x="898138" y="4076326"/>
            <a:ext cx="6101682" cy="216982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900" dirty="0"/>
              <a:t>‘</a:t>
            </a:r>
            <a:r>
              <a:rPr lang="en-US" altLang="ko-KR" sz="900" dirty="0" err="1"/>
              <a:t>conduct_project_id</a:t>
            </a:r>
            <a:r>
              <a:rPr lang="en-US" altLang="ko-KR" sz="900" dirty="0"/>
              <a:t>’</a:t>
            </a:r>
            <a:r>
              <a:rPr lang="ko-KR" altLang="en-US" sz="900" dirty="0"/>
              <a:t>와 일치하는 </a:t>
            </a:r>
            <a:r>
              <a:rPr lang="en-US" altLang="ko-KR" sz="900" dirty="0"/>
              <a:t>‘</a:t>
            </a:r>
            <a:r>
              <a:rPr lang="ko-KR" altLang="en-US" sz="900" dirty="0"/>
              <a:t>과제고유번호</a:t>
            </a:r>
            <a:r>
              <a:rPr lang="en-US" altLang="ko-KR" sz="900" dirty="0"/>
              <a:t>’</a:t>
            </a:r>
            <a:r>
              <a:rPr lang="ko-KR" altLang="en-US" sz="900" dirty="0"/>
              <a:t>를 </a:t>
            </a:r>
            <a:r>
              <a:rPr lang="en-US" altLang="ko-KR" sz="900" dirty="0"/>
              <a:t>Project DB</a:t>
            </a:r>
            <a:r>
              <a:rPr lang="ko-KR" altLang="en-US" sz="900" dirty="0"/>
              <a:t>에서 찾아 아래와 같이 해당 데이터</a:t>
            </a:r>
            <a:r>
              <a:rPr lang="en-US" altLang="ko-KR" sz="900" dirty="0"/>
              <a:t> </a:t>
            </a:r>
            <a:r>
              <a:rPr lang="ko-KR" altLang="en-US" sz="900" dirty="0"/>
              <a:t>정보들 추출</a:t>
            </a:r>
            <a:endParaRPr lang="en-US" altLang="ko-KR" sz="900" dirty="0"/>
          </a:p>
          <a:p>
            <a:endParaRPr lang="en-US" altLang="ko-KR" sz="900" dirty="0"/>
          </a:p>
          <a:p>
            <a:r>
              <a:rPr lang="ko-KR" altLang="en-US" sz="900" dirty="0"/>
              <a:t>예시</a:t>
            </a:r>
            <a:r>
              <a:rPr lang="en-US" altLang="ko-KR" sz="900" dirty="0"/>
              <a:t>)</a:t>
            </a:r>
          </a:p>
          <a:p>
            <a:r>
              <a:rPr lang="en-US" altLang="ko-KR" sz="900" dirty="0"/>
              <a:t>{</a:t>
            </a:r>
            <a:br>
              <a:rPr lang="en-US" altLang="ko-KR" sz="900" dirty="0"/>
            </a:br>
            <a:r>
              <a:rPr lang="en-US" altLang="ko-KR" sz="900" dirty="0"/>
              <a:t>"</a:t>
            </a:r>
            <a:r>
              <a:rPr lang="en-US" altLang="ko-KR" sz="900" dirty="0" err="1"/>
              <a:t>project_id</a:t>
            </a:r>
            <a:r>
              <a:rPr lang="en-US" altLang="ko-KR" sz="900" dirty="0"/>
              <a:t>": "P001",</a:t>
            </a:r>
            <a:br>
              <a:rPr lang="en-US" altLang="ko-KR" sz="900" dirty="0"/>
            </a:br>
            <a:r>
              <a:rPr lang="en-US" altLang="ko-KR" sz="900" dirty="0"/>
              <a:t>"</a:t>
            </a:r>
            <a:r>
              <a:rPr lang="en-US" altLang="ko-KR" sz="900" dirty="0" err="1"/>
              <a:t>project_name</a:t>
            </a:r>
            <a:r>
              <a:rPr lang="en-US" altLang="ko-KR" sz="900" dirty="0"/>
              <a:t>": "AI </a:t>
            </a:r>
            <a:r>
              <a:rPr lang="ko-KR" altLang="en-US" sz="900" dirty="0"/>
              <a:t>기반 분석 과제</a:t>
            </a:r>
            <a:r>
              <a:rPr lang="en-US" altLang="ko-KR" sz="900" dirty="0"/>
              <a:t>",</a:t>
            </a:r>
            <a:br>
              <a:rPr lang="en-US" altLang="ko-KR" sz="900" dirty="0"/>
            </a:br>
            <a:r>
              <a:rPr lang="en-US" altLang="ko-KR" sz="900" dirty="0"/>
              <a:t>"embedding": [...],</a:t>
            </a:r>
            <a:br>
              <a:rPr lang="en-US" altLang="ko-KR" sz="900" dirty="0"/>
            </a:br>
            <a:r>
              <a:rPr lang="en-US" altLang="ko-KR" sz="900" dirty="0"/>
              <a:t>"</a:t>
            </a:r>
            <a:r>
              <a:rPr lang="en-US" altLang="ko-KR" sz="900" dirty="0" err="1"/>
              <a:t>project_info</a:t>
            </a:r>
            <a:r>
              <a:rPr lang="en-US" altLang="ko-KR" sz="900" dirty="0"/>
              <a:t>": {</a:t>
            </a:r>
            <a:br>
              <a:rPr lang="en-US" altLang="ko-KR" sz="900" dirty="0"/>
            </a:br>
            <a:r>
              <a:rPr lang="en-US" altLang="ko-KR" sz="900" dirty="0"/>
              <a:t>    "</a:t>
            </a:r>
            <a:r>
              <a:rPr lang="en-US" altLang="ko-KR" sz="900" dirty="0" err="1"/>
              <a:t>project_name</a:t>
            </a:r>
            <a:r>
              <a:rPr lang="en-US" altLang="ko-KR" sz="900" dirty="0"/>
              <a:t>": "AI </a:t>
            </a:r>
            <a:r>
              <a:rPr lang="ko-KR" altLang="en-US" sz="900" dirty="0"/>
              <a:t>기반 분석 과제</a:t>
            </a:r>
            <a:r>
              <a:rPr lang="en-US" altLang="ko-KR" sz="900" dirty="0"/>
              <a:t>",</a:t>
            </a:r>
            <a:br>
              <a:rPr lang="en-US" altLang="ko-KR" sz="900" dirty="0"/>
            </a:br>
            <a:r>
              <a:rPr lang="en-US" altLang="ko-KR" sz="900" dirty="0"/>
              <a:t>    "</a:t>
            </a:r>
            <a:r>
              <a:rPr lang="en-US" altLang="ko-KR" sz="900" dirty="0" err="1"/>
              <a:t>project_keyword</a:t>
            </a:r>
            <a:r>
              <a:rPr lang="en-US" altLang="ko-KR" sz="900" dirty="0"/>
              <a:t>": ["AI", "</a:t>
            </a:r>
            <a:r>
              <a:rPr lang="ko-KR" altLang="en-US" sz="900" dirty="0"/>
              <a:t>분석</a:t>
            </a:r>
            <a:r>
              <a:rPr lang="en-US" altLang="ko-KR" sz="900" dirty="0"/>
              <a:t>"],</a:t>
            </a:r>
            <a:br>
              <a:rPr lang="en-US" altLang="ko-KR" sz="900" dirty="0"/>
            </a:br>
            <a:r>
              <a:rPr lang="en-US" altLang="ko-KR" sz="900" dirty="0"/>
              <a:t>    "paper": [...],</a:t>
            </a:r>
            <a:br>
              <a:rPr lang="en-US" altLang="ko-KR" sz="900" dirty="0"/>
            </a:br>
            <a:r>
              <a:rPr lang="en-US" altLang="ko-KR" sz="900" dirty="0"/>
              <a:t>    "patent": [...],</a:t>
            </a:r>
            <a:br>
              <a:rPr lang="en-US" altLang="ko-KR" sz="900" dirty="0"/>
            </a:br>
            <a:r>
              <a:rPr lang="en-US" altLang="ko-KR" sz="900" dirty="0"/>
              <a:t>    "</a:t>
            </a:r>
            <a:r>
              <a:rPr lang="en-US" altLang="ko-KR" sz="900" dirty="0" err="1"/>
              <a:t>conduct_name</a:t>
            </a:r>
            <a:r>
              <a:rPr lang="en-US" altLang="ko-KR" sz="900" dirty="0"/>
              <a:t>": "A</a:t>
            </a:r>
            <a:r>
              <a:rPr lang="ko-KR" altLang="en-US" sz="900" dirty="0"/>
              <a:t>기업</a:t>
            </a:r>
            <a:r>
              <a:rPr lang="en-US" altLang="ko-KR" sz="900" dirty="0"/>
              <a:t>"</a:t>
            </a:r>
            <a:br>
              <a:rPr lang="en-US" altLang="ko-KR" sz="900" dirty="0"/>
            </a:br>
            <a:r>
              <a:rPr lang="en-US" altLang="ko-KR" sz="900" dirty="0"/>
              <a:t>}</a:t>
            </a:r>
          </a:p>
          <a:p>
            <a:r>
              <a:rPr lang="en-US" altLang="ko-KR" sz="900" dirty="0"/>
              <a:t>}</a:t>
            </a:r>
            <a:endParaRPr lang="ko-KR" altLang="en-US" sz="900" dirty="0"/>
          </a:p>
        </p:txBody>
      </p:sp>
      <p:cxnSp>
        <p:nvCxnSpPr>
          <p:cNvPr id="40" name="연결선: 꺾임 39">
            <a:extLst>
              <a:ext uri="{FF2B5EF4-FFF2-40B4-BE49-F238E27FC236}">
                <a16:creationId xmlns:a16="http://schemas.microsoft.com/office/drawing/2014/main" id="{6D86B238-93DD-DB7F-61F1-3F23FAA57A32}"/>
              </a:ext>
            </a:extLst>
          </p:cNvPr>
          <p:cNvCxnSpPr>
            <a:cxnSpLocks/>
            <a:endCxn id="35" idx="0"/>
          </p:cNvCxnSpPr>
          <p:nvPr/>
        </p:nvCxnSpPr>
        <p:spPr>
          <a:xfrm>
            <a:off x="2036477" y="3611105"/>
            <a:ext cx="1912502" cy="465221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직선 화살표 연결선 44">
            <a:extLst>
              <a:ext uri="{FF2B5EF4-FFF2-40B4-BE49-F238E27FC236}">
                <a16:creationId xmlns:a16="http://schemas.microsoft.com/office/drawing/2014/main" id="{ED7B6A7C-A3B5-1156-5675-71D6A4CDEBCB}"/>
              </a:ext>
            </a:extLst>
          </p:cNvPr>
          <p:cNvCxnSpPr>
            <a:cxnSpLocks/>
          </p:cNvCxnSpPr>
          <p:nvPr/>
        </p:nvCxnSpPr>
        <p:spPr>
          <a:xfrm>
            <a:off x="2253454" y="4711483"/>
            <a:ext cx="118097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795A061E-A739-CBBE-E87B-6AF6C16E00C4}"/>
              </a:ext>
            </a:extLst>
          </p:cNvPr>
          <p:cNvSpPr txBox="1"/>
          <p:nvPr/>
        </p:nvSpPr>
        <p:spPr>
          <a:xfrm>
            <a:off x="3474720" y="4584687"/>
            <a:ext cx="191250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‘</a:t>
            </a:r>
            <a:r>
              <a:rPr lang="en-US" altLang="ko-KR" sz="1000" dirty="0" err="1"/>
              <a:t>conduct_project_id</a:t>
            </a:r>
            <a:r>
              <a:rPr lang="en-US" altLang="ko-KR" sz="1000" dirty="0"/>
              <a:t>’</a:t>
            </a:r>
            <a:endParaRPr lang="ko-KR" altLang="en-US" sz="1000" dirty="0"/>
          </a:p>
        </p:txBody>
      </p:sp>
      <p:cxnSp>
        <p:nvCxnSpPr>
          <p:cNvPr id="48" name="직선 화살표 연결선 47">
            <a:extLst>
              <a:ext uri="{FF2B5EF4-FFF2-40B4-BE49-F238E27FC236}">
                <a16:creationId xmlns:a16="http://schemas.microsoft.com/office/drawing/2014/main" id="{1380F2E7-E9A7-4600-1CCF-9210C0FDDCB2}"/>
              </a:ext>
            </a:extLst>
          </p:cNvPr>
          <p:cNvCxnSpPr>
            <a:cxnSpLocks/>
          </p:cNvCxnSpPr>
          <p:nvPr/>
        </p:nvCxnSpPr>
        <p:spPr>
          <a:xfrm>
            <a:off x="2962232" y="4865594"/>
            <a:ext cx="47219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4C2369DF-1CB3-D895-B57B-0BA34737297C}"/>
              </a:ext>
            </a:extLst>
          </p:cNvPr>
          <p:cNvSpPr txBox="1"/>
          <p:nvPr/>
        </p:nvSpPr>
        <p:spPr>
          <a:xfrm>
            <a:off x="3482970" y="4738798"/>
            <a:ext cx="191250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‘</a:t>
            </a:r>
            <a:r>
              <a:rPr lang="ko-KR" altLang="en-US" sz="1000" dirty="0"/>
              <a:t>과제명</a:t>
            </a:r>
            <a:r>
              <a:rPr lang="en-US" altLang="ko-KR" sz="1000" dirty="0"/>
              <a:t>’</a:t>
            </a:r>
            <a:endParaRPr lang="ko-KR" altLang="en-US" sz="1000" dirty="0"/>
          </a:p>
        </p:txBody>
      </p:sp>
      <p:cxnSp>
        <p:nvCxnSpPr>
          <p:cNvPr id="50" name="직선 화살표 연결선 49">
            <a:extLst>
              <a:ext uri="{FF2B5EF4-FFF2-40B4-BE49-F238E27FC236}">
                <a16:creationId xmlns:a16="http://schemas.microsoft.com/office/drawing/2014/main" id="{54D77DF4-1441-420F-4C7E-9FC4F3633488}"/>
              </a:ext>
            </a:extLst>
          </p:cNvPr>
          <p:cNvCxnSpPr>
            <a:cxnSpLocks/>
          </p:cNvCxnSpPr>
          <p:nvPr/>
        </p:nvCxnSpPr>
        <p:spPr>
          <a:xfrm>
            <a:off x="2253454" y="5044751"/>
            <a:ext cx="118097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TextBox 50">
            <a:extLst>
              <a:ext uri="{FF2B5EF4-FFF2-40B4-BE49-F238E27FC236}">
                <a16:creationId xmlns:a16="http://schemas.microsoft.com/office/drawing/2014/main" id="{06470F08-10B0-FC2C-A3FA-15D98094FB84}"/>
              </a:ext>
            </a:extLst>
          </p:cNvPr>
          <p:cNvSpPr txBox="1"/>
          <p:nvPr/>
        </p:nvSpPr>
        <p:spPr>
          <a:xfrm>
            <a:off x="3474720" y="4917955"/>
            <a:ext cx="191250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‘</a:t>
            </a:r>
            <a:r>
              <a:rPr lang="en-US" altLang="ko-KR" sz="1000" dirty="0" err="1"/>
              <a:t>project_norm_embed</a:t>
            </a:r>
            <a:r>
              <a:rPr lang="en-US" altLang="ko-KR" sz="1000" dirty="0"/>
              <a:t>’</a:t>
            </a:r>
            <a:endParaRPr lang="ko-KR" altLang="en-US" sz="1000" dirty="0"/>
          </a:p>
        </p:txBody>
      </p:sp>
      <p:cxnSp>
        <p:nvCxnSpPr>
          <p:cNvPr id="53" name="직선 화살표 연결선 52">
            <a:extLst>
              <a:ext uri="{FF2B5EF4-FFF2-40B4-BE49-F238E27FC236}">
                <a16:creationId xmlns:a16="http://schemas.microsoft.com/office/drawing/2014/main" id="{544EAF4A-69FA-7682-709C-009E41D12BE6}"/>
              </a:ext>
            </a:extLst>
          </p:cNvPr>
          <p:cNvCxnSpPr>
            <a:cxnSpLocks/>
          </p:cNvCxnSpPr>
          <p:nvPr/>
        </p:nvCxnSpPr>
        <p:spPr>
          <a:xfrm>
            <a:off x="3077963" y="5249968"/>
            <a:ext cx="35646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TextBox 53">
            <a:extLst>
              <a:ext uri="{FF2B5EF4-FFF2-40B4-BE49-F238E27FC236}">
                <a16:creationId xmlns:a16="http://schemas.microsoft.com/office/drawing/2014/main" id="{D6978AB7-68E6-01CB-5458-43FEE9CAFDA0}"/>
              </a:ext>
            </a:extLst>
          </p:cNvPr>
          <p:cNvSpPr txBox="1"/>
          <p:nvPr/>
        </p:nvSpPr>
        <p:spPr>
          <a:xfrm>
            <a:off x="3482970" y="5123172"/>
            <a:ext cx="191250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‘</a:t>
            </a:r>
            <a:r>
              <a:rPr lang="ko-KR" altLang="en-US" sz="1000" dirty="0"/>
              <a:t>과제명</a:t>
            </a:r>
            <a:r>
              <a:rPr lang="en-US" altLang="ko-KR" sz="1000" dirty="0"/>
              <a:t>’</a:t>
            </a:r>
            <a:endParaRPr lang="ko-KR" altLang="en-US" sz="1000" dirty="0"/>
          </a:p>
        </p:txBody>
      </p:sp>
      <p:cxnSp>
        <p:nvCxnSpPr>
          <p:cNvPr id="55" name="직선 화살표 연결선 54">
            <a:extLst>
              <a:ext uri="{FF2B5EF4-FFF2-40B4-BE49-F238E27FC236}">
                <a16:creationId xmlns:a16="http://schemas.microsoft.com/office/drawing/2014/main" id="{15CD21C2-C0E4-33C4-A03E-1F26E2A42383}"/>
              </a:ext>
            </a:extLst>
          </p:cNvPr>
          <p:cNvCxnSpPr>
            <a:cxnSpLocks/>
          </p:cNvCxnSpPr>
          <p:nvPr/>
        </p:nvCxnSpPr>
        <p:spPr>
          <a:xfrm>
            <a:off x="2876485" y="5420664"/>
            <a:ext cx="55793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TextBox 55">
            <a:extLst>
              <a:ext uri="{FF2B5EF4-FFF2-40B4-BE49-F238E27FC236}">
                <a16:creationId xmlns:a16="http://schemas.microsoft.com/office/drawing/2014/main" id="{A75C53B9-4F28-AB1B-5963-F7419563004D}"/>
              </a:ext>
            </a:extLst>
          </p:cNvPr>
          <p:cNvSpPr txBox="1"/>
          <p:nvPr/>
        </p:nvSpPr>
        <p:spPr>
          <a:xfrm>
            <a:off x="3482970" y="5293868"/>
            <a:ext cx="191250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‘</a:t>
            </a:r>
            <a:r>
              <a:rPr lang="ko-KR" altLang="en-US" sz="1000" dirty="0"/>
              <a:t>키워드</a:t>
            </a:r>
            <a:r>
              <a:rPr lang="en-US" altLang="ko-KR" sz="1000" dirty="0"/>
              <a:t>_project’</a:t>
            </a:r>
            <a:endParaRPr lang="ko-KR" altLang="en-US" sz="1000" dirty="0"/>
          </a:p>
        </p:txBody>
      </p:sp>
      <p:cxnSp>
        <p:nvCxnSpPr>
          <p:cNvPr id="57" name="직선 화살표 연결선 56">
            <a:extLst>
              <a:ext uri="{FF2B5EF4-FFF2-40B4-BE49-F238E27FC236}">
                <a16:creationId xmlns:a16="http://schemas.microsoft.com/office/drawing/2014/main" id="{51B0EA86-DE54-CD7D-D5C9-48C182719B8F}"/>
              </a:ext>
            </a:extLst>
          </p:cNvPr>
          <p:cNvCxnSpPr>
            <a:cxnSpLocks/>
          </p:cNvCxnSpPr>
          <p:nvPr/>
        </p:nvCxnSpPr>
        <p:spPr>
          <a:xfrm>
            <a:off x="1946587" y="5574078"/>
            <a:ext cx="148783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TextBox 58">
            <a:extLst>
              <a:ext uri="{FF2B5EF4-FFF2-40B4-BE49-F238E27FC236}">
                <a16:creationId xmlns:a16="http://schemas.microsoft.com/office/drawing/2014/main" id="{9AE01322-21B5-DFC4-A2FB-988E0E6C5CBC}"/>
              </a:ext>
            </a:extLst>
          </p:cNvPr>
          <p:cNvSpPr txBox="1"/>
          <p:nvPr/>
        </p:nvSpPr>
        <p:spPr>
          <a:xfrm>
            <a:off x="3482970" y="5447282"/>
            <a:ext cx="191250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‘paper’</a:t>
            </a:r>
            <a:endParaRPr lang="ko-KR" altLang="en-US" sz="1000" dirty="0"/>
          </a:p>
        </p:txBody>
      </p:sp>
      <p:cxnSp>
        <p:nvCxnSpPr>
          <p:cNvPr id="60" name="직선 화살표 연결선 59">
            <a:extLst>
              <a:ext uri="{FF2B5EF4-FFF2-40B4-BE49-F238E27FC236}">
                <a16:creationId xmlns:a16="http://schemas.microsoft.com/office/drawing/2014/main" id="{8C7092F9-8C2F-9744-8EA3-69006F056E2D}"/>
              </a:ext>
            </a:extLst>
          </p:cNvPr>
          <p:cNvCxnSpPr>
            <a:cxnSpLocks/>
          </p:cNvCxnSpPr>
          <p:nvPr/>
        </p:nvCxnSpPr>
        <p:spPr>
          <a:xfrm>
            <a:off x="1946587" y="5710041"/>
            <a:ext cx="148579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TextBox 60">
            <a:extLst>
              <a:ext uri="{FF2B5EF4-FFF2-40B4-BE49-F238E27FC236}">
                <a16:creationId xmlns:a16="http://schemas.microsoft.com/office/drawing/2014/main" id="{238822D7-EB37-180F-E075-0D57AD229692}"/>
              </a:ext>
            </a:extLst>
          </p:cNvPr>
          <p:cNvSpPr txBox="1"/>
          <p:nvPr/>
        </p:nvSpPr>
        <p:spPr>
          <a:xfrm>
            <a:off x="3480930" y="5583245"/>
            <a:ext cx="191250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‘patent’</a:t>
            </a:r>
            <a:endParaRPr lang="ko-KR" altLang="en-US" sz="1000" dirty="0"/>
          </a:p>
        </p:txBody>
      </p:sp>
      <p:cxnSp>
        <p:nvCxnSpPr>
          <p:cNvPr id="62" name="직선 화살표 연결선 61">
            <a:extLst>
              <a:ext uri="{FF2B5EF4-FFF2-40B4-BE49-F238E27FC236}">
                <a16:creationId xmlns:a16="http://schemas.microsoft.com/office/drawing/2014/main" id="{6D483AC3-88FF-7D81-D7A2-1EF0C5BE490E}"/>
              </a:ext>
            </a:extLst>
          </p:cNvPr>
          <p:cNvCxnSpPr>
            <a:cxnSpLocks/>
          </p:cNvCxnSpPr>
          <p:nvPr/>
        </p:nvCxnSpPr>
        <p:spPr>
          <a:xfrm>
            <a:off x="2501427" y="5863455"/>
            <a:ext cx="93197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TextBox 62">
            <a:extLst>
              <a:ext uri="{FF2B5EF4-FFF2-40B4-BE49-F238E27FC236}">
                <a16:creationId xmlns:a16="http://schemas.microsoft.com/office/drawing/2014/main" id="{B9C4B53B-5415-CD66-8344-37771D5E9EB2}"/>
              </a:ext>
            </a:extLst>
          </p:cNvPr>
          <p:cNvSpPr txBox="1"/>
          <p:nvPr/>
        </p:nvSpPr>
        <p:spPr>
          <a:xfrm>
            <a:off x="3481950" y="5736659"/>
            <a:ext cx="191250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‘</a:t>
            </a:r>
            <a:r>
              <a:rPr lang="ko-KR" altLang="en-US" sz="1000" dirty="0"/>
              <a:t>과제수행기관명</a:t>
            </a:r>
            <a:r>
              <a:rPr lang="en-US" altLang="ko-KR" sz="1000" dirty="0"/>
              <a:t>’</a:t>
            </a:r>
            <a:endParaRPr lang="ko-KR" altLang="en-US" sz="1000" dirty="0"/>
          </a:p>
        </p:txBody>
      </p:sp>
    </p:spTree>
    <p:extLst>
      <p:ext uri="{BB962C8B-B14F-4D97-AF65-F5344CB8AC3E}">
        <p14:creationId xmlns:p14="http://schemas.microsoft.com/office/powerpoint/2010/main" val="34746054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altLang="ko-KR" sz="1200" b="1" dirty="0">
                <a:solidFill>
                  <a:srgbClr val="1E5E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</a:t>
            </a:r>
            <a:r>
              <a:rPr lang="ko-KR" altLang="en-US" sz="1200" b="1" dirty="0">
                <a:solidFill>
                  <a:srgbClr val="1E5E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 및 데이터</a:t>
            </a:r>
            <a:endParaRPr lang="en-US" altLang="ko-KR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6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생성 방식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387410"/>
            <a:ext cx="11064240" cy="0"/>
          </a:xfrm>
          <a:prstGeom prst="line">
            <a:avLst/>
          </a:prstGeom>
          <a:noFill/>
          <a:ln w="12700">
            <a:solidFill>
              <a:srgbClr val="D7E0EA"/>
            </a:solidFill>
            <a:prstDash val="solid"/>
          </a:ln>
        </p:spPr>
      </p:sp>
      <p:sp>
        <p:nvSpPr>
          <p:cNvPr id="58" name="슬라이드 번호 개체 틀 3">
            <a:extLst>
              <a:ext uri="{FF2B5EF4-FFF2-40B4-BE49-F238E27FC236}">
                <a16:creationId xmlns:a16="http://schemas.microsoft.com/office/drawing/2014/main" id="{1199CCB7-1622-4984-CFAE-B97BAEC53F50}"/>
              </a:ext>
            </a:extLst>
          </p:cNvPr>
          <p:cNvSpPr txBox="1">
            <a:spLocks/>
          </p:cNvSpPr>
          <p:nvPr/>
        </p:nvSpPr>
        <p:spPr>
          <a:xfrm>
            <a:off x="11544300" y="6297168"/>
            <a:ext cx="548640" cy="401447"/>
          </a:xfrm>
          <a:prstGeom prst="rect">
            <a:avLst/>
          </a:prstGeom>
        </p:spPr>
        <p:txBody>
          <a:bodyPr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27E591A-007A-4673-8B7B-A2C2EDBF50B5}" type="slidenum">
              <a:rPr lang="ko-KR" altLang="en-US" smtClean="0"/>
              <a:pPr/>
              <a:t>8</a:t>
            </a:fld>
            <a:endParaRPr lang="ko-KR" altLang="en-US" dirty="0"/>
          </a:p>
        </p:txBody>
      </p:sp>
      <p:sp>
        <p:nvSpPr>
          <p:cNvPr id="5" name="Shape 10">
            <a:extLst>
              <a:ext uri="{FF2B5EF4-FFF2-40B4-BE49-F238E27FC236}">
                <a16:creationId xmlns:a16="http://schemas.microsoft.com/office/drawing/2014/main" id="{16EE605C-DE95-76D1-43B5-7EB4AB4162AC}"/>
              </a:ext>
            </a:extLst>
          </p:cNvPr>
          <p:cNvSpPr/>
          <p:nvPr/>
        </p:nvSpPr>
        <p:spPr>
          <a:xfrm>
            <a:off x="548640" y="1623249"/>
            <a:ext cx="3025269" cy="1600396"/>
          </a:xfrm>
          <a:prstGeom prst="roundRect">
            <a:avLst>
              <a:gd name="adj" fmla="val 6383"/>
            </a:avLst>
          </a:prstGeom>
          <a:solidFill>
            <a:srgbClr val="EEF4FF"/>
          </a:solidFill>
          <a:ln w="12700">
            <a:solidFill>
              <a:srgbClr val="D9E2EA"/>
            </a:solidFill>
            <a:prstDash val="solid"/>
          </a:ln>
          <a:effectLst>
            <a:outerShdw blurRad="12700" dist="508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7" name="Text 12">
            <a:extLst>
              <a:ext uri="{FF2B5EF4-FFF2-40B4-BE49-F238E27FC236}">
                <a16:creationId xmlns:a16="http://schemas.microsoft.com/office/drawing/2014/main" id="{70762C47-F5A8-2306-149A-37129071432C}"/>
              </a:ext>
            </a:extLst>
          </p:cNvPr>
          <p:cNvSpPr/>
          <p:nvPr/>
        </p:nvSpPr>
        <p:spPr>
          <a:xfrm>
            <a:off x="650164" y="1672304"/>
            <a:ext cx="2824557" cy="3020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dirty="0"/>
              <a:t>Project DB</a:t>
            </a:r>
          </a:p>
        </p:txBody>
      </p:sp>
      <p:sp>
        <p:nvSpPr>
          <p:cNvPr id="18" name="Text 13">
            <a:extLst>
              <a:ext uri="{FF2B5EF4-FFF2-40B4-BE49-F238E27FC236}">
                <a16:creationId xmlns:a16="http://schemas.microsoft.com/office/drawing/2014/main" id="{345B5018-B42B-BA33-CD12-56DF19DCC839}"/>
              </a:ext>
            </a:extLst>
          </p:cNvPr>
          <p:cNvSpPr/>
          <p:nvPr/>
        </p:nvSpPr>
        <p:spPr>
          <a:xfrm>
            <a:off x="650165" y="2092161"/>
            <a:ext cx="2834436" cy="782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000" dirty="0">
                <a:solidFill>
                  <a:srgbClr val="667487"/>
                </a:solidFill>
                <a:latin typeface="Malgun Gothic" pitchFamily="34" charset="0"/>
                <a:ea typeface="Malgun Gothic" pitchFamily="34" charset="-122"/>
              </a:rPr>
              <a:t>총연구비</a:t>
            </a:r>
            <a:r>
              <a:rPr lang="en-US" altLang="ko-KR" sz="1000" dirty="0">
                <a:solidFill>
                  <a:srgbClr val="667487"/>
                </a:solidFill>
                <a:latin typeface="Malgun Gothic" pitchFamily="34" charset="0"/>
                <a:ea typeface="Malgun Gothic" pitchFamily="34" charset="-122"/>
              </a:rPr>
              <a:t>_</a:t>
            </a:r>
            <a:r>
              <a:rPr lang="ko-KR" altLang="en-US" sz="1000" dirty="0">
                <a:solidFill>
                  <a:srgbClr val="667487"/>
                </a:solidFill>
                <a:latin typeface="Malgun Gothic" pitchFamily="34" charset="0"/>
                <a:ea typeface="Malgun Gothic" pitchFamily="34" charset="-122"/>
              </a:rPr>
              <a:t>상위비율</a:t>
            </a:r>
            <a:endParaRPr lang="en-US" altLang="ko-KR" sz="1000" dirty="0">
              <a:solidFill>
                <a:srgbClr val="667487"/>
              </a:solidFill>
              <a:latin typeface="Malgun Gothic" pitchFamily="34" charset="0"/>
              <a:ea typeface="Malgun Gothic" pitchFamily="34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000" dirty="0">
                <a:solidFill>
                  <a:srgbClr val="667487"/>
                </a:solidFill>
                <a:latin typeface="Malgun Gothic" pitchFamily="34" charset="0"/>
                <a:ea typeface="Malgun Gothic" pitchFamily="34" charset="-122"/>
              </a:rPr>
              <a:t>총연구비</a:t>
            </a:r>
            <a:r>
              <a:rPr lang="en-US" altLang="ko-KR" sz="1000" dirty="0">
                <a:solidFill>
                  <a:srgbClr val="667487"/>
                </a:solidFill>
                <a:latin typeface="Malgun Gothic" pitchFamily="34" charset="0"/>
                <a:ea typeface="Malgun Gothic" pitchFamily="34" charset="-122"/>
              </a:rPr>
              <a:t>_</a:t>
            </a:r>
            <a:r>
              <a:rPr lang="ko-KR" altLang="en-US" sz="1000" dirty="0">
                <a:solidFill>
                  <a:srgbClr val="667487"/>
                </a:solidFill>
                <a:latin typeface="Malgun Gothic" pitchFamily="34" charset="0"/>
                <a:ea typeface="Malgun Gothic" pitchFamily="34" charset="-122"/>
              </a:rPr>
              <a:t>판정정보</a:t>
            </a:r>
            <a:endParaRPr lang="en-US" altLang="ko-KR" sz="1000" dirty="0">
              <a:solidFill>
                <a:srgbClr val="667487"/>
              </a:solidFill>
              <a:latin typeface="Malgun Gothic" pitchFamily="34" charset="0"/>
              <a:ea typeface="Malgun Gothic" pitchFamily="34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000" dirty="0">
                <a:solidFill>
                  <a:srgbClr val="667487"/>
                </a:solidFill>
                <a:latin typeface="Malgun Gothic" pitchFamily="34" charset="0"/>
                <a:ea typeface="Malgun Gothic" pitchFamily="34" charset="-122"/>
              </a:rPr>
              <a:t>총연구기간</a:t>
            </a:r>
            <a:endParaRPr lang="en-US" altLang="ko-KR" sz="1000" dirty="0">
              <a:solidFill>
                <a:srgbClr val="667487"/>
              </a:solidFill>
              <a:latin typeface="Malgun Gothic" pitchFamily="34" charset="0"/>
              <a:ea typeface="Malgun Gothic" pitchFamily="34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000" dirty="0" err="1">
                <a:solidFill>
                  <a:srgbClr val="667487"/>
                </a:solidFill>
                <a:latin typeface="Malgun Gothic" pitchFamily="34" charset="0"/>
                <a:ea typeface="Malgun Gothic" pitchFamily="34" charset="-122"/>
              </a:rPr>
              <a:t>conduct_list_company</a:t>
            </a:r>
            <a:r>
              <a:rPr lang="en-US" altLang="ko-KR" sz="1000" dirty="0">
                <a:solidFill>
                  <a:srgbClr val="667487"/>
                </a:solidFill>
                <a:latin typeface="Malgun Gothic" pitchFamily="34" charset="0"/>
                <a:ea typeface="Malgun Gothic" pitchFamily="34" charset="-122"/>
              </a:rPr>
              <a:t> (:</a:t>
            </a:r>
            <a:r>
              <a:rPr lang="ko-KR" altLang="en-US" sz="1000" dirty="0">
                <a:solidFill>
                  <a:srgbClr val="667487"/>
                </a:solidFill>
                <a:latin typeface="Malgun Gothic" pitchFamily="34" charset="0"/>
                <a:ea typeface="Malgun Gothic" pitchFamily="34" charset="-122"/>
              </a:rPr>
              <a:t>과제를 수행한 기업 리스트</a:t>
            </a:r>
            <a:r>
              <a:rPr lang="en-US" altLang="ko-KR" sz="1000" dirty="0">
                <a:solidFill>
                  <a:srgbClr val="667487"/>
                </a:solidFill>
                <a:latin typeface="Malgun Gothic" pitchFamily="34" charset="0"/>
                <a:ea typeface="Malgun Gothic" pitchFamily="34" charset="-122"/>
              </a:rPr>
              <a:t>)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2794C7B-A1C1-09E6-6E8E-3F92B31B171E}"/>
              </a:ext>
            </a:extLst>
          </p:cNvPr>
          <p:cNvSpPr txBox="1"/>
          <p:nvPr/>
        </p:nvSpPr>
        <p:spPr>
          <a:xfrm>
            <a:off x="3630169" y="1659253"/>
            <a:ext cx="8558349" cy="7848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900" dirty="0"/>
              <a:t>‘</a:t>
            </a:r>
            <a:r>
              <a:rPr lang="ko-KR" altLang="en-US" sz="900" dirty="0"/>
              <a:t>과학기술표준분류</a:t>
            </a:r>
            <a:r>
              <a:rPr lang="en-US" altLang="ko-KR" sz="900" dirty="0"/>
              <a:t>1-</a:t>
            </a:r>
            <a:r>
              <a:rPr lang="ko-KR" altLang="en-US" sz="900" dirty="0"/>
              <a:t>중</a:t>
            </a:r>
            <a:r>
              <a:rPr lang="en-US" altLang="ko-KR" sz="900" dirty="0"/>
              <a:t>’</a:t>
            </a:r>
            <a:r>
              <a:rPr lang="ko-KR" altLang="en-US" sz="900" dirty="0"/>
              <a:t> 데이터 그룹화 →</a:t>
            </a:r>
            <a:r>
              <a:rPr lang="en-US" altLang="ko-KR" sz="900" dirty="0"/>
              <a:t> </a:t>
            </a:r>
          </a:p>
          <a:p>
            <a:r>
              <a:rPr lang="ko-KR" altLang="en-US" sz="900" dirty="0"/>
              <a:t>해당 그룹 내에서 </a:t>
            </a:r>
            <a:r>
              <a:rPr lang="en-US" altLang="ko-KR" sz="900" dirty="0"/>
              <a:t>‘</a:t>
            </a:r>
            <a:r>
              <a:rPr lang="ko-KR" altLang="en-US" sz="900" dirty="0"/>
              <a:t>총연구비</a:t>
            </a:r>
            <a:r>
              <a:rPr lang="en-US" altLang="ko-KR" sz="900" dirty="0"/>
              <a:t>_</a:t>
            </a:r>
            <a:r>
              <a:rPr lang="ko-KR" altLang="en-US" sz="900" dirty="0"/>
              <a:t>합계</a:t>
            </a:r>
            <a:r>
              <a:rPr lang="en-US" altLang="ko-KR" sz="900" dirty="0"/>
              <a:t>(</a:t>
            </a:r>
            <a:r>
              <a:rPr lang="ko-KR" altLang="en-US" sz="900" dirty="0"/>
              <a:t>원</a:t>
            </a:r>
            <a:r>
              <a:rPr lang="en-US" altLang="ko-KR" sz="900" dirty="0"/>
              <a:t>)‘ </a:t>
            </a:r>
            <a:r>
              <a:rPr lang="ko-KR" altLang="en-US" sz="900" dirty="0"/>
              <a:t>데이터 상위 </a:t>
            </a:r>
            <a:r>
              <a:rPr lang="en-US" altLang="ko-KR" sz="900" dirty="0"/>
              <a:t>1, 5, 10, 20% </a:t>
            </a:r>
            <a:r>
              <a:rPr lang="ko-KR" altLang="en-US" sz="900" dirty="0"/>
              <a:t>계산 </a:t>
            </a:r>
            <a:r>
              <a:rPr lang="en-US" altLang="ko-KR" sz="900" dirty="0"/>
              <a:t>(</a:t>
            </a:r>
            <a:r>
              <a:rPr lang="ko-KR" altLang="en-US" sz="900" dirty="0"/>
              <a:t>해당 그룹의 데이터가 </a:t>
            </a:r>
            <a:r>
              <a:rPr lang="en-US" altLang="ko-KR" sz="900" dirty="0"/>
              <a:t>5</a:t>
            </a:r>
            <a:r>
              <a:rPr lang="ko-KR" altLang="en-US" sz="900" dirty="0"/>
              <a:t>개 미만이면 전체 데이터에 대한 비율로 계산</a:t>
            </a:r>
            <a:r>
              <a:rPr lang="en-US" altLang="ko-KR" sz="900" dirty="0"/>
              <a:t>) </a:t>
            </a:r>
            <a:r>
              <a:rPr lang="ko-KR" altLang="en-US" sz="900" dirty="0"/>
              <a:t>→</a:t>
            </a:r>
            <a:endParaRPr lang="en-US" altLang="ko-KR" sz="900" dirty="0"/>
          </a:p>
          <a:p>
            <a:r>
              <a:rPr lang="ko-KR" altLang="en-US" sz="900" dirty="0"/>
              <a:t>다음과 같이 데이터 저장</a:t>
            </a:r>
            <a:endParaRPr lang="en-US" altLang="ko-KR" sz="900" dirty="0"/>
          </a:p>
          <a:p>
            <a:r>
              <a:rPr lang="en-US" altLang="ko-KR" sz="900" dirty="0"/>
              <a:t>*_</a:t>
            </a:r>
            <a:r>
              <a:rPr lang="ko-KR" altLang="en-US" sz="900" dirty="0"/>
              <a:t>상위비율 </a:t>
            </a:r>
            <a:r>
              <a:rPr lang="en-US" altLang="ko-KR" sz="900" dirty="0"/>
              <a:t>: 1, 5, 10, 20, </a:t>
            </a:r>
            <a:r>
              <a:rPr lang="ko-KR" altLang="en-US" sz="900" dirty="0" err="1"/>
              <a:t>빈값</a:t>
            </a:r>
            <a:r>
              <a:rPr lang="en-US" altLang="ko-KR" sz="900" dirty="0"/>
              <a:t>(“”)</a:t>
            </a:r>
            <a:r>
              <a:rPr lang="ko-KR" altLang="en-US" sz="900" dirty="0"/>
              <a:t> 중 하나로 저장 </a:t>
            </a:r>
            <a:r>
              <a:rPr lang="en-US" altLang="ko-KR" sz="900" dirty="0"/>
              <a:t>(1, 5, 10, 20% </a:t>
            </a:r>
            <a:r>
              <a:rPr lang="ko-KR" altLang="en-US" sz="900" dirty="0"/>
              <a:t>내에 들지 않을 때는 </a:t>
            </a:r>
            <a:r>
              <a:rPr lang="ko-KR" altLang="en-US" sz="900" dirty="0" err="1"/>
              <a:t>빈값으로</a:t>
            </a:r>
            <a:r>
              <a:rPr lang="ko-KR" altLang="en-US" sz="900" dirty="0"/>
              <a:t> 저장</a:t>
            </a:r>
            <a:r>
              <a:rPr lang="en-US" altLang="ko-KR" sz="900" dirty="0"/>
              <a:t>)</a:t>
            </a:r>
          </a:p>
          <a:p>
            <a:r>
              <a:rPr lang="en-US" altLang="ko-KR" sz="900" dirty="0"/>
              <a:t>*_</a:t>
            </a:r>
            <a:r>
              <a:rPr lang="ko-KR" altLang="en-US" sz="900" dirty="0"/>
              <a:t>판정정보 </a:t>
            </a:r>
            <a:r>
              <a:rPr lang="en-US" altLang="ko-KR" sz="900" dirty="0"/>
              <a:t>:  {“rank”:</a:t>
            </a:r>
            <a:r>
              <a:rPr lang="ko-KR" altLang="en-US" sz="900" dirty="0"/>
              <a:t> 위에서 계산한 </a:t>
            </a:r>
            <a:r>
              <a:rPr lang="ko-KR" altLang="en-US" sz="900" dirty="0" err="1"/>
              <a:t>비율값</a:t>
            </a:r>
            <a:r>
              <a:rPr lang="en-US" altLang="ko-KR" sz="900" dirty="0"/>
              <a:t>, “group”: ‘</a:t>
            </a:r>
            <a:r>
              <a:rPr lang="ko-KR" altLang="en-US" sz="900" dirty="0" err="1"/>
              <a:t>그룹명</a:t>
            </a:r>
            <a:r>
              <a:rPr lang="en-US" altLang="ko-KR" sz="900" dirty="0"/>
              <a:t>’</a:t>
            </a:r>
            <a:r>
              <a:rPr lang="ko-KR" altLang="en-US" sz="900" dirty="0"/>
              <a:t> 또는 </a:t>
            </a:r>
            <a:r>
              <a:rPr lang="en-US" altLang="ko-KR" sz="900" dirty="0"/>
              <a:t>‘</a:t>
            </a:r>
            <a:r>
              <a:rPr lang="ko-KR" altLang="en-US" sz="900" dirty="0"/>
              <a:t>전체</a:t>
            </a:r>
            <a:r>
              <a:rPr lang="en-US" altLang="ko-KR" sz="900" dirty="0"/>
              <a:t>’} (*_</a:t>
            </a:r>
            <a:r>
              <a:rPr lang="ko-KR" altLang="en-US" sz="900" dirty="0"/>
              <a:t>상위</a:t>
            </a:r>
            <a:r>
              <a:rPr lang="en-US" altLang="ko-KR" sz="900" dirty="0"/>
              <a:t>(</a:t>
            </a:r>
            <a:r>
              <a:rPr lang="ko-KR" altLang="en-US" sz="900" dirty="0"/>
              <a:t>하위</a:t>
            </a:r>
            <a:r>
              <a:rPr lang="en-US" altLang="ko-KR" sz="900" dirty="0"/>
              <a:t>)</a:t>
            </a:r>
            <a:r>
              <a:rPr lang="ko-KR" altLang="en-US" sz="900" dirty="0"/>
              <a:t>비율의 값이 </a:t>
            </a:r>
            <a:r>
              <a:rPr lang="ko-KR" altLang="en-US" sz="900" dirty="0" err="1"/>
              <a:t>빈값인</a:t>
            </a:r>
            <a:r>
              <a:rPr lang="ko-KR" altLang="en-US" sz="900" dirty="0"/>
              <a:t> 경우에 </a:t>
            </a:r>
            <a:r>
              <a:rPr lang="en-US" altLang="ko-KR" sz="900" dirty="0"/>
              <a:t>None </a:t>
            </a:r>
            <a:r>
              <a:rPr lang="ko-KR" altLang="en-US" sz="900" dirty="0"/>
              <a:t>저장</a:t>
            </a:r>
            <a:r>
              <a:rPr lang="en-US" altLang="ko-KR" sz="900" dirty="0"/>
              <a:t>) </a:t>
            </a:r>
            <a:endParaRPr lang="ko-KR" altLang="en-US" sz="90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9BCF895-AE0C-5208-6821-ABAD9FA9532B}"/>
              </a:ext>
            </a:extLst>
          </p:cNvPr>
          <p:cNvSpPr txBox="1"/>
          <p:nvPr/>
        </p:nvSpPr>
        <p:spPr>
          <a:xfrm>
            <a:off x="3630169" y="2506910"/>
            <a:ext cx="4946542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900" dirty="0"/>
              <a:t>(</a:t>
            </a:r>
            <a:r>
              <a:rPr lang="ko-KR" altLang="en-US" sz="900" dirty="0"/>
              <a:t>총연구기간</a:t>
            </a:r>
            <a:r>
              <a:rPr lang="en-US" altLang="ko-KR" sz="900" dirty="0"/>
              <a:t>-</a:t>
            </a:r>
            <a:r>
              <a:rPr lang="ko-KR" altLang="en-US" sz="900" dirty="0" err="1"/>
              <a:t>종료년월일</a:t>
            </a:r>
            <a:r>
              <a:rPr lang="en-US" altLang="ko-KR" sz="900" dirty="0"/>
              <a:t>)</a:t>
            </a:r>
            <a:r>
              <a:rPr lang="ko-KR" altLang="en-US" sz="900" dirty="0"/>
              <a:t>데이터 </a:t>
            </a:r>
            <a:r>
              <a:rPr lang="en-US" altLang="ko-KR" sz="900" dirty="0"/>
              <a:t>– (</a:t>
            </a:r>
            <a:r>
              <a:rPr lang="ko-KR" altLang="en-US" sz="900" dirty="0"/>
              <a:t>총연구기간</a:t>
            </a:r>
            <a:r>
              <a:rPr lang="en-US" altLang="ko-KR" sz="900" dirty="0"/>
              <a:t>-</a:t>
            </a:r>
            <a:r>
              <a:rPr lang="ko-KR" altLang="en-US" sz="900" dirty="0" err="1"/>
              <a:t>시작년월일</a:t>
            </a:r>
            <a:r>
              <a:rPr lang="en-US" altLang="ko-KR" sz="900" dirty="0"/>
              <a:t>)</a:t>
            </a:r>
            <a:r>
              <a:rPr lang="ko-KR" altLang="en-US" sz="900" dirty="0"/>
              <a:t>데이터</a:t>
            </a:r>
            <a:endParaRPr lang="en-US" altLang="ko-KR" sz="900" dirty="0"/>
          </a:p>
          <a:p>
            <a:r>
              <a:rPr lang="en-US" altLang="ko-KR" sz="900" dirty="0"/>
              <a:t>ex) 20240615-20240101 = 5</a:t>
            </a:r>
            <a:r>
              <a:rPr lang="ko-KR" altLang="en-US" sz="900" dirty="0"/>
              <a:t>개월 </a:t>
            </a:r>
            <a:r>
              <a:rPr lang="en-US" altLang="ko-KR" sz="900" dirty="0"/>
              <a:t>14</a:t>
            </a:r>
            <a:r>
              <a:rPr lang="ko-KR" altLang="en-US" sz="900" dirty="0"/>
              <a:t>일 </a:t>
            </a:r>
            <a:r>
              <a:rPr lang="en-US" altLang="ko-KR" sz="900" dirty="0"/>
              <a:t>(</a:t>
            </a:r>
            <a:r>
              <a:rPr lang="ko-KR" altLang="en-US" sz="900" dirty="0"/>
              <a:t>년 개월 일 형식으로 저장</a:t>
            </a:r>
            <a:r>
              <a:rPr lang="en-US" altLang="ko-KR" sz="900" dirty="0"/>
              <a:t>)</a:t>
            </a:r>
            <a:endParaRPr lang="ko-KR" altLang="en-US" sz="900" dirty="0"/>
          </a:p>
        </p:txBody>
      </p:sp>
      <p:sp>
        <p:nvSpPr>
          <p:cNvPr id="25" name="오른쪽 중괄호 24">
            <a:extLst>
              <a:ext uri="{FF2B5EF4-FFF2-40B4-BE49-F238E27FC236}">
                <a16:creationId xmlns:a16="http://schemas.microsoft.com/office/drawing/2014/main" id="{20DA2AD8-C973-C9AB-0909-542DF15AAFB1}"/>
              </a:ext>
            </a:extLst>
          </p:cNvPr>
          <p:cNvSpPr/>
          <p:nvPr/>
        </p:nvSpPr>
        <p:spPr>
          <a:xfrm>
            <a:off x="2191977" y="2140424"/>
            <a:ext cx="155448" cy="193596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7" name="직선 화살표 연결선 26">
            <a:extLst>
              <a:ext uri="{FF2B5EF4-FFF2-40B4-BE49-F238E27FC236}">
                <a16:creationId xmlns:a16="http://schemas.microsoft.com/office/drawing/2014/main" id="{933583CA-6C96-7228-9F54-0D57F73DF076}"/>
              </a:ext>
            </a:extLst>
          </p:cNvPr>
          <p:cNvCxnSpPr>
            <a:cxnSpLocks/>
          </p:cNvCxnSpPr>
          <p:nvPr/>
        </p:nvCxnSpPr>
        <p:spPr>
          <a:xfrm flipV="1">
            <a:off x="2347425" y="2085690"/>
            <a:ext cx="1226484" cy="1484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직선 화살표 연결선 29">
            <a:extLst>
              <a:ext uri="{FF2B5EF4-FFF2-40B4-BE49-F238E27FC236}">
                <a16:creationId xmlns:a16="http://schemas.microsoft.com/office/drawing/2014/main" id="{933161F5-D904-8C96-8D06-032EB4A01D0B}"/>
              </a:ext>
            </a:extLst>
          </p:cNvPr>
          <p:cNvCxnSpPr>
            <a:cxnSpLocks/>
          </p:cNvCxnSpPr>
          <p:nvPr/>
        </p:nvCxnSpPr>
        <p:spPr>
          <a:xfrm>
            <a:off x="1658319" y="2502047"/>
            <a:ext cx="1915590" cy="16028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연결선: 꺾임 10">
            <a:extLst>
              <a:ext uri="{FF2B5EF4-FFF2-40B4-BE49-F238E27FC236}">
                <a16:creationId xmlns:a16="http://schemas.microsoft.com/office/drawing/2014/main" id="{728048DA-ED33-53DA-1202-8CF19ABE3347}"/>
              </a:ext>
            </a:extLst>
          </p:cNvPr>
          <p:cNvCxnSpPr>
            <a:cxnSpLocks/>
            <a:endCxn id="43" idx="0"/>
          </p:cNvCxnSpPr>
          <p:nvPr/>
        </p:nvCxnSpPr>
        <p:spPr>
          <a:xfrm>
            <a:off x="1444442" y="2815741"/>
            <a:ext cx="2155039" cy="851644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CA46D657-64A5-16C3-550A-9E7BC3CA2A7E}"/>
              </a:ext>
            </a:extLst>
          </p:cNvPr>
          <p:cNvSpPr txBox="1"/>
          <p:nvPr/>
        </p:nvSpPr>
        <p:spPr>
          <a:xfrm>
            <a:off x="548640" y="3667385"/>
            <a:ext cx="6101682" cy="216982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900" dirty="0"/>
              <a:t>‘</a:t>
            </a:r>
            <a:r>
              <a:rPr lang="en-US" altLang="ko-KR" sz="900" dirty="0" err="1"/>
              <a:t>conduct_company_id</a:t>
            </a:r>
            <a:r>
              <a:rPr lang="en-US" altLang="ko-KR" sz="900" dirty="0"/>
              <a:t>’</a:t>
            </a:r>
            <a:r>
              <a:rPr lang="ko-KR" altLang="en-US" sz="900" dirty="0"/>
              <a:t>와 일치하는 </a:t>
            </a:r>
            <a:r>
              <a:rPr lang="en-US" altLang="ko-KR" sz="900" dirty="0"/>
              <a:t>‘</a:t>
            </a:r>
            <a:r>
              <a:rPr lang="ko-KR" altLang="en-US" sz="900" dirty="0"/>
              <a:t>사업자번호</a:t>
            </a:r>
            <a:r>
              <a:rPr lang="en-US" altLang="ko-KR" sz="900" dirty="0"/>
              <a:t>’</a:t>
            </a:r>
            <a:r>
              <a:rPr lang="ko-KR" altLang="en-US" sz="900" dirty="0"/>
              <a:t>를 </a:t>
            </a:r>
            <a:r>
              <a:rPr lang="en-US" altLang="ko-KR" sz="900" dirty="0"/>
              <a:t>Company DB</a:t>
            </a:r>
            <a:r>
              <a:rPr lang="ko-KR" altLang="en-US" sz="900" dirty="0"/>
              <a:t>에서 찾아 아래와 같이 해당 데이터</a:t>
            </a:r>
            <a:r>
              <a:rPr lang="en-US" altLang="ko-KR" sz="900" dirty="0"/>
              <a:t> </a:t>
            </a:r>
            <a:r>
              <a:rPr lang="ko-KR" altLang="en-US" sz="900" dirty="0"/>
              <a:t>정보들 추출</a:t>
            </a:r>
            <a:endParaRPr lang="en-US" altLang="ko-KR" sz="900" dirty="0"/>
          </a:p>
          <a:p>
            <a:endParaRPr lang="en-US" altLang="ko-KR" sz="900" dirty="0"/>
          </a:p>
          <a:p>
            <a:r>
              <a:rPr lang="ko-KR" altLang="en-US" sz="900" dirty="0"/>
              <a:t>예시</a:t>
            </a:r>
            <a:r>
              <a:rPr lang="en-US" altLang="ko-KR" sz="900" dirty="0"/>
              <a:t>)</a:t>
            </a:r>
          </a:p>
          <a:p>
            <a:r>
              <a:rPr lang="en-US" altLang="ko-KR" sz="900" dirty="0"/>
              <a:t>{</a:t>
            </a:r>
            <a:br>
              <a:rPr lang="en-US" altLang="ko-KR" sz="900" dirty="0"/>
            </a:br>
            <a:r>
              <a:rPr lang="en-US" altLang="ko-KR" sz="900" dirty="0"/>
              <a:t>“</a:t>
            </a:r>
            <a:r>
              <a:rPr lang="en-US" altLang="ko-KR" sz="900" dirty="0" err="1"/>
              <a:t>company_id</a:t>
            </a:r>
            <a:r>
              <a:rPr lang="en-US" altLang="ko-KR" sz="900" dirty="0"/>
              <a:t>": "P001",</a:t>
            </a:r>
            <a:br>
              <a:rPr lang="en-US" altLang="ko-KR" sz="900" dirty="0"/>
            </a:br>
            <a:r>
              <a:rPr lang="en-US" altLang="ko-KR" sz="900" dirty="0"/>
              <a:t>“</a:t>
            </a:r>
            <a:r>
              <a:rPr lang="en-US" altLang="ko-KR" sz="900" dirty="0" err="1"/>
              <a:t>company_name</a:t>
            </a:r>
            <a:r>
              <a:rPr lang="en-US" altLang="ko-KR" sz="900" dirty="0"/>
              <a:t>": "AI </a:t>
            </a:r>
            <a:r>
              <a:rPr lang="ko-KR" altLang="en-US" sz="900" dirty="0"/>
              <a:t>기반 분석 과제</a:t>
            </a:r>
            <a:r>
              <a:rPr lang="en-US" altLang="ko-KR" sz="900" dirty="0"/>
              <a:t>",</a:t>
            </a:r>
            <a:br>
              <a:rPr lang="en-US" altLang="ko-KR" sz="900" dirty="0"/>
            </a:br>
            <a:r>
              <a:rPr lang="en-US" altLang="ko-KR" sz="900" dirty="0"/>
              <a:t>"embedding": [...],</a:t>
            </a:r>
            <a:br>
              <a:rPr lang="en-US" altLang="ko-KR" sz="900" dirty="0"/>
            </a:br>
            <a:r>
              <a:rPr lang="en-US" altLang="ko-KR" sz="900" dirty="0"/>
              <a:t>"</a:t>
            </a:r>
            <a:r>
              <a:rPr lang="en-US" altLang="ko-KR" sz="900" dirty="0" err="1"/>
              <a:t>project_info</a:t>
            </a:r>
            <a:r>
              <a:rPr lang="en-US" altLang="ko-KR" sz="900" dirty="0"/>
              <a:t>": {</a:t>
            </a:r>
            <a:br>
              <a:rPr lang="en-US" altLang="ko-KR" sz="900" dirty="0"/>
            </a:br>
            <a:r>
              <a:rPr lang="en-US" altLang="ko-KR" sz="900" dirty="0"/>
              <a:t>    “</a:t>
            </a:r>
            <a:r>
              <a:rPr lang="en-US" altLang="ko-KR" sz="900" dirty="0" err="1"/>
              <a:t>company_name</a:t>
            </a:r>
            <a:r>
              <a:rPr lang="en-US" altLang="ko-KR" sz="900" dirty="0"/>
              <a:t>": "AI </a:t>
            </a:r>
            <a:r>
              <a:rPr lang="ko-KR" altLang="en-US" sz="900" dirty="0"/>
              <a:t>기반 분석 과제</a:t>
            </a:r>
            <a:r>
              <a:rPr lang="en-US" altLang="ko-KR" sz="900" dirty="0"/>
              <a:t>",</a:t>
            </a:r>
            <a:br>
              <a:rPr lang="en-US" altLang="ko-KR" sz="900" dirty="0"/>
            </a:br>
            <a:r>
              <a:rPr lang="en-US" altLang="ko-KR" sz="900" dirty="0"/>
              <a:t>    “region": “</a:t>
            </a:r>
            <a:r>
              <a:rPr lang="ko-KR" altLang="en-US" sz="900" dirty="0"/>
              <a:t>서울</a:t>
            </a:r>
            <a:r>
              <a:rPr lang="en-US" altLang="ko-KR" sz="900" dirty="0"/>
              <a:t>”,</a:t>
            </a:r>
            <a:br>
              <a:rPr lang="en-US" altLang="ko-KR" sz="900" dirty="0"/>
            </a:br>
            <a:r>
              <a:rPr lang="en-US" altLang="ko-KR" sz="900" dirty="0"/>
              <a:t>    “</a:t>
            </a:r>
            <a:r>
              <a:rPr lang="en-US" altLang="ko-KR" sz="900" dirty="0" err="1"/>
              <a:t>company_keyword</a:t>
            </a:r>
            <a:r>
              <a:rPr lang="en-US" altLang="ko-KR" sz="900" dirty="0"/>
              <a:t>": [...],</a:t>
            </a:r>
            <a:br>
              <a:rPr lang="en-US" altLang="ko-KR" sz="900" dirty="0"/>
            </a:br>
            <a:r>
              <a:rPr lang="en-US" altLang="ko-KR" sz="900" dirty="0"/>
              <a:t>    “</a:t>
            </a:r>
            <a:r>
              <a:rPr lang="en-US" altLang="ko-KR" sz="900" dirty="0" err="1"/>
              <a:t>company_purpose_list</a:t>
            </a:r>
            <a:r>
              <a:rPr lang="en-US" altLang="ko-KR" sz="900" dirty="0"/>
              <a:t>": [...],</a:t>
            </a:r>
            <a:br>
              <a:rPr lang="en-US" altLang="ko-KR" sz="900" dirty="0"/>
            </a:br>
            <a:r>
              <a:rPr lang="en-US" altLang="ko-KR" sz="900" dirty="0"/>
              <a:t>    “</a:t>
            </a:r>
            <a:r>
              <a:rPr lang="en-US" altLang="ko-KR" sz="900" dirty="0" err="1"/>
              <a:t>company_patent</a:t>
            </a:r>
            <a:r>
              <a:rPr lang="en-US" altLang="ko-KR" sz="900" dirty="0"/>
              <a:t>": […]</a:t>
            </a:r>
            <a:br>
              <a:rPr lang="en-US" altLang="ko-KR" sz="900" dirty="0"/>
            </a:br>
            <a:r>
              <a:rPr lang="en-US" altLang="ko-KR" sz="900" dirty="0"/>
              <a:t>}</a:t>
            </a:r>
          </a:p>
          <a:p>
            <a:r>
              <a:rPr lang="en-US" altLang="ko-KR" sz="900" dirty="0"/>
              <a:t>}</a:t>
            </a:r>
            <a:endParaRPr lang="ko-KR" altLang="en-US" sz="900" dirty="0"/>
          </a:p>
        </p:txBody>
      </p:sp>
      <p:cxnSp>
        <p:nvCxnSpPr>
          <p:cNvPr id="44" name="직선 화살표 연결선 43">
            <a:extLst>
              <a:ext uri="{FF2B5EF4-FFF2-40B4-BE49-F238E27FC236}">
                <a16:creationId xmlns:a16="http://schemas.microsoft.com/office/drawing/2014/main" id="{54E9BB93-8903-D8C0-54B5-35E8D54A3359}"/>
              </a:ext>
            </a:extLst>
          </p:cNvPr>
          <p:cNvCxnSpPr>
            <a:cxnSpLocks/>
          </p:cNvCxnSpPr>
          <p:nvPr/>
        </p:nvCxnSpPr>
        <p:spPr>
          <a:xfrm>
            <a:off x="1903956" y="4302542"/>
            <a:ext cx="118097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35EE8317-FEB0-9192-792D-D7B688A8362C}"/>
              </a:ext>
            </a:extLst>
          </p:cNvPr>
          <p:cNvSpPr txBox="1"/>
          <p:nvPr/>
        </p:nvSpPr>
        <p:spPr>
          <a:xfrm>
            <a:off x="3125222" y="4175746"/>
            <a:ext cx="191250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‘</a:t>
            </a:r>
            <a:r>
              <a:rPr lang="en-US" altLang="ko-KR" sz="1000" dirty="0" err="1"/>
              <a:t>conduct_company_id</a:t>
            </a:r>
            <a:r>
              <a:rPr lang="en-US" altLang="ko-KR" sz="1000" dirty="0"/>
              <a:t>’</a:t>
            </a:r>
            <a:endParaRPr lang="ko-KR" altLang="en-US" sz="1000" dirty="0"/>
          </a:p>
        </p:txBody>
      </p:sp>
      <p:cxnSp>
        <p:nvCxnSpPr>
          <p:cNvPr id="46" name="직선 화살표 연결선 45">
            <a:extLst>
              <a:ext uri="{FF2B5EF4-FFF2-40B4-BE49-F238E27FC236}">
                <a16:creationId xmlns:a16="http://schemas.microsoft.com/office/drawing/2014/main" id="{BE6DA2A5-F8B8-1205-3E18-642CAAFFC030}"/>
              </a:ext>
            </a:extLst>
          </p:cNvPr>
          <p:cNvCxnSpPr>
            <a:cxnSpLocks/>
          </p:cNvCxnSpPr>
          <p:nvPr/>
        </p:nvCxnSpPr>
        <p:spPr>
          <a:xfrm>
            <a:off x="2612734" y="4456653"/>
            <a:ext cx="47219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2D9C8E0D-CA93-E370-A962-DC2BA51D85F8}"/>
              </a:ext>
            </a:extLst>
          </p:cNvPr>
          <p:cNvSpPr txBox="1"/>
          <p:nvPr/>
        </p:nvSpPr>
        <p:spPr>
          <a:xfrm>
            <a:off x="3133472" y="4329857"/>
            <a:ext cx="191250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‘</a:t>
            </a:r>
            <a:r>
              <a:rPr lang="ko-KR" altLang="en-US" sz="1000" dirty="0"/>
              <a:t>한글업체명</a:t>
            </a:r>
            <a:r>
              <a:rPr lang="en-US" altLang="ko-KR" sz="1000" dirty="0"/>
              <a:t>’</a:t>
            </a:r>
            <a:endParaRPr lang="ko-KR" altLang="en-US" sz="1000" dirty="0"/>
          </a:p>
        </p:txBody>
      </p:sp>
      <p:cxnSp>
        <p:nvCxnSpPr>
          <p:cNvPr id="48" name="직선 화살표 연결선 47">
            <a:extLst>
              <a:ext uri="{FF2B5EF4-FFF2-40B4-BE49-F238E27FC236}">
                <a16:creationId xmlns:a16="http://schemas.microsoft.com/office/drawing/2014/main" id="{9F027045-EAF5-57B5-0FEC-0B7C6CB65094}"/>
              </a:ext>
            </a:extLst>
          </p:cNvPr>
          <p:cNvCxnSpPr>
            <a:cxnSpLocks/>
          </p:cNvCxnSpPr>
          <p:nvPr/>
        </p:nvCxnSpPr>
        <p:spPr>
          <a:xfrm>
            <a:off x="1903956" y="4635810"/>
            <a:ext cx="118097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BD98F186-B9E4-9A1C-27EC-8490C5C2B2BF}"/>
              </a:ext>
            </a:extLst>
          </p:cNvPr>
          <p:cNvSpPr txBox="1"/>
          <p:nvPr/>
        </p:nvSpPr>
        <p:spPr>
          <a:xfrm>
            <a:off x="3125222" y="4509014"/>
            <a:ext cx="191250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‘</a:t>
            </a:r>
            <a:r>
              <a:rPr lang="en-US" altLang="ko-KR" sz="1000" dirty="0" err="1"/>
              <a:t>company_norm_embed</a:t>
            </a:r>
            <a:r>
              <a:rPr lang="en-US" altLang="ko-KR" sz="1000" dirty="0"/>
              <a:t>’</a:t>
            </a:r>
            <a:endParaRPr lang="ko-KR" altLang="en-US" sz="1000" dirty="0"/>
          </a:p>
        </p:txBody>
      </p:sp>
      <p:cxnSp>
        <p:nvCxnSpPr>
          <p:cNvPr id="50" name="직선 화살표 연결선 49">
            <a:extLst>
              <a:ext uri="{FF2B5EF4-FFF2-40B4-BE49-F238E27FC236}">
                <a16:creationId xmlns:a16="http://schemas.microsoft.com/office/drawing/2014/main" id="{7C9D7670-21BC-BCCD-261A-1CFBD3ABCBDF}"/>
              </a:ext>
            </a:extLst>
          </p:cNvPr>
          <p:cNvCxnSpPr>
            <a:cxnSpLocks/>
          </p:cNvCxnSpPr>
          <p:nvPr/>
        </p:nvCxnSpPr>
        <p:spPr>
          <a:xfrm>
            <a:off x="2808293" y="4841027"/>
            <a:ext cx="27663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TextBox 50">
            <a:extLst>
              <a:ext uri="{FF2B5EF4-FFF2-40B4-BE49-F238E27FC236}">
                <a16:creationId xmlns:a16="http://schemas.microsoft.com/office/drawing/2014/main" id="{758A11D6-BAF5-D396-E844-35EBB6D91DA5}"/>
              </a:ext>
            </a:extLst>
          </p:cNvPr>
          <p:cNvSpPr txBox="1"/>
          <p:nvPr/>
        </p:nvSpPr>
        <p:spPr>
          <a:xfrm>
            <a:off x="3133472" y="4714231"/>
            <a:ext cx="191250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‘</a:t>
            </a:r>
            <a:r>
              <a:rPr lang="ko-KR" altLang="en-US" sz="1000" dirty="0"/>
              <a:t>한글업체명</a:t>
            </a:r>
            <a:r>
              <a:rPr lang="en-US" altLang="ko-KR" sz="1000" dirty="0"/>
              <a:t>’</a:t>
            </a:r>
            <a:endParaRPr lang="ko-KR" altLang="en-US" sz="1000" dirty="0"/>
          </a:p>
        </p:txBody>
      </p:sp>
      <p:cxnSp>
        <p:nvCxnSpPr>
          <p:cNvPr id="52" name="직선 화살표 연결선 51">
            <a:extLst>
              <a:ext uri="{FF2B5EF4-FFF2-40B4-BE49-F238E27FC236}">
                <a16:creationId xmlns:a16="http://schemas.microsoft.com/office/drawing/2014/main" id="{612CD331-0149-0AD4-16DB-D48D41A0906F}"/>
              </a:ext>
            </a:extLst>
          </p:cNvPr>
          <p:cNvCxnSpPr>
            <a:cxnSpLocks/>
          </p:cNvCxnSpPr>
          <p:nvPr/>
        </p:nvCxnSpPr>
        <p:spPr>
          <a:xfrm>
            <a:off x="1732711" y="5011723"/>
            <a:ext cx="135221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34A4ABFF-3BF1-83BD-F721-87DFE506D938}"/>
              </a:ext>
            </a:extLst>
          </p:cNvPr>
          <p:cNvSpPr txBox="1"/>
          <p:nvPr/>
        </p:nvSpPr>
        <p:spPr>
          <a:xfrm>
            <a:off x="3133472" y="4884927"/>
            <a:ext cx="191250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‘region’</a:t>
            </a:r>
            <a:endParaRPr lang="ko-KR" altLang="en-US" sz="1000" dirty="0"/>
          </a:p>
        </p:txBody>
      </p:sp>
      <p:cxnSp>
        <p:nvCxnSpPr>
          <p:cNvPr id="54" name="직선 화살표 연결선 53">
            <a:extLst>
              <a:ext uri="{FF2B5EF4-FFF2-40B4-BE49-F238E27FC236}">
                <a16:creationId xmlns:a16="http://schemas.microsoft.com/office/drawing/2014/main" id="{30F3A7E5-2153-DFAF-AE3C-CF68E626A811}"/>
              </a:ext>
            </a:extLst>
          </p:cNvPr>
          <p:cNvCxnSpPr>
            <a:cxnSpLocks/>
          </p:cNvCxnSpPr>
          <p:nvPr/>
        </p:nvCxnSpPr>
        <p:spPr>
          <a:xfrm>
            <a:off x="2231756" y="5165137"/>
            <a:ext cx="85317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TextBox 54">
            <a:extLst>
              <a:ext uri="{FF2B5EF4-FFF2-40B4-BE49-F238E27FC236}">
                <a16:creationId xmlns:a16="http://schemas.microsoft.com/office/drawing/2014/main" id="{79E6715E-4923-69DD-76C8-37C51944550A}"/>
              </a:ext>
            </a:extLst>
          </p:cNvPr>
          <p:cNvSpPr txBox="1"/>
          <p:nvPr/>
        </p:nvSpPr>
        <p:spPr>
          <a:xfrm>
            <a:off x="3133472" y="5038341"/>
            <a:ext cx="191250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‘</a:t>
            </a:r>
            <a:r>
              <a:rPr lang="ko-KR" altLang="en-US" sz="1000" dirty="0"/>
              <a:t>키워드</a:t>
            </a:r>
            <a:r>
              <a:rPr lang="en-US" altLang="ko-KR" sz="1000" dirty="0"/>
              <a:t>_company’</a:t>
            </a:r>
            <a:endParaRPr lang="ko-KR" altLang="en-US" sz="1000" dirty="0"/>
          </a:p>
        </p:txBody>
      </p:sp>
      <p:cxnSp>
        <p:nvCxnSpPr>
          <p:cNvPr id="56" name="직선 화살표 연결선 55">
            <a:extLst>
              <a:ext uri="{FF2B5EF4-FFF2-40B4-BE49-F238E27FC236}">
                <a16:creationId xmlns:a16="http://schemas.microsoft.com/office/drawing/2014/main" id="{FE8BFC33-6B06-AD46-90BA-6B4AC4873A77}"/>
              </a:ext>
            </a:extLst>
          </p:cNvPr>
          <p:cNvCxnSpPr>
            <a:cxnSpLocks/>
          </p:cNvCxnSpPr>
          <p:nvPr/>
        </p:nvCxnSpPr>
        <p:spPr>
          <a:xfrm>
            <a:off x="2347425" y="5301100"/>
            <a:ext cx="73546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TextBox 56">
            <a:extLst>
              <a:ext uri="{FF2B5EF4-FFF2-40B4-BE49-F238E27FC236}">
                <a16:creationId xmlns:a16="http://schemas.microsoft.com/office/drawing/2014/main" id="{E63856C3-D64F-8BAD-EA64-7905750B392C}"/>
              </a:ext>
            </a:extLst>
          </p:cNvPr>
          <p:cNvSpPr txBox="1"/>
          <p:nvPr/>
        </p:nvSpPr>
        <p:spPr>
          <a:xfrm>
            <a:off x="3131432" y="5174304"/>
            <a:ext cx="191250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‘</a:t>
            </a:r>
            <a:r>
              <a:rPr lang="en-US" altLang="ko-KR" sz="1000" dirty="0" err="1"/>
              <a:t>company_purpose_list</a:t>
            </a:r>
            <a:r>
              <a:rPr lang="en-US" altLang="ko-KR" sz="1000" dirty="0"/>
              <a:t>’</a:t>
            </a:r>
            <a:endParaRPr lang="ko-KR" altLang="en-US" sz="1000" dirty="0"/>
          </a:p>
        </p:txBody>
      </p:sp>
      <p:cxnSp>
        <p:nvCxnSpPr>
          <p:cNvPr id="59" name="직선 화살표 연결선 58">
            <a:extLst>
              <a:ext uri="{FF2B5EF4-FFF2-40B4-BE49-F238E27FC236}">
                <a16:creationId xmlns:a16="http://schemas.microsoft.com/office/drawing/2014/main" id="{BA999FB7-229A-722E-76B6-4D007F3145A3}"/>
              </a:ext>
            </a:extLst>
          </p:cNvPr>
          <p:cNvCxnSpPr>
            <a:cxnSpLocks/>
          </p:cNvCxnSpPr>
          <p:nvPr/>
        </p:nvCxnSpPr>
        <p:spPr>
          <a:xfrm>
            <a:off x="2151929" y="5454514"/>
            <a:ext cx="93197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TextBox 59">
            <a:extLst>
              <a:ext uri="{FF2B5EF4-FFF2-40B4-BE49-F238E27FC236}">
                <a16:creationId xmlns:a16="http://schemas.microsoft.com/office/drawing/2014/main" id="{A8BAB694-140A-C3FC-9ECE-67281D3F461B}"/>
              </a:ext>
            </a:extLst>
          </p:cNvPr>
          <p:cNvSpPr txBox="1"/>
          <p:nvPr/>
        </p:nvSpPr>
        <p:spPr>
          <a:xfrm>
            <a:off x="3132452" y="5327718"/>
            <a:ext cx="191250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‘</a:t>
            </a:r>
            <a:r>
              <a:rPr lang="en-US" altLang="ko-KR" sz="1000" dirty="0" err="1"/>
              <a:t>company_patent</a:t>
            </a:r>
            <a:r>
              <a:rPr lang="en-US" altLang="ko-KR" sz="1000" dirty="0"/>
              <a:t>’</a:t>
            </a:r>
            <a:endParaRPr lang="ko-KR" altLang="en-US" sz="1000" dirty="0"/>
          </a:p>
        </p:txBody>
      </p:sp>
    </p:spTree>
    <p:extLst>
      <p:ext uri="{BB962C8B-B14F-4D97-AF65-F5344CB8AC3E}">
        <p14:creationId xmlns:p14="http://schemas.microsoft.com/office/powerpoint/2010/main" val="30778966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altLang="ko-KR" sz="1200" b="1" dirty="0">
                <a:solidFill>
                  <a:srgbClr val="1E5E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4. </a:t>
            </a:r>
            <a:r>
              <a:rPr lang="ko-KR" altLang="en-US" sz="1200" b="1" dirty="0">
                <a:solidFill>
                  <a:srgbClr val="1E5E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근거 설명문 생성 방법</a:t>
            </a:r>
            <a:endParaRPr lang="en-US" altLang="ko-KR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6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</a:rPr>
              <a:t>데이터 </a:t>
            </a:r>
            <a:r>
              <a:rPr lang="ko-KR" altLang="en-US" sz="2600" b="1" dirty="0" err="1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</a:rPr>
              <a:t>전처리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170432"/>
            <a:ext cx="11064240" cy="0"/>
          </a:xfrm>
          <a:prstGeom prst="line">
            <a:avLst/>
          </a:prstGeom>
          <a:noFill/>
          <a:ln w="12700">
            <a:solidFill>
              <a:srgbClr val="D7E0EA"/>
            </a:solidFill>
            <a:prstDash val="solid"/>
          </a:ln>
        </p:spPr>
      </p:sp>
      <p:sp>
        <p:nvSpPr>
          <p:cNvPr id="58" name="슬라이드 번호 개체 틀 3">
            <a:extLst>
              <a:ext uri="{FF2B5EF4-FFF2-40B4-BE49-F238E27FC236}">
                <a16:creationId xmlns:a16="http://schemas.microsoft.com/office/drawing/2014/main" id="{1199CCB7-1622-4984-CFAE-B97BAEC53F50}"/>
              </a:ext>
            </a:extLst>
          </p:cNvPr>
          <p:cNvSpPr txBox="1">
            <a:spLocks/>
          </p:cNvSpPr>
          <p:nvPr/>
        </p:nvSpPr>
        <p:spPr>
          <a:xfrm>
            <a:off x="11544300" y="6297168"/>
            <a:ext cx="548640" cy="401447"/>
          </a:xfrm>
          <a:prstGeom prst="rect">
            <a:avLst/>
          </a:prstGeom>
        </p:spPr>
        <p:txBody>
          <a:bodyPr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27E591A-007A-4673-8B7B-A2C2EDBF50B5}" type="slidenum">
              <a:rPr lang="ko-KR" altLang="en-US" smtClean="0"/>
              <a:pPr/>
              <a:t>9</a:t>
            </a:fld>
            <a:endParaRPr lang="ko-KR" altLang="en-US" dirty="0"/>
          </a:p>
        </p:txBody>
      </p:sp>
      <p:sp>
        <p:nvSpPr>
          <p:cNvPr id="10" name="Shape 10">
            <a:extLst>
              <a:ext uri="{FF2B5EF4-FFF2-40B4-BE49-F238E27FC236}">
                <a16:creationId xmlns:a16="http://schemas.microsoft.com/office/drawing/2014/main" id="{C98566C7-4F92-04C2-94D0-0DFC0937F07D}"/>
              </a:ext>
            </a:extLst>
          </p:cNvPr>
          <p:cNvSpPr/>
          <p:nvPr/>
        </p:nvSpPr>
        <p:spPr>
          <a:xfrm>
            <a:off x="556337" y="1344023"/>
            <a:ext cx="6601313" cy="393602"/>
          </a:xfrm>
          <a:prstGeom prst="roundRect">
            <a:avLst>
              <a:gd name="adj" fmla="val 6383"/>
            </a:avLst>
          </a:prstGeom>
          <a:solidFill>
            <a:srgbClr val="EEF4FF"/>
          </a:solidFill>
          <a:ln w="12700">
            <a:solidFill>
              <a:srgbClr val="D9E2EA"/>
            </a:solidFill>
            <a:prstDash val="solid"/>
          </a:ln>
          <a:effectLst>
            <a:outerShdw blurRad="12700" dist="508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1" name="Text 12">
            <a:extLst>
              <a:ext uri="{FF2B5EF4-FFF2-40B4-BE49-F238E27FC236}">
                <a16:creationId xmlns:a16="http://schemas.microsoft.com/office/drawing/2014/main" id="{883AD3B9-ADD6-8E0E-C6D4-37C684D5FEFC}"/>
              </a:ext>
            </a:extLst>
          </p:cNvPr>
          <p:cNvSpPr/>
          <p:nvPr/>
        </p:nvSpPr>
        <p:spPr>
          <a:xfrm>
            <a:off x="2681284" y="1393077"/>
            <a:ext cx="2417806" cy="3020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600" dirty="0"/>
              <a:t>preprocess</a:t>
            </a:r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3433A6C8-800F-D8BE-909B-0C07CAC07EBE}"/>
              </a:ext>
            </a:extLst>
          </p:cNvPr>
          <p:cNvSpPr/>
          <p:nvPr/>
        </p:nvSpPr>
        <p:spPr>
          <a:xfrm>
            <a:off x="556336" y="1845489"/>
            <a:ext cx="3263877" cy="3885129"/>
          </a:xfrm>
          <a:prstGeom prst="roundRect">
            <a:avLst>
              <a:gd name="adj" fmla="val 6383"/>
            </a:avLst>
          </a:prstGeom>
          <a:solidFill>
            <a:srgbClr val="EEF4FF"/>
          </a:solidFill>
          <a:ln w="12700">
            <a:solidFill>
              <a:srgbClr val="D9E2EA"/>
            </a:solidFill>
            <a:prstDash val="solid"/>
          </a:ln>
          <a:effectLst>
            <a:outerShdw blurRad="12700" dist="508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3">
            <a:extLst>
              <a:ext uri="{FF2B5EF4-FFF2-40B4-BE49-F238E27FC236}">
                <a16:creationId xmlns:a16="http://schemas.microsoft.com/office/drawing/2014/main" id="{241C6969-928A-F3C9-7AD2-419872BA4A9D}"/>
              </a:ext>
            </a:extLst>
          </p:cNvPr>
          <p:cNvSpPr/>
          <p:nvPr/>
        </p:nvSpPr>
        <p:spPr>
          <a:xfrm>
            <a:off x="673249" y="1919460"/>
            <a:ext cx="3103611" cy="37681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AutoNum type="arabicPeriod"/>
            </a:pPr>
            <a:r>
              <a:rPr lang="ko-KR" altLang="en-US" sz="1220" dirty="0">
                <a:solidFill>
                  <a:srgbClr val="66748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수행 과제 </a:t>
            </a:r>
            <a:r>
              <a:rPr lang="en-US" altLang="ko-KR" sz="1220" dirty="0">
                <a:solidFill>
                  <a:srgbClr val="66748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/ </a:t>
            </a:r>
            <a:r>
              <a:rPr lang="ko-KR" altLang="en-US" sz="1220" dirty="0">
                <a:solidFill>
                  <a:srgbClr val="66748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수행 기업 추출</a:t>
            </a:r>
            <a:endParaRPr lang="en-US" altLang="ko-KR" sz="1220" dirty="0">
              <a:solidFill>
                <a:srgbClr val="667487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342900" indent="-342900">
              <a:buAutoNum type="arabicPeriod"/>
            </a:pPr>
            <a:endParaRPr lang="en-US" altLang="ko-KR" sz="1220" dirty="0">
              <a:solidFill>
                <a:srgbClr val="667487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285750" indent="-285750">
              <a:buFontTx/>
              <a:buChar char="-"/>
            </a:pPr>
            <a:r>
              <a:rPr lang="ko-KR" altLang="en-US" sz="1220" dirty="0">
                <a:solidFill>
                  <a:srgbClr val="66748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코사인 유사도 기반</a:t>
            </a:r>
            <a:r>
              <a:rPr lang="en-US" altLang="ko-KR" sz="1220" dirty="0">
                <a:solidFill>
                  <a:srgbClr val="66748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  <a:r>
              <a:rPr lang="ko-KR" altLang="en-US" sz="1220" dirty="0">
                <a:solidFill>
                  <a:srgbClr val="66748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1220" dirty="0" err="1">
                <a:solidFill>
                  <a:srgbClr val="66748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임계값</a:t>
            </a:r>
            <a:r>
              <a:rPr lang="ko-KR" altLang="en-US" sz="1220" dirty="0">
                <a:solidFill>
                  <a:srgbClr val="66748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220" dirty="0">
                <a:solidFill>
                  <a:srgbClr val="66748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0.5 </a:t>
            </a:r>
            <a:r>
              <a:rPr lang="ko-KR" altLang="en-US" sz="1220" dirty="0">
                <a:solidFill>
                  <a:srgbClr val="66748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기준으로 추출</a:t>
            </a:r>
            <a:endParaRPr lang="en-US" altLang="ko-KR" sz="1220" dirty="0">
              <a:solidFill>
                <a:srgbClr val="667487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285750" indent="-285750">
              <a:buFontTx/>
              <a:buChar char="-"/>
            </a:pPr>
            <a:endParaRPr lang="en-US" altLang="ko-KR" sz="1220" dirty="0">
              <a:solidFill>
                <a:srgbClr val="667487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r>
              <a:rPr lang="en-US" altLang="ko-KR" sz="1220" dirty="0">
                <a:solidFill>
                  <a:srgbClr val="66748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&lt;</a:t>
            </a:r>
            <a:r>
              <a:rPr lang="ko-KR" altLang="en-US" sz="1220" dirty="0">
                <a:solidFill>
                  <a:srgbClr val="66748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기업 → 과제 매칭</a:t>
            </a:r>
            <a:r>
              <a:rPr lang="en-US" altLang="ko-KR" sz="1220" dirty="0">
                <a:solidFill>
                  <a:srgbClr val="66748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&gt;</a:t>
            </a:r>
          </a:p>
          <a:p>
            <a:pPr marL="285750" indent="-285750">
              <a:buFontTx/>
              <a:buChar char="-"/>
            </a:pPr>
            <a:r>
              <a:rPr lang="ko-KR" altLang="en-US" sz="1220" dirty="0">
                <a:solidFill>
                  <a:srgbClr val="66748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수행 기업</a:t>
            </a:r>
            <a:r>
              <a:rPr lang="en-US" altLang="ko-KR" sz="1220" dirty="0">
                <a:solidFill>
                  <a:srgbClr val="66748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: </a:t>
            </a:r>
            <a:r>
              <a:rPr lang="ko-KR" altLang="en-US" sz="1220" dirty="0">
                <a:solidFill>
                  <a:srgbClr val="66748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해당 기업의 </a:t>
            </a:r>
            <a:r>
              <a:rPr lang="ko-KR" altLang="en-US" sz="1220" dirty="0" err="1">
                <a:solidFill>
                  <a:srgbClr val="66748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임베딩과</a:t>
            </a:r>
            <a:r>
              <a:rPr lang="ko-KR" altLang="en-US" sz="1220" dirty="0">
                <a:solidFill>
                  <a:srgbClr val="66748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추천된 과제를 수행한 기업의 </a:t>
            </a:r>
            <a:r>
              <a:rPr lang="ko-KR" altLang="en-US" sz="1220" dirty="0" err="1">
                <a:solidFill>
                  <a:srgbClr val="66748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임베딩</a:t>
            </a:r>
            <a:r>
              <a:rPr lang="ko-KR" altLang="en-US" sz="1220" dirty="0">
                <a:solidFill>
                  <a:srgbClr val="66748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유사도 계산</a:t>
            </a:r>
            <a:endParaRPr lang="en-US" altLang="ko-KR" sz="1220" dirty="0">
              <a:solidFill>
                <a:srgbClr val="667487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285750" indent="-285750">
              <a:buFontTx/>
              <a:buChar char="-"/>
            </a:pPr>
            <a:r>
              <a:rPr lang="ko-KR" altLang="en-US" sz="1220" dirty="0">
                <a:solidFill>
                  <a:srgbClr val="66748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수행 과제</a:t>
            </a:r>
            <a:r>
              <a:rPr lang="en-US" altLang="ko-KR" sz="1220" dirty="0">
                <a:solidFill>
                  <a:srgbClr val="66748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: </a:t>
            </a:r>
            <a:r>
              <a:rPr lang="ko-KR" altLang="en-US" sz="1220" dirty="0">
                <a:solidFill>
                  <a:srgbClr val="66748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해당 기업이 수행한 과제의 </a:t>
            </a:r>
            <a:r>
              <a:rPr lang="ko-KR" altLang="en-US" sz="1220" dirty="0" err="1">
                <a:solidFill>
                  <a:srgbClr val="66748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임베딩과</a:t>
            </a:r>
            <a:r>
              <a:rPr lang="ko-KR" altLang="en-US" sz="1220" dirty="0">
                <a:solidFill>
                  <a:srgbClr val="66748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추천된 과제의 </a:t>
            </a:r>
            <a:r>
              <a:rPr lang="ko-KR" altLang="en-US" sz="1220" dirty="0" err="1">
                <a:solidFill>
                  <a:srgbClr val="66748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임베딩</a:t>
            </a:r>
            <a:r>
              <a:rPr lang="ko-KR" altLang="en-US" sz="1220" dirty="0">
                <a:solidFill>
                  <a:srgbClr val="66748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유사도 계산</a:t>
            </a:r>
            <a:endParaRPr lang="en-US" altLang="ko-KR" sz="1220" dirty="0">
              <a:solidFill>
                <a:srgbClr val="667487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285750" indent="-285750">
              <a:buFontTx/>
              <a:buChar char="-"/>
            </a:pPr>
            <a:endParaRPr lang="en-US" altLang="ko-KR" sz="1220" dirty="0">
              <a:solidFill>
                <a:srgbClr val="667487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r>
              <a:rPr lang="en-US" altLang="ko-KR" sz="1220" dirty="0">
                <a:solidFill>
                  <a:srgbClr val="66748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&lt;</a:t>
            </a:r>
            <a:r>
              <a:rPr lang="ko-KR" altLang="en-US" sz="1220" dirty="0">
                <a:solidFill>
                  <a:srgbClr val="66748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과제 → 기업 매칭</a:t>
            </a:r>
            <a:r>
              <a:rPr lang="en-US" altLang="ko-KR" sz="1220" dirty="0">
                <a:solidFill>
                  <a:srgbClr val="66748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&gt;</a:t>
            </a:r>
          </a:p>
          <a:p>
            <a:pPr marL="285750" indent="-285750">
              <a:buFontTx/>
              <a:buChar char="-"/>
            </a:pPr>
            <a:r>
              <a:rPr lang="ko-KR" altLang="en-US" sz="1220" dirty="0">
                <a:solidFill>
                  <a:srgbClr val="66748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수행 기업</a:t>
            </a:r>
            <a:r>
              <a:rPr lang="en-US" altLang="ko-KR" sz="1220" dirty="0">
                <a:solidFill>
                  <a:srgbClr val="66748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: </a:t>
            </a:r>
            <a:r>
              <a:rPr lang="ko-KR" altLang="en-US" sz="1220" dirty="0">
                <a:solidFill>
                  <a:srgbClr val="66748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해당 과제를 수행한 기업의 </a:t>
            </a:r>
            <a:r>
              <a:rPr lang="ko-KR" altLang="en-US" sz="1220" dirty="0" err="1">
                <a:solidFill>
                  <a:srgbClr val="66748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임베딩과</a:t>
            </a:r>
            <a:r>
              <a:rPr lang="ko-KR" altLang="en-US" sz="1220" dirty="0">
                <a:solidFill>
                  <a:srgbClr val="66748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추천된 기업의 </a:t>
            </a:r>
            <a:r>
              <a:rPr lang="ko-KR" altLang="en-US" sz="1220" dirty="0" err="1">
                <a:solidFill>
                  <a:srgbClr val="66748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임베딩</a:t>
            </a:r>
            <a:r>
              <a:rPr lang="ko-KR" altLang="en-US" sz="1220" dirty="0">
                <a:solidFill>
                  <a:srgbClr val="66748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유사도 계산</a:t>
            </a:r>
            <a:endParaRPr lang="en-US" altLang="ko-KR" sz="1220" dirty="0">
              <a:solidFill>
                <a:srgbClr val="667487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285750" indent="-285750">
              <a:buFontTx/>
              <a:buChar char="-"/>
            </a:pPr>
            <a:r>
              <a:rPr lang="ko-KR" altLang="en-US" sz="1220" dirty="0">
                <a:solidFill>
                  <a:srgbClr val="66748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수행 과제</a:t>
            </a:r>
            <a:r>
              <a:rPr lang="en-US" altLang="ko-KR" sz="1220" dirty="0">
                <a:solidFill>
                  <a:srgbClr val="66748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: </a:t>
            </a:r>
            <a:r>
              <a:rPr lang="ko-KR" altLang="en-US" sz="1220" dirty="0">
                <a:solidFill>
                  <a:srgbClr val="66748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해당 과제의 </a:t>
            </a:r>
            <a:r>
              <a:rPr lang="ko-KR" altLang="en-US" sz="1220" dirty="0" err="1">
                <a:solidFill>
                  <a:srgbClr val="66748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임베딩과</a:t>
            </a:r>
            <a:r>
              <a:rPr lang="ko-KR" altLang="en-US" sz="1220" dirty="0">
                <a:solidFill>
                  <a:srgbClr val="66748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추천된 기업이 수행한 과제의 </a:t>
            </a:r>
            <a:r>
              <a:rPr lang="ko-KR" altLang="en-US" sz="1220" dirty="0" err="1">
                <a:solidFill>
                  <a:srgbClr val="66748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임베딩</a:t>
            </a:r>
            <a:r>
              <a:rPr lang="ko-KR" altLang="en-US" sz="1220" dirty="0">
                <a:solidFill>
                  <a:srgbClr val="66748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유사도 계산</a:t>
            </a:r>
            <a:endParaRPr lang="en-US" altLang="ko-KR" sz="1220" dirty="0">
              <a:solidFill>
                <a:srgbClr val="667487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285750" indent="-285750">
              <a:buFontTx/>
              <a:buChar char="-"/>
            </a:pPr>
            <a:endParaRPr lang="en-US" altLang="ko-KR" sz="1220" dirty="0">
              <a:solidFill>
                <a:srgbClr val="667487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endParaRPr lang="en-US" altLang="ko-KR" sz="1220" dirty="0">
              <a:solidFill>
                <a:srgbClr val="667487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220" dirty="0">
              <a:solidFill>
                <a:srgbClr val="667487"/>
              </a:solidFill>
              <a:latin typeface="Malgun Gothic" pitchFamily="34" charset="0"/>
              <a:ea typeface="Malgun Gothic" pitchFamily="34" charset="-122"/>
            </a:endParaRPr>
          </a:p>
          <a:p>
            <a:r>
              <a:rPr lang="ko-KR" altLang="en-US" sz="1220" dirty="0">
                <a:solidFill>
                  <a:srgbClr val="667487"/>
                </a:solidFill>
                <a:latin typeface="Malgun Gothic" pitchFamily="34" charset="0"/>
                <a:ea typeface="Malgun Gothic" pitchFamily="34" charset="-122"/>
              </a:rPr>
              <a:t> </a:t>
            </a:r>
            <a:endParaRPr lang="en-US" sz="1220" dirty="0"/>
          </a:p>
        </p:txBody>
      </p:sp>
      <p:sp>
        <p:nvSpPr>
          <p:cNvPr id="19" name="Shape 10">
            <a:extLst>
              <a:ext uri="{FF2B5EF4-FFF2-40B4-BE49-F238E27FC236}">
                <a16:creationId xmlns:a16="http://schemas.microsoft.com/office/drawing/2014/main" id="{6D71A2C3-95F4-3037-DF92-BC65E14E6E29}"/>
              </a:ext>
            </a:extLst>
          </p:cNvPr>
          <p:cNvSpPr/>
          <p:nvPr/>
        </p:nvSpPr>
        <p:spPr>
          <a:xfrm>
            <a:off x="3893773" y="1845489"/>
            <a:ext cx="3263877" cy="3885129"/>
          </a:xfrm>
          <a:prstGeom prst="roundRect">
            <a:avLst>
              <a:gd name="adj" fmla="val 6383"/>
            </a:avLst>
          </a:prstGeom>
          <a:solidFill>
            <a:srgbClr val="EEF4FF"/>
          </a:solidFill>
          <a:ln w="12700">
            <a:solidFill>
              <a:srgbClr val="D9E2EA"/>
            </a:solidFill>
            <a:prstDash val="solid"/>
          </a:ln>
          <a:effectLst>
            <a:outerShdw blurRad="12700" dist="508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3">
            <a:extLst>
              <a:ext uri="{FF2B5EF4-FFF2-40B4-BE49-F238E27FC236}">
                <a16:creationId xmlns:a16="http://schemas.microsoft.com/office/drawing/2014/main" id="{78D3455D-3C5C-F75F-1E97-113DC4D92704}"/>
              </a:ext>
            </a:extLst>
          </p:cNvPr>
          <p:cNvSpPr/>
          <p:nvPr/>
        </p:nvSpPr>
        <p:spPr>
          <a:xfrm>
            <a:off x="4010686" y="1919460"/>
            <a:ext cx="3103611" cy="35945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220" dirty="0">
                <a:solidFill>
                  <a:srgbClr val="66748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</a:t>
            </a:r>
            <a:r>
              <a:rPr lang="ko-KR" altLang="en-US" sz="1220" dirty="0">
                <a:solidFill>
                  <a:srgbClr val="66748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기업의 특허 추출</a:t>
            </a:r>
            <a:endParaRPr lang="en-US" altLang="ko-KR" sz="1220" dirty="0">
              <a:solidFill>
                <a:srgbClr val="667487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endParaRPr lang="en-US" altLang="ko-KR" sz="1220" dirty="0">
              <a:solidFill>
                <a:srgbClr val="667487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285750" indent="-285750">
              <a:buFontTx/>
              <a:buChar char="-"/>
            </a:pPr>
            <a:r>
              <a:rPr lang="ko-KR" altLang="en-US" sz="1220" dirty="0">
                <a:solidFill>
                  <a:srgbClr val="66748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기업의 특허명과 과제 설명문</a:t>
            </a:r>
            <a:r>
              <a:rPr lang="en-US" altLang="ko-KR" sz="1220" dirty="0">
                <a:solidFill>
                  <a:srgbClr val="66748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</a:t>
            </a:r>
            <a:r>
              <a:rPr lang="ko-KR" altLang="en-US" sz="1220" dirty="0">
                <a:solidFill>
                  <a:srgbClr val="66748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과제의 </a:t>
            </a:r>
            <a:r>
              <a:rPr lang="ko-KR" altLang="en-US" sz="1220" dirty="0" err="1">
                <a:solidFill>
                  <a:srgbClr val="66748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임베딩</a:t>
            </a:r>
            <a:r>
              <a:rPr lang="en-US" altLang="ko-KR" sz="1220" dirty="0">
                <a:solidFill>
                  <a:srgbClr val="66748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)</a:t>
            </a:r>
            <a:r>
              <a:rPr lang="ko-KR" altLang="en-US" sz="1220" dirty="0">
                <a:solidFill>
                  <a:srgbClr val="66748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 유사도 계산</a:t>
            </a:r>
            <a:endParaRPr lang="en-US" altLang="ko-KR" sz="1220" dirty="0">
              <a:solidFill>
                <a:srgbClr val="667487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285750" indent="-285750">
              <a:buFontTx/>
              <a:buChar char="-"/>
            </a:pPr>
            <a:r>
              <a:rPr lang="en-US" altLang="ko-KR" sz="1220" dirty="0">
                <a:solidFill>
                  <a:srgbClr val="66748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BAAI/BGE-M3 </a:t>
            </a:r>
            <a:r>
              <a:rPr lang="ko-KR" altLang="en-US" sz="1220" dirty="0" err="1">
                <a:solidFill>
                  <a:srgbClr val="66748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임베딩</a:t>
            </a:r>
            <a:r>
              <a:rPr lang="ko-KR" altLang="en-US" sz="1220" dirty="0">
                <a:solidFill>
                  <a:srgbClr val="66748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모델 사용</a:t>
            </a:r>
            <a:endParaRPr lang="en-US" altLang="ko-KR" sz="1220" dirty="0">
              <a:solidFill>
                <a:srgbClr val="667487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285750" indent="-285750">
              <a:buFontTx/>
              <a:buChar char="-"/>
            </a:pPr>
            <a:r>
              <a:rPr lang="ko-KR" altLang="en-US" sz="1220" dirty="0" err="1">
                <a:solidFill>
                  <a:srgbClr val="66748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임계값</a:t>
            </a:r>
            <a:r>
              <a:rPr lang="ko-KR" altLang="en-US" sz="1220" dirty="0">
                <a:solidFill>
                  <a:srgbClr val="66748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220" dirty="0">
                <a:solidFill>
                  <a:srgbClr val="66748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0.4 </a:t>
            </a:r>
            <a:r>
              <a:rPr lang="ko-KR" altLang="en-US" sz="1220" dirty="0">
                <a:solidFill>
                  <a:srgbClr val="66748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기준으로 추출</a:t>
            </a:r>
            <a:endParaRPr lang="en-US" altLang="ko-KR" sz="1220" dirty="0">
              <a:solidFill>
                <a:srgbClr val="667487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285750" indent="-285750">
              <a:buFontTx/>
              <a:buChar char="-"/>
            </a:pPr>
            <a:endParaRPr lang="en-US" altLang="ko-KR" sz="1220" dirty="0">
              <a:solidFill>
                <a:srgbClr val="667487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285750" indent="-285750">
              <a:buFontTx/>
              <a:buChar char="-"/>
            </a:pPr>
            <a:endParaRPr lang="en-US" altLang="ko-KR" sz="1220" dirty="0">
              <a:solidFill>
                <a:srgbClr val="667487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endParaRPr lang="en-US" altLang="ko-KR" sz="1220" dirty="0">
              <a:solidFill>
                <a:srgbClr val="667487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220" dirty="0">
              <a:solidFill>
                <a:srgbClr val="667487"/>
              </a:solidFill>
              <a:latin typeface="Malgun Gothic" pitchFamily="34" charset="0"/>
              <a:ea typeface="Malgun Gothic" pitchFamily="34" charset="-122"/>
            </a:endParaRPr>
          </a:p>
          <a:p>
            <a:r>
              <a:rPr lang="ko-KR" altLang="en-US" sz="1220" dirty="0">
                <a:solidFill>
                  <a:srgbClr val="667487"/>
                </a:solidFill>
                <a:latin typeface="Malgun Gothic" pitchFamily="34" charset="0"/>
                <a:ea typeface="Malgun Gothic" pitchFamily="34" charset="-122"/>
              </a:rPr>
              <a:t> </a:t>
            </a:r>
            <a:endParaRPr lang="en-US" sz="1220" dirty="0"/>
          </a:p>
        </p:txBody>
      </p:sp>
      <p:pic>
        <p:nvPicPr>
          <p:cNvPr id="22" name="그림 21">
            <a:extLst>
              <a:ext uri="{FF2B5EF4-FFF2-40B4-BE49-F238E27FC236}">
                <a16:creationId xmlns:a16="http://schemas.microsoft.com/office/drawing/2014/main" id="{990DB77D-E7EF-C913-F930-1D57BECEDE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39066" y="1583659"/>
            <a:ext cx="3343299" cy="1362085"/>
          </a:xfrm>
          <a:prstGeom prst="rect">
            <a:avLst/>
          </a:prstGeom>
        </p:spPr>
      </p:pic>
      <p:sp>
        <p:nvSpPr>
          <p:cNvPr id="26" name="Text 13">
            <a:extLst>
              <a:ext uri="{FF2B5EF4-FFF2-40B4-BE49-F238E27FC236}">
                <a16:creationId xmlns:a16="http://schemas.microsoft.com/office/drawing/2014/main" id="{75CD38C2-982F-BA0C-43CC-AA50353E7DE5}"/>
              </a:ext>
            </a:extLst>
          </p:cNvPr>
          <p:cNvSpPr/>
          <p:nvPr/>
        </p:nvSpPr>
        <p:spPr>
          <a:xfrm>
            <a:off x="7839066" y="1294069"/>
            <a:ext cx="3103611" cy="2839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20" dirty="0" err="1"/>
              <a:t>main.ipynb</a:t>
            </a:r>
            <a:endParaRPr lang="en-US" sz="1220" dirty="0"/>
          </a:p>
        </p:txBody>
      </p:sp>
      <p:sp>
        <p:nvSpPr>
          <p:cNvPr id="29" name="Text 13">
            <a:extLst>
              <a:ext uri="{FF2B5EF4-FFF2-40B4-BE49-F238E27FC236}">
                <a16:creationId xmlns:a16="http://schemas.microsoft.com/office/drawing/2014/main" id="{88770483-1717-BEEC-9D8E-8EED9C09717C}"/>
              </a:ext>
            </a:extLst>
          </p:cNvPr>
          <p:cNvSpPr/>
          <p:nvPr/>
        </p:nvSpPr>
        <p:spPr>
          <a:xfrm>
            <a:off x="7839066" y="3103373"/>
            <a:ext cx="3103611" cy="2839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20" dirty="0"/>
              <a:t>data_pipeline.py</a:t>
            </a:r>
          </a:p>
          <a:p>
            <a:endParaRPr lang="en-US" sz="1220" dirty="0"/>
          </a:p>
          <a:p>
            <a:endParaRPr lang="en-US" sz="1220" dirty="0"/>
          </a:p>
        </p:txBody>
      </p:sp>
      <p:pic>
        <p:nvPicPr>
          <p:cNvPr id="33" name="그림 32">
            <a:extLst>
              <a:ext uri="{FF2B5EF4-FFF2-40B4-BE49-F238E27FC236}">
                <a16:creationId xmlns:a16="http://schemas.microsoft.com/office/drawing/2014/main" id="{34F727CA-4788-858E-BB2E-7414043A4A3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39066" y="3405597"/>
            <a:ext cx="2362217" cy="1133483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E87B575B-A3EF-9FDA-CD11-47CF84BBAF7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39065" y="4612224"/>
            <a:ext cx="2362217" cy="16449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42950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altLang="ko-KR" sz="1200" b="1" dirty="0">
                <a:solidFill>
                  <a:srgbClr val="1E5E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4. </a:t>
            </a:r>
            <a:r>
              <a:rPr lang="ko-KR" altLang="en-US" sz="1200" b="1" dirty="0">
                <a:solidFill>
                  <a:srgbClr val="1E5E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근거 설명문 생성 방법</a:t>
            </a:r>
            <a:endParaRPr lang="en-US" altLang="ko-KR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altLang="ko-KR" sz="2600" b="1" dirty="0" err="1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</a:rPr>
              <a:t>Fewshot</a:t>
            </a:r>
            <a:r>
              <a:rPr lang="en-US" altLang="ko-KR" sz="26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</a:rPr>
              <a:t> 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170432"/>
            <a:ext cx="11064240" cy="0"/>
          </a:xfrm>
          <a:prstGeom prst="line">
            <a:avLst/>
          </a:prstGeom>
          <a:noFill/>
          <a:ln w="12700">
            <a:solidFill>
              <a:srgbClr val="D7E0EA"/>
            </a:solidFill>
            <a:prstDash val="solid"/>
          </a:ln>
        </p:spPr>
      </p:sp>
      <p:sp>
        <p:nvSpPr>
          <p:cNvPr id="58" name="슬라이드 번호 개체 틀 3">
            <a:extLst>
              <a:ext uri="{FF2B5EF4-FFF2-40B4-BE49-F238E27FC236}">
                <a16:creationId xmlns:a16="http://schemas.microsoft.com/office/drawing/2014/main" id="{1199CCB7-1622-4984-CFAE-B97BAEC53F50}"/>
              </a:ext>
            </a:extLst>
          </p:cNvPr>
          <p:cNvSpPr txBox="1">
            <a:spLocks/>
          </p:cNvSpPr>
          <p:nvPr/>
        </p:nvSpPr>
        <p:spPr>
          <a:xfrm>
            <a:off x="11544300" y="6297168"/>
            <a:ext cx="548640" cy="401447"/>
          </a:xfrm>
          <a:prstGeom prst="rect">
            <a:avLst/>
          </a:prstGeom>
        </p:spPr>
        <p:txBody>
          <a:bodyPr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27E591A-007A-4673-8B7B-A2C2EDBF50B5}" type="slidenum">
              <a:rPr lang="ko-KR" altLang="en-US" smtClean="0"/>
              <a:pPr/>
              <a:t>10</a:t>
            </a:fld>
            <a:endParaRPr lang="ko-KR" altLang="en-US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FC941325-4B5A-D4FE-4F98-5131AF5DF1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1" y="1291358"/>
            <a:ext cx="4920720" cy="2768681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90A94C48-A1FB-5851-A20F-555B1427A78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1" y="4055687"/>
            <a:ext cx="4920720" cy="2471218"/>
          </a:xfrm>
          <a:prstGeom prst="rect">
            <a:avLst/>
          </a:prstGeom>
        </p:spPr>
      </p:pic>
      <p:sp>
        <p:nvSpPr>
          <p:cNvPr id="15" name="직사각형 14">
            <a:extLst>
              <a:ext uri="{FF2B5EF4-FFF2-40B4-BE49-F238E27FC236}">
                <a16:creationId xmlns:a16="http://schemas.microsoft.com/office/drawing/2014/main" id="{4EFC4C6B-B9AF-F9DC-87D8-2BD18060DD80}"/>
              </a:ext>
            </a:extLst>
          </p:cNvPr>
          <p:cNvSpPr/>
          <p:nvPr/>
        </p:nvSpPr>
        <p:spPr>
          <a:xfrm>
            <a:off x="902727" y="1775298"/>
            <a:ext cx="395915" cy="97277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8" name="직선 화살표 연결선 17">
            <a:extLst>
              <a:ext uri="{FF2B5EF4-FFF2-40B4-BE49-F238E27FC236}">
                <a16:creationId xmlns:a16="http://schemas.microsoft.com/office/drawing/2014/main" id="{C0021180-124D-3B82-5651-BDDDD9131379}"/>
              </a:ext>
            </a:extLst>
          </p:cNvPr>
          <p:cNvCxnSpPr>
            <a:cxnSpLocks/>
          </p:cNvCxnSpPr>
          <p:nvPr/>
        </p:nvCxnSpPr>
        <p:spPr>
          <a:xfrm>
            <a:off x="1357008" y="1814208"/>
            <a:ext cx="296694" cy="0"/>
          </a:xfrm>
          <a:prstGeom prst="straightConnector1">
            <a:avLst/>
          </a:prstGeom>
          <a:ln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24663585-5A4E-2DD4-361F-B0C1110C3AE4}"/>
              </a:ext>
            </a:extLst>
          </p:cNvPr>
          <p:cNvSpPr txBox="1"/>
          <p:nvPr/>
        </p:nvSpPr>
        <p:spPr>
          <a:xfrm>
            <a:off x="1670708" y="1689141"/>
            <a:ext cx="369651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50" dirty="0">
                <a:solidFill>
                  <a:srgbClr val="FFC000"/>
                </a:solidFill>
              </a:rPr>
              <a:t>Company</a:t>
            </a:r>
            <a:r>
              <a:rPr lang="ko-KR" altLang="en-US" sz="1050" dirty="0">
                <a:solidFill>
                  <a:srgbClr val="FFC000"/>
                </a:solidFill>
              </a:rPr>
              <a:t> </a:t>
            </a:r>
            <a:r>
              <a:rPr lang="en-US" altLang="ko-KR" sz="1050" dirty="0">
                <a:solidFill>
                  <a:srgbClr val="FFC000"/>
                </a:solidFill>
              </a:rPr>
              <a:t>DB</a:t>
            </a:r>
            <a:r>
              <a:rPr lang="ko-KR" altLang="en-US" sz="1050" dirty="0">
                <a:solidFill>
                  <a:srgbClr val="FFC000"/>
                </a:solidFill>
              </a:rPr>
              <a:t>에서 가져오는 값</a:t>
            </a:r>
          </a:p>
        </p:txBody>
      </p:sp>
      <p:pic>
        <p:nvPicPr>
          <p:cNvPr id="25" name="그림 24">
            <a:extLst>
              <a:ext uri="{FF2B5EF4-FFF2-40B4-BE49-F238E27FC236}">
                <a16:creationId xmlns:a16="http://schemas.microsoft.com/office/drawing/2014/main" id="{15AC3526-F9CB-2A47-2B87-B47437735C9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17551" y="1291358"/>
            <a:ext cx="2455062" cy="2347443"/>
          </a:xfrm>
          <a:prstGeom prst="rect">
            <a:avLst/>
          </a:prstGeom>
        </p:spPr>
      </p:pic>
      <p:pic>
        <p:nvPicPr>
          <p:cNvPr id="28" name="그림 27">
            <a:extLst>
              <a:ext uri="{FF2B5EF4-FFF2-40B4-BE49-F238E27FC236}">
                <a16:creationId xmlns:a16="http://schemas.microsoft.com/office/drawing/2014/main" id="{3373605D-6D9E-8391-76E8-C97BE7D03F3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17551" y="3638801"/>
            <a:ext cx="2455062" cy="2448308"/>
          </a:xfrm>
          <a:prstGeom prst="rect">
            <a:avLst/>
          </a:prstGeom>
        </p:spPr>
      </p:pic>
      <p:sp>
        <p:nvSpPr>
          <p:cNvPr id="30" name="직사각형 29">
            <a:extLst>
              <a:ext uri="{FF2B5EF4-FFF2-40B4-BE49-F238E27FC236}">
                <a16:creationId xmlns:a16="http://schemas.microsoft.com/office/drawing/2014/main" id="{E2A58F31-59D9-F7DD-A21B-CFC7951AA546}"/>
              </a:ext>
            </a:extLst>
          </p:cNvPr>
          <p:cNvSpPr/>
          <p:nvPr/>
        </p:nvSpPr>
        <p:spPr>
          <a:xfrm>
            <a:off x="5779527" y="1258820"/>
            <a:ext cx="395915" cy="97277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31" name="직선 화살표 연결선 30">
            <a:extLst>
              <a:ext uri="{FF2B5EF4-FFF2-40B4-BE49-F238E27FC236}">
                <a16:creationId xmlns:a16="http://schemas.microsoft.com/office/drawing/2014/main" id="{DDA49A48-474F-1F6E-A822-49E106D714F6}"/>
              </a:ext>
            </a:extLst>
          </p:cNvPr>
          <p:cNvCxnSpPr>
            <a:cxnSpLocks/>
          </p:cNvCxnSpPr>
          <p:nvPr/>
        </p:nvCxnSpPr>
        <p:spPr>
          <a:xfrm>
            <a:off x="6233808" y="1321026"/>
            <a:ext cx="296694" cy="0"/>
          </a:xfrm>
          <a:prstGeom prst="straightConnector1">
            <a:avLst/>
          </a:prstGeom>
          <a:ln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FEF15A52-C1E0-61C8-DC8A-B377B3F8CC4E}"/>
              </a:ext>
            </a:extLst>
          </p:cNvPr>
          <p:cNvSpPr txBox="1"/>
          <p:nvPr/>
        </p:nvSpPr>
        <p:spPr>
          <a:xfrm>
            <a:off x="6547508" y="1230903"/>
            <a:ext cx="369651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50" dirty="0">
                <a:solidFill>
                  <a:srgbClr val="FFC000"/>
                </a:solidFill>
              </a:rPr>
              <a:t>Project</a:t>
            </a:r>
            <a:r>
              <a:rPr lang="ko-KR" altLang="en-US" sz="1050" dirty="0">
                <a:solidFill>
                  <a:srgbClr val="FFC000"/>
                </a:solidFill>
              </a:rPr>
              <a:t> </a:t>
            </a:r>
            <a:r>
              <a:rPr lang="en-US" altLang="ko-KR" sz="1050" dirty="0">
                <a:solidFill>
                  <a:srgbClr val="FFC000"/>
                </a:solidFill>
              </a:rPr>
              <a:t>DB</a:t>
            </a:r>
            <a:r>
              <a:rPr lang="ko-KR" altLang="en-US" sz="1050" dirty="0">
                <a:solidFill>
                  <a:srgbClr val="FFC000"/>
                </a:solidFill>
              </a:rPr>
              <a:t>에서 가져오는 값</a:t>
            </a: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5F425D02-5053-2F9D-8854-2542B86C2BE9}"/>
              </a:ext>
            </a:extLst>
          </p:cNvPr>
          <p:cNvSpPr/>
          <p:nvPr/>
        </p:nvSpPr>
        <p:spPr>
          <a:xfrm>
            <a:off x="5837333" y="3643048"/>
            <a:ext cx="395915" cy="97277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35" name="직선 화살표 연결선 34">
            <a:extLst>
              <a:ext uri="{FF2B5EF4-FFF2-40B4-BE49-F238E27FC236}">
                <a16:creationId xmlns:a16="http://schemas.microsoft.com/office/drawing/2014/main" id="{2199E0B3-FC46-6AE2-2BE2-242530C1BEDC}"/>
              </a:ext>
            </a:extLst>
          </p:cNvPr>
          <p:cNvCxnSpPr>
            <a:cxnSpLocks/>
          </p:cNvCxnSpPr>
          <p:nvPr/>
        </p:nvCxnSpPr>
        <p:spPr>
          <a:xfrm>
            <a:off x="6286359" y="3681958"/>
            <a:ext cx="2169213" cy="0"/>
          </a:xfrm>
          <a:prstGeom prst="straightConnector1">
            <a:avLst/>
          </a:prstGeom>
          <a:ln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6AF8ABCD-CA54-0071-1792-95F075B8AF56}"/>
              </a:ext>
            </a:extLst>
          </p:cNvPr>
          <p:cNvSpPr txBox="1"/>
          <p:nvPr/>
        </p:nvSpPr>
        <p:spPr>
          <a:xfrm>
            <a:off x="8549728" y="4271594"/>
            <a:ext cx="3543212" cy="577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50" dirty="0"/>
              <a:t>해당 기업의 지역적 위치와 </a:t>
            </a:r>
            <a:endParaRPr lang="en-US" altLang="ko-KR" sz="1050" dirty="0"/>
          </a:p>
          <a:p>
            <a:r>
              <a:rPr lang="ko-KR" altLang="en-US" sz="1050" dirty="0"/>
              <a:t>추천된 과제를 수행한 기업의 지역적 위치의 </a:t>
            </a:r>
            <a:endParaRPr lang="en-US" altLang="ko-KR" sz="1050" dirty="0"/>
          </a:p>
          <a:p>
            <a:r>
              <a:rPr lang="ko-KR" altLang="en-US" sz="1050" dirty="0"/>
              <a:t>유사성을 설명하기 위해 </a:t>
            </a:r>
            <a:r>
              <a:rPr lang="ko-KR" altLang="en-US" sz="1050" dirty="0" err="1"/>
              <a:t>같은지역</a:t>
            </a:r>
            <a:r>
              <a:rPr lang="en-US" altLang="ko-KR" sz="1050" dirty="0"/>
              <a:t>/</a:t>
            </a:r>
            <a:r>
              <a:rPr lang="ko-KR" altLang="en-US" sz="1050" dirty="0"/>
              <a:t>유사지역 분류</a:t>
            </a:r>
          </a:p>
        </p:txBody>
      </p:sp>
      <p:pic>
        <p:nvPicPr>
          <p:cNvPr id="39" name="그림 38">
            <a:extLst>
              <a:ext uri="{FF2B5EF4-FFF2-40B4-BE49-F238E27FC236}">
                <a16:creationId xmlns:a16="http://schemas.microsoft.com/office/drawing/2014/main" id="{1BBB31C3-7DF9-2B11-E20B-ECF6B2F1D43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11740" y="3556891"/>
            <a:ext cx="2409843" cy="5715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07436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altLang="ko-KR" sz="1200" b="1" dirty="0">
                <a:solidFill>
                  <a:srgbClr val="1E5E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4. </a:t>
            </a:r>
            <a:r>
              <a:rPr lang="ko-KR" altLang="en-US" sz="1200" b="1" dirty="0">
                <a:solidFill>
                  <a:srgbClr val="1E5E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근거 설명문 생성 방법</a:t>
            </a:r>
            <a:endParaRPr lang="en-US" altLang="ko-KR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altLang="ko-KR" sz="2600" b="1" dirty="0" err="1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</a:rPr>
              <a:t>Fewshot</a:t>
            </a:r>
            <a:r>
              <a:rPr lang="en-US" altLang="ko-KR" sz="26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</a:rPr>
              <a:t> 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170432"/>
            <a:ext cx="11064240" cy="0"/>
          </a:xfrm>
          <a:prstGeom prst="line">
            <a:avLst/>
          </a:prstGeom>
          <a:noFill/>
          <a:ln w="12700">
            <a:solidFill>
              <a:srgbClr val="D7E0EA"/>
            </a:solidFill>
            <a:prstDash val="solid"/>
          </a:ln>
        </p:spPr>
      </p:sp>
      <p:sp>
        <p:nvSpPr>
          <p:cNvPr id="58" name="슬라이드 번호 개체 틀 3">
            <a:extLst>
              <a:ext uri="{FF2B5EF4-FFF2-40B4-BE49-F238E27FC236}">
                <a16:creationId xmlns:a16="http://schemas.microsoft.com/office/drawing/2014/main" id="{1199CCB7-1622-4984-CFAE-B97BAEC53F50}"/>
              </a:ext>
            </a:extLst>
          </p:cNvPr>
          <p:cNvSpPr txBox="1">
            <a:spLocks/>
          </p:cNvSpPr>
          <p:nvPr/>
        </p:nvSpPr>
        <p:spPr>
          <a:xfrm>
            <a:off x="11544300" y="6297168"/>
            <a:ext cx="548640" cy="401447"/>
          </a:xfrm>
          <a:prstGeom prst="rect">
            <a:avLst/>
          </a:prstGeom>
        </p:spPr>
        <p:txBody>
          <a:bodyPr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27E591A-007A-4673-8B7B-A2C2EDBF50B5}" type="slidenum">
              <a:rPr lang="ko-KR" altLang="en-US" smtClean="0"/>
              <a:pPr/>
              <a:t>11</a:t>
            </a:fld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54696F78-7A6A-8183-DEB0-31C9C6C76C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406229"/>
            <a:ext cx="8472694" cy="3383391"/>
          </a:xfrm>
          <a:prstGeom prst="rect">
            <a:avLst/>
          </a:prstGeom>
        </p:spPr>
      </p:pic>
      <p:cxnSp>
        <p:nvCxnSpPr>
          <p:cNvPr id="10" name="직선 화살표 연결선 9">
            <a:extLst>
              <a:ext uri="{FF2B5EF4-FFF2-40B4-BE49-F238E27FC236}">
                <a16:creationId xmlns:a16="http://schemas.microsoft.com/office/drawing/2014/main" id="{12434805-952E-45D2-5602-C32E82837E61}"/>
              </a:ext>
            </a:extLst>
          </p:cNvPr>
          <p:cNvCxnSpPr>
            <a:cxnSpLocks/>
          </p:cNvCxnSpPr>
          <p:nvPr/>
        </p:nvCxnSpPr>
        <p:spPr>
          <a:xfrm>
            <a:off x="3338207" y="1532592"/>
            <a:ext cx="2169213" cy="0"/>
          </a:xfrm>
          <a:prstGeom prst="straightConnector1">
            <a:avLst/>
          </a:prstGeom>
          <a:ln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DF0F0A0A-4BBD-8974-C28E-777016002DF9}"/>
              </a:ext>
            </a:extLst>
          </p:cNvPr>
          <p:cNvSpPr txBox="1"/>
          <p:nvPr/>
        </p:nvSpPr>
        <p:spPr>
          <a:xfrm>
            <a:off x="5507420" y="1405634"/>
            <a:ext cx="3543212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50" dirty="0">
                <a:solidFill>
                  <a:srgbClr val="FFC000"/>
                </a:solidFill>
              </a:rPr>
              <a:t>결과 생성 예시 제공</a:t>
            </a:r>
          </a:p>
        </p:txBody>
      </p:sp>
    </p:spTree>
    <p:extLst>
      <p:ext uri="{BB962C8B-B14F-4D97-AF65-F5344CB8AC3E}">
        <p14:creationId xmlns:p14="http://schemas.microsoft.com/office/powerpoint/2010/main" val="25184929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altLang="ko-KR" sz="1200" b="1" dirty="0">
                <a:solidFill>
                  <a:srgbClr val="1E5E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5. </a:t>
            </a:r>
            <a:r>
              <a:rPr lang="ko-KR" altLang="en-US" sz="1200" b="1" dirty="0">
                <a:solidFill>
                  <a:srgbClr val="1E5E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코드 동작 방식</a:t>
            </a:r>
            <a:endParaRPr lang="en-US" altLang="ko-KR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/>
              <a:t>code</a:t>
            </a:r>
          </a:p>
        </p:txBody>
      </p:sp>
      <p:sp>
        <p:nvSpPr>
          <p:cNvPr id="4" name="Shape 2"/>
          <p:cNvSpPr/>
          <p:nvPr/>
        </p:nvSpPr>
        <p:spPr>
          <a:xfrm>
            <a:off x="548640" y="1170432"/>
            <a:ext cx="11064240" cy="0"/>
          </a:xfrm>
          <a:prstGeom prst="line">
            <a:avLst/>
          </a:prstGeom>
          <a:noFill/>
          <a:ln w="12700">
            <a:solidFill>
              <a:srgbClr val="D7E0EA"/>
            </a:solidFill>
            <a:prstDash val="solid"/>
          </a:ln>
        </p:spPr>
      </p:sp>
      <p:sp>
        <p:nvSpPr>
          <p:cNvPr id="58" name="슬라이드 번호 개체 틀 3">
            <a:extLst>
              <a:ext uri="{FF2B5EF4-FFF2-40B4-BE49-F238E27FC236}">
                <a16:creationId xmlns:a16="http://schemas.microsoft.com/office/drawing/2014/main" id="{1199CCB7-1622-4984-CFAE-B97BAEC53F50}"/>
              </a:ext>
            </a:extLst>
          </p:cNvPr>
          <p:cNvSpPr txBox="1">
            <a:spLocks/>
          </p:cNvSpPr>
          <p:nvPr/>
        </p:nvSpPr>
        <p:spPr>
          <a:xfrm>
            <a:off x="11544300" y="6297168"/>
            <a:ext cx="548640" cy="401447"/>
          </a:xfrm>
          <a:prstGeom prst="rect">
            <a:avLst/>
          </a:prstGeom>
        </p:spPr>
        <p:txBody>
          <a:bodyPr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27E591A-007A-4673-8B7B-A2C2EDBF50B5}" type="slidenum">
              <a:rPr lang="ko-KR" altLang="en-US" smtClean="0"/>
              <a:pPr/>
              <a:t>12</a:t>
            </a:fld>
            <a:endParaRPr lang="ko-KR" altLang="en-US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51932CAD-2FEA-E80C-D9E1-E5678C0B11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1" y="1635125"/>
            <a:ext cx="5613486" cy="4554040"/>
          </a:xfrm>
          <a:prstGeom prst="rect">
            <a:avLst/>
          </a:prstGeom>
        </p:spPr>
      </p:pic>
      <p:sp>
        <p:nvSpPr>
          <p:cNvPr id="8" name="Text 13">
            <a:extLst>
              <a:ext uri="{FF2B5EF4-FFF2-40B4-BE49-F238E27FC236}">
                <a16:creationId xmlns:a16="http://schemas.microsoft.com/office/drawing/2014/main" id="{1BE29AFE-240E-A6D2-1775-BC009952B95E}"/>
              </a:ext>
            </a:extLst>
          </p:cNvPr>
          <p:cNvSpPr/>
          <p:nvPr/>
        </p:nvSpPr>
        <p:spPr>
          <a:xfrm>
            <a:off x="548640" y="1351151"/>
            <a:ext cx="3103611" cy="2839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20" dirty="0" err="1"/>
              <a:t>main.ipynb</a:t>
            </a:r>
            <a:endParaRPr lang="en-US" sz="122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FA8573A-005D-2C68-68C5-4C6F2FCAD42E}"/>
              </a:ext>
            </a:extLst>
          </p:cNvPr>
          <p:cNvSpPr txBox="1"/>
          <p:nvPr/>
        </p:nvSpPr>
        <p:spPr>
          <a:xfrm>
            <a:off x="6314735" y="1781954"/>
            <a:ext cx="429846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/>
              <a:t>필요한 모듈 및 라이브러리</a:t>
            </a:r>
            <a:r>
              <a:rPr lang="en-US" altLang="ko-KR" sz="1100" dirty="0"/>
              <a:t>, </a:t>
            </a:r>
            <a:r>
              <a:rPr lang="ko-KR" altLang="en-US" sz="1100" dirty="0" err="1"/>
              <a:t>임베딩</a:t>
            </a:r>
            <a:r>
              <a:rPr lang="ko-KR" altLang="en-US" sz="1100" dirty="0"/>
              <a:t> 모델</a:t>
            </a:r>
            <a:r>
              <a:rPr lang="en-US" altLang="ko-KR" sz="1100" dirty="0"/>
              <a:t>, LLM </a:t>
            </a:r>
            <a:r>
              <a:rPr lang="ko-KR" altLang="en-US" sz="1100" dirty="0"/>
              <a:t>모델 등 로딩</a:t>
            </a:r>
            <a:endParaRPr lang="en-US" altLang="ko-KR" sz="1100" dirty="0"/>
          </a:p>
          <a:p>
            <a:r>
              <a:rPr lang="en-US" altLang="ko-KR" sz="1100" dirty="0"/>
              <a:t>: </a:t>
            </a:r>
            <a:r>
              <a:rPr lang="ko-KR" altLang="en-US" sz="1100" dirty="0"/>
              <a:t>약 </a:t>
            </a:r>
            <a:r>
              <a:rPr lang="en-US" altLang="ko-KR" sz="1100" dirty="0"/>
              <a:t>8</a:t>
            </a:r>
            <a:r>
              <a:rPr lang="ko-KR" altLang="en-US" sz="1100" dirty="0"/>
              <a:t>분 </a:t>
            </a:r>
            <a:endParaRPr lang="en-US" altLang="ko-KR" sz="1100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CE431008-986A-909A-CBAC-8BB7B663DA9A}"/>
              </a:ext>
            </a:extLst>
          </p:cNvPr>
          <p:cNvSpPr/>
          <p:nvPr/>
        </p:nvSpPr>
        <p:spPr>
          <a:xfrm>
            <a:off x="1742009" y="3470813"/>
            <a:ext cx="1032188" cy="137584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6" name="직선 화살표 연결선 5">
            <a:extLst>
              <a:ext uri="{FF2B5EF4-FFF2-40B4-BE49-F238E27FC236}">
                <a16:creationId xmlns:a16="http://schemas.microsoft.com/office/drawing/2014/main" id="{29F1F81C-5550-2D72-879D-D32E4A5CA959}"/>
              </a:ext>
            </a:extLst>
          </p:cNvPr>
          <p:cNvCxnSpPr>
            <a:cxnSpLocks/>
          </p:cNvCxnSpPr>
          <p:nvPr/>
        </p:nvCxnSpPr>
        <p:spPr>
          <a:xfrm>
            <a:off x="2774197" y="3541350"/>
            <a:ext cx="296694" cy="0"/>
          </a:xfrm>
          <a:prstGeom prst="straightConnector1">
            <a:avLst/>
          </a:prstGeom>
          <a:ln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69BC9FCA-52E9-616D-5397-4C241EAB394A}"/>
              </a:ext>
            </a:extLst>
          </p:cNvPr>
          <p:cNvSpPr txBox="1"/>
          <p:nvPr/>
        </p:nvSpPr>
        <p:spPr>
          <a:xfrm>
            <a:off x="3101888" y="3357973"/>
            <a:ext cx="2994112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buNone/>
            </a:pPr>
            <a:r>
              <a:rPr lang="en-US" altLang="ko-KR" sz="900" dirty="0">
                <a:solidFill>
                  <a:srgbClr val="FFC000"/>
                </a:solidFill>
              </a:rPr>
              <a:t>Matching Data </a:t>
            </a:r>
          </a:p>
          <a:p>
            <a:pPr marL="0" indent="0">
              <a:buNone/>
            </a:pPr>
            <a:r>
              <a:rPr lang="en-US" altLang="ko-KR" sz="900" dirty="0">
                <a:solidFill>
                  <a:srgbClr val="FFC000"/>
                </a:solidFill>
              </a:rPr>
              <a:t>(</a:t>
            </a:r>
            <a:r>
              <a:rPr lang="ko-KR" altLang="en-US" sz="900" dirty="0">
                <a:solidFill>
                  <a:schemeClr val="accent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매칭된 기업과 과제에 해당하는 데이터를 </a:t>
            </a:r>
            <a:endParaRPr lang="en-US" altLang="ko-KR" sz="900" dirty="0">
              <a:solidFill>
                <a:schemeClr val="accent4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indent="0">
              <a:buNone/>
            </a:pPr>
            <a:r>
              <a:rPr lang="en-US" altLang="ko-KR" sz="900" dirty="0">
                <a:solidFill>
                  <a:schemeClr val="accent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Company DB</a:t>
            </a:r>
            <a:r>
              <a:rPr lang="ko-KR" altLang="en-US" sz="900" dirty="0">
                <a:solidFill>
                  <a:schemeClr val="accent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와 </a:t>
            </a:r>
            <a:r>
              <a:rPr lang="en-US" altLang="ko-KR" sz="900" dirty="0">
                <a:solidFill>
                  <a:schemeClr val="accent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Project DB</a:t>
            </a:r>
            <a:r>
              <a:rPr lang="ko-KR" altLang="en-US" sz="900" dirty="0">
                <a:solidFill>
                  <a:schemeClr val="accent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에서 호출</a:t>
            </a:r>
            <a:r>
              <a:rPr lang="ko-KR" altLang="en-US" sz="900" dirty="0">
                <a:solidFill>
                  <a:srgbClr val="FFC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 저장한 데이터</a:t>
            </a:r>
            <a:r>
              <a:rPr lang="en-US" altLang="ko-KR" sz="900" dirty="0">
                <a:solidFill>
                  <a:srgbClr val="FFC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)</a:t>
            </a:r>
            <a:endParaRPr lang="en-US" altLang="ko-KR" sz="900" dirty="0"/>
          </a:p>
        </p:txBody>
      </p:sp>
    </p:spTree>
    <p:extLst>
      <p:ext uri="{BB962C8B-B14F-4D97-AF65-F5344CB8AC3E}">
        <p14:creationId xmlns:p14="http://schemas.microsoft.com/office/powerpoint/2010/main" val="178082100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altLang="ko-KR" sz="1200" b="1" dirty="0">
                <a:solidFill>
                  <a:srgbClr val="1E5E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5. </a:t>
            </a:r>
            <a:r>
              <a:rPr lang="ko-KR" altLang="en-US" sz="1200" b="1" dirty="0">
                <a:solidFill>
                  <a:srgbClr val="1E5E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코드 동작 방식</a:t>
            </a:r>
            <a:endParaRPr lang="en-US" altLang="ko-KR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/>
              <a:t>code</a:t>
            </a:r>
          </a:p>
        </p:txBody>
      </p:sp>
      <p:sp>
        <p:nvSpPr>
          <p:cNvPr id="4" name="Shape 2"/>
          <p:cNvSpPr/>
          <p:nvPr/>
        </p:nvSpPr>
        <p:spPr>
          <a:xfrm>
            <a:off x="548640" y="1170432"/>
            <a:ext cx="11064240" cy="0"/>
          </a:xfrm>
          <a:prstGeom prst="line">
            <a:avLst/>
          </a:prstGeom>
          <a:noFill/>
          <a:ln w="12700">
            <a:solidFill>
              <a:srgbClr val="D7E0EA"/>
            </a:solidFill>
            <a:prstDash val="solid"/>
          </a:ln>
        </p:spPr>
      </p:sp>
      <p:sp>
        <p:nvSpPr>
          <p:cNvPr id="58" name="슬라이드 번호 개체 틀 3">
            <a:extLst>
              <a:ext uri="{FF2B5EF4-FFF2-40B4-BE49-F238E27FC236}">
                <a16:creationId xmlns:a16="http://schemas.microsoft.com/office/drawing/2014/main" id="{1199CCB7-1622-4984-CFAE-B97BAEC53F50}"/>
              </a:ext>
            </a:extLst>
          </p:cNvPr>
          <p:cNvSpPr txBox="1">
            <a:spLocks/>
          </p:cNvSpPr>
          <p:nvPr/>
        </p:nvSpPr>
        <p:spPr>
          <a:xfrm>
            <a:off x="11544300" y="6297168"/>
            <a:ext cx="548640" cy="401447"/>
          </a:xfrm>
          <a:prstGeom prst="rect">
            <a:avLst/>
          </a:prstGeom>
        </p:spPr>
        <p:txBody>
          <a:bodyPr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27E591A-007A-4673-8B7B-A2C2EDBF50B5}" type="slidenum">
              <a:rPr lang="ko-KR" altLang="en-US" smtClean="0"/>
              <a:pPr/>
              <a:t>13</a:t>
            </a:fld>
            <a:endParaRPr lang="ko-KR" altLang="en-US" dirty="0"/>
          </a:p>
        </p:txBody>
      </p:sp>
      <p:sp>
        <p:nvSpPr>
          <p:cNvPr id="8" name="Text 13">
            <a:extLst>
              <a:ext uri="{FF2B5EF4-FFF2-40B4-BE49-F238E27FC236}">
                <a16:creationId xmlns:a16="http://schemas.microsoft.com/office/drawing/2014/main" id="{1BE29AFE-240E-A6D2-1775-BC009952B95E}"/>
              </a:ext>
            </a:extLst>
          </p:cNvPr>
          <p:cNvSpPr/>
          <p:nvPr/>
        </p:nvSpPr>
        <p:spPr>
          <a:xfrm>
            <a:off x="548640" y="1351151"/>
            <a:ext cx="3103611" cy="2839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20" dirty="0" err="1"/>
              <a:t>main.ipynb</a:t>
            </a:r>
            <a:endParaRPr lang="en-US" sz="1220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BEA5B2D6-3724-6A7D-CDBA-169A4385D9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718919"/>
            <a:ext cx="5829343" cy="2266967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43986FD7-9D1C-4299-B57A-1650401F5FC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3673" y="1718919"/>
            <a:ext cx="3390925" cy="371478"/>
          </a:xfrm>
          <a:prstGeom prst="rect">
            <a:avLst/>
          </a:prstGeom>
        </p:spPr>
      </p:pic>
      <p:cxnSp>
        <p:nvCxnSpPr>
          <p:cNvPr id="12" name="직선 화살표 연결선 11">
            <a:extLst>
              <a:ext uri="{FF2B5EF4-FFF2-40B4-BE49-F238E27FC236}">
                <a16:creationId xmlns:a16="http://schemas.microsoft.com/office/drawing/2014/main" id="{3FA3EFBE-0B02-61F7-5E6F-E11DC96B56FD}"/>
              </a:ext>
            </a:extLst>
          </p:cNvPr>
          <p:cNvCxnSpPr>
            <a:cxnSpLocks/>
          </p:cNvCxnSpPr>
          <p:nvPr/>
        </p:nvCxnSpPr>
        <p:spPr>
          <a:xfrm>
            <a:off x="1887010" y="1827981"/>
            <a:ext cx="296694" cy="0"/>
          </a:xfrm>
          <a:prstGeom prst="straightConnector1">
            <a:avLst/>
          </a:prstGeom>
          <a:ln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AFA8573A-005D-2C68-68C5-4C6F2FCAD42E}"/>
              </a:ext>
            </a:extLst>
          </p:cNvPr>
          <p:cNvSpPr txBox="1"/>
          <p:nvPr/>
        </p:nvSpPr>
        <p:spPr>
          <a:xfrm>
            <a:off x="2239655" y="1685038"/>
            <a:ext cx="429846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>
                <a:solidFill>
                  <a:srgbClr val="FFC000"/>
                </a:solidFill>
              </a:rPr>
              <a:t>테스트할 기업</a:t>
            </a:r>
            <a:r>
              <a:rPr lang="en-US" altLang="ko-KR" sz="1100" dirty="0">
                <a:solidFill>
                  <a:srgbClr val="FFC000"/>
                </a:solidFill>
              </a:rPr>
              <a:t>/</a:t>
            </a:r>
            <a:r>
              <a:rPr lang="ko-KR" altLang="en-US" sz="1100" dirty="0">
                <a:solidFill>
                  <a:srgbClr val="FFC000"/>
                </a:solidFill>
              </a:rPr>
              <a:t>과제명과 추천 결과 개수 입력</a:t>
            </a:r>
            <a:endParaRPr lang="en-US" altLang="ko-KR" sz="1100" dirty="0">
              <a:solidFill>
                <a:srgbClr val="FFC000"/>
              </a:solidFill>
            </a:endParaRPr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77F61E7C-71F4-BC08-3BE0-4B0653320D67}"/>
              </a:ext>
            </a:extLst>
          </p:cNvPr>
          <p:cNvCxnSpPr>
            <a:cxnSpLocks/>
          </p:cNvCxnSpPr>
          <p:nvPr/>
        </p:nvCxnSpPr>
        <p:spPr>
          <a:xfrm>
            <a:off x="6555781" y="1896993"/>
            <a:ext cx="387458" cy="0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연결선: 꺾임 14">
            <a:extLst>
              <a:ext uri="{FF2B5EF4-FFF2-40B4-BE49-F238E27FC236}">
                <a16:creationId xmlns:a16="http://schemas.microsoft.com/office/drawing/2014/main" id="{7CC51D74-8A3E-6A59-2F54-0A2E6A5CDE92}"/>
              </a:ext>
            </a:extLst>
          </p:cNvPr>
          <p:cNvCxnSpPr>
            <a:cxnSpLocks/>
            <a:stCxn id="11" idx="1"/>
          </p:cNvCxnSpPr>
          <p:nvPr/>
        </p:nvCxnSpPr>
        <p:spPr>
          <a:xfrm rot="10800000" flipH="1" flipV="1">
            <a:off x="6533673" y="1904658"/>
            <a:ext cx="1410758" cy="872638"/>
          </a:xfrm>
          <a:prstGeom prst="bentConnector3">
            <a:avLst>
              <a:gd name="adj1" fmla="val -7196"/>
            </a:avLst>
          </a:prstGeom>
          <a:ln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58F168B1-9B4A-3490-9B83-EBD7BC8F5605}"/>
              </a:ext>
            </a:extLst>
          </p:cNvPr>
          <p:cNvSpPr txBox="1"/>
          <p:nvPr/>
        </p:nvSpPr>
        <p:spPr>
          <a:xfrm>
            <a:off x="8043620" y="2654185"/>
            <a:ext cx="267500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data/data.csv </a:t>
            </a:r>
            <a:r>
              <a:rPr lang="ko-KR" altLang="en-US" sz="1000" dirty="0"/>
              <a:t>에 있는 회사명 중 입력</a:t>
            </a:r>
            <a:endParaRPr lang="en-US" altLang="ko-KR" sz="1000" dirty="0"/>
          </a:p>
          <a:p>
            <a:r>
              <a:rPr lang="en-US" altLang="ko-KR" sz="1000" dirty="0"/>
              <a:t>(</a:t>
            </a:r>
            <a:r>
              <a:rPr lang="ko-KR" altLang="en-US" sz="1000" dirty="0"/>
              <a:t>실제 시스템에서는 클릭으로 동작</a:t>
            </a:r>
            <a:r>
              <a:rPr lang="en-US" altLang="ko-KR" sz="1000" dirty="0"/>
              <a:t>)</a:t>
            </a:r>
            <a:endParaRPr lang="ko-KR" altLang="en-US" sz="1000" dirty="0"/>
          </a:p>
        </p:txBody>
      </p:sp>
    </p:spTree>
    <p:extLst>
      <p:ext uri="{BB962C8B-B14F-4D97-AF65-F5344CB8AC3E}">
        <p14:creationId xmlns:p14="http://schemas.microsoft.com/office/powerpoint/2010/main" val="262672709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altLang="ko-KR" sz="1200" b="1" dirty="0">
                <a:solidFill>
                  <a:srgbClr val="1E5E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5. </a:t>
            </a:r>
            <a:r>
              <a:rPr lang="ko-KR" altLang="en-US" sz="1200" b="1" dirty="0">
                <a:solidFill>
                  <a:srgbClr val="1E5E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코드 동작 방식</a:t>
            </a:r>
            <a:endParaRPr lang="en-US" altLang="ko-KR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/>
              <a:t>code</a:t>
            </a:r>
          </a:p>
        </p:txBody>
      </p:sp>
      <p:sp>
        <p:nvSpPr>
          <p:cNvPr id="4" name="Shape 2"/>
          <p:cNvSpPr/>
          <p:nvPr/>
        </p:nvSpPr>
        <p:spPr>
          <a:xfrm>
            <a:off x="548640" y="1170432"/>
            <a:ext cx="11064240" cy="0"/>
          </a:xfrm>
          <a:prstGeom prst="line">
            <a:avLst/>
          </a:prstGeom>
          <a:noFill/>
          <a:ln w="12700">
            <a:solidFill>
              <a:srgbClr val="D7E0EA"/>
            </a:solidFill>
            <a:prstDash val="solid"/>
          </a:ln>
        </p:spPr>
      </p:sp>
      <p:sp>
        <p:nvSpPr>
          <p:cNvPr id="58" name="슬라이드 번호 개체 틀 3">
            <a:extLst>
              <a:ext uri="{FF2B5EF4-FFF2-40B4-BE49-F238E27FC236}">
                <a16:creationId xmlns:a16="http://schemas.microsoft.com/office/drawing/2014/main" id="{1199CCB7-1622-4984-CFAE-B97BAEC53F50}"/>
              </a:ext>
            </a:extLst>
          </p:cNvPr>
          <p:cNvSpPr txBox="1">
            <a:spLocks/>
          </p:cNvSpPr>
          <p:nvPr/>
        </p:nvSpPr>
        <p:spPr>
          <a:xfrm>
            <a:off x="11544300" y="6297168"/>
            <a:ext cx="548640" cy="401447"/>
          </a:xfrm>
          <a:prstGeom prst="rect">
            <a:avLst/>
          </a:prstGeom>
        </p:spPr>
        <p:txBody>
          <a:bodyPr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27E591A-007A-4673-8B7B-A2C2EDBF50B5}" type="slidenum">
              <a:rPr lang="ko-KR" altLang="en-US" smtClean="0"/>
              <a:pPr/>
              <a:t>14</a:t>
            </a:fld>
            <a:endParaRPr lang="ko-KR" altLang="en-US" dirty="0"/>
          </a:p>
        </p:txBody>
      </p:sp>
      <p:sp>
        <p:nvSpPr>
          <p:cNvPr id="8" name="Text 13">
            <a:extLst>
              <a:ext uri="{FF2B5EF4-FFF2-40B4-BE49-F238E27FC236}">
                <a16:creationId xmlns:a16="http://schemas.microsoft.com/office/drawing/2014/main" id="{1BE29AFE-240E-A6D2-1775-BC009952B95E}"/>
              </a:ext>
            </a:extLst>
          </p:cNvPr>
          <p:cNvSpPr/>
          <p:nvPr/>
        </p:nvSpPr>
        <p:spPr>
          <a:xfrm>
            <a:off x="548640" y="1351151"/>
            <a:ext cx="3103611" cy="2839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20" dirty="0" err="1"/>
              <a:t>main.ipynb</a:t>
            </a:r>
            <a:endParaRPr lang="en-US" sz="1220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33671FD9-8E65-7176-98B0-229F45293C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815843"/>
            <a:ext cx="4933986" cy="4210081"/>
          </a:xfrm>
          <a:prstGeom prst="rect">
            <a:avLst/>
          </a:prstGeom>
        </p:spPr>
      </p:pic>
      <p:cxnSp>
        <p:nvCxnSpPr>
          <p:cNvPr id="12" name="직선 화살표 연결선 11">
            <a:extLst>
              <a:ext uri="{FF2B5EF4-FFF2-40B4-BE49-F238E27FC236}">
                <a16:creationId xmlns:a16="http://schemas.microsoft.com/office/drawing/2014/main" id="{3FA3EFBE-0B02-61F7-5E6F-E11DC96B56FD}"/>
              </a:ext>
            </a:extLst>
          </p:cNvPr>
          <p:cNvCxnSpPr>
            <a:cxnSpLocks/>
            <a:endCxn id="9" idx="1"/>
          </p:cNvCxnSpPr>
          <p:nvPr/>
        </p:nvCxnSpPr>
        <p:spPr>
          <a:xfrm flipV="1">
            <a:off x="2591771" y="3675559"/>
            <a:ext cx="3143766" cy="15922"/>
          </a:xfrm>
          <a:prstGeom prst="straightConnector1">
            <a:avLst/>
          </a:prstGeom>
          <a:ln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AFA8573A-005D-2C68-68C5-4C6F2FCAD42E}"/>
              </a:ext>
            </a:extLst>
          </p:cNvPr>
          <p:cNvSpPr txBox="1"/>
          <p:nvPr/>
        </p:nvSpPr>
        <p:spPr>
          <a:xfrm>
            <a:off x="5735537" y="3460115"/>
            <a:ext cx="470143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/>
              <a:t>data_pipeline.py </a:t>
            </a:r>
            <a:r>
              <a:rPr lang="ko-KR" altLang="en-US" sz="1100" dirty="0"/>
              <a:t>에서 </a:t>
            </a:r>
            <a:endParaRPr lang="en-US" altLang="ko-KR" sz="1100" dirty="0"/>
          </a:p>
          <a:p>
            <a:r>
              <a:rPr lang="ko-KR" altLang="en-US" sz="1100" dirty="0"/>
              <a:t>수행기업</a:t>
            </a:r>
            <a:r>
              <a:rPr lang="en-US" altLang="ko-KR" sz="1100" dirty="0"/>
              <a:t>/</a:t>
            </a:r>
            <a:r>
              <a:rPr lang="ko-KR" altLang="en-US" sz="1100" dirty="0"/>
              <a:t>수행 과제</a:t>
            </a:r>
            <a:r>
              <a:rPr lang="en-US" altLang="ko-KR" sz="1100" dirty="0"/>
              <a:t>, </a:t>
            </a:r>
            <a:r>
              <a:rPr lang="ko-KR" altLang="en-US" sz="1100" dirty="0"/>
              <a:t>기업의 </a:t>
            </a:r>
            <a:r>
              <a:rPr lang="ko-KR" altLang="en-US" sz="1100" dirty="0" err="1"/>
              <a:t>특허명</a:t>
            </a:r>
            <a:r>
              <a:rPr lang="ko-KR" altLang="en-US" sz="1100" dirty="0"/>
              <a:t> 추출 등의 </a:t>
            </a:r>
            <a:r>
              <a:rPr lang="ko-KR" altLang="en-US" sz="1100" dirty="0" err="1"/>
              <a:t>전처리</a:t>
            </a:r>
            <a:r>
              <a:rPr lang="ko-KR" altLang="en-US" sz="1100" dirty="0"/>
              <a:t> 작업 수행</a:t>
            </a:r>
            <a:endParaRPr lang="en-US" altLang="ko-KR" sz="1100" dirty="0"/>
          </a:p>
        </p:txBody>
      </p:sp>
      <p:cxnSp>
        <p:nvCxnSpPr>
          <p:cNvPr id="16" name="직선 화살표 연결선 15">
            <a:extLst>
              <a:ext uri="{FF2B5EF4-FFF2-40B4-BE49-F238E27FC236}">
                <a16:creationId xmlns:a16="http://schemas.microsoft.com/office/drawing/2014/main" id="{E064BF1B-A751-A781-6A3A-3B3F86FE8813}"/>
              </a:ext>
            </a:extLst>
          </p:cNvPr>
          <p:cNvCxnSpPr>
            <a:cxnSpLocks/>
          </p:cNvCxnSpPr>
          <p:nvPr/>
        </p:nvCxnSpPr>
        <p:spPr>
          <a:xfrm>
            <a:off x="4578795" y="4972603"/>
            <a:ext cx="1156742" cy="0"/>
          </a:xfrm>
          <a:prstGeom prst="straightConnector1">
            <a:avLst/>
          </a:prstGeom>
          <a:ln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D9BACC05-A7D6-263C-B9EB-A471CEEBF6F7}"/>
              </a:ext>
            </a:extLst>
          </p:cNvPr>
          <p:cNvSpPr txBox="1"/>
          <p:nvPr/>
        </p:nvSpPr>
        <p:spPr>
          <a:xfrm>
            <a:off x="5847167" y="4841798"/>
            <a:ext cx="470143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/>
              <a:t>LLM</a:t>
            </a:r>
            <a:r>
              <a:rPr lang="ko-KR" altLang="en-US" sz="1100" dirty="0"/>
              <a:t>에 사용할 데이터로 구성</a:t>
            </a:r>
            <a:endParaRPr lang="en-US" altLang="ko-KR" sz="1100" dirty="0"/>
          </a:p>
        </p:txBody>
      </p:sp>
      <p:pic>
        <p:nvPicPr>
          <p:cNvPr id="22" name="그림 21">
            <a:extLst>
              <a:ext uri="{FF2B5EF4-FFF2-40B4-BE49-F238E27FC236}">
                <a16:creationId xmlns:a16="http://schemas.microsoft.com/office/drawing/2014/main" id="{F95405EE-7710-502F-0C03-00F0EC2BEBB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2626" y="5251115"/>
            <a:ext cx="6515196" cy="283667"/>
          </a:xfrm>
          <a:prstGeom prst="rect">
            <a:avLst/>
          </a:prstGeom>
        </p:spPr>
      </p:pic>
      <p:pic>
        <p:nvPicPr>
          <p:cNvPr id="24" name="그림 23">
            <a:extLst>
              <a:ext uri="{FF2B5EF4-FFF2-40B4-BE49-F238E27FC236}">
                <a16:creationId xmlns:a16="http://schemas.microsoft.com/office/drawing/2014/main" id="{0488D68E-3BB6-7287-1324-92C94C3E0DC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2626" y="5589784"/>
            <a:ext cx="6515196" cy="294106"/>
          </a:xfrm>
          <a:prstGeom prst="rect">
            <a:avLst/>
          </a:prstGeom>
        </p:spPr>
      </p:pic>
      <p:pic>
        <p:nvPicPr>
          <p:cNvPr id="26" name="그림 25">
            <a:extLst>
              <a:ext uri="{FF2B5EF4-FFF2-40B4-BE49-F238E27FC236}">
                <a16:creationId xmlns:a16="http://schemas.microsoft.com/office/drawing/2014/main" id="{5842E061-757C-D3F4-4A14-4D3BC0BCA77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82625" y="5932619"/>
            <a:ext cx="6515195" cy="309298"/>
          </a:xfrm>
          <a:prstGeom prst="rect">
            <a:avLst/>
          </a:prstGeom>
        </p:spPr>
      </p:pic>
      <p:pic>
        <p:nvPicPr>
          <p:cNvPr id="28" name="그림 27">
            <a:extLst>
              <a:ext uri="{FF2B5EF4-FFF2-40B4-BE49-F238E27FC236}">
                <a16:creationId xmlns:a16="http://schemas.microsoft.com/office/drawing/2014/main" id="{D37864C9-3A19-F84E-5639-426D39669E1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82626" y="6307413"/>
            <a:ext cx="3183790" cy="3173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013463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altLang="ko-KR" sz="1200" b="1" dirty="0">
                <a:solidFill>
                  <a:srgbClr val="1E5E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5. </a:t>
            </a:r>
            <a:r>
              <a:rPr lang="ko-KR" altLang="en-US" sz="1200" b="1" dirty="0">
                <a:solidFill>
                  <a:srgbClr val="1E5E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코드 동작 방식</a:t>
            </a:r>
            <a:endParaRPr lang="en-US" altLang="ko-KR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/>
              <a:t>code</a:t>
            </a:r>
          </a:p>
        </p:txBody>
      </p:sp>
      <p:sp>
        <p:nvSpPr>
          <p:cNvPr id="4" name="Shape 2"/>
          <p:cNvSpPr/>
          <p:nvPr/>
        </p:nvSpPr>
        <p:spPr>
          <a:xfrm>
            <a:off x="548640" y="1170432"/>
            <a:ext cx="11064240" cy="0"/>
          </a:xfrm>
          <a:prstGeom prst="line">
            <a:avLst/>
          </a:prstGeom>
          <a:noFill/>
          <a:ln w="12700">
            <a:solidFill>
              <a:srgbClr val="D7E0EA"/>
            </a:solidFill>
            <a:prstDash val="solid"/>
          </a:ln>
        </p:spPr>
      </p:sp>
      <p:sp>
        <p:nvSpPr>
          <p:cNvPr id="58" name="슬라이드 번호 개체 틀 3">
            <a:extLst>
              <a:ext uri="{FF2B5EF4-FFF2-40B4-BE49-F238E27FC236}">
                <a16:creationId xmlns:a16="http://schemas.microsoft.com/office/drawing/2014/main" id="{1199CCB7-1622-4984-CFAE-B97BAEC53F50}"/>
              </a:ext>
            </a:extLst>
          </p:cNvPr>
          <p:cNvSpPr txBox="1">
            <a:spLocks/>
          </p:cNvSpPr>
          <p:nvPr/>
        </p:nvSpPr>
        <p:spPr>
          <a:xfrm>
            <a:off x="11544300" y="6297168"/>
            <a:ext cx="548640" cy="401447"/>
          </a:xfrm>
          <a:prstGeom prst="rect">
            <a:avLst/>
          </a:prstGeom>
        </p:spPr>
        <p:txBody>
          <a:bodyPr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27E591A-007A-4673-8B7B-A2C2EDBF50B5}" type="slidenum">
              <a:rPr lang="ko-KR" altLang="en-US" smtClean="0"/>
              <a:pPr/>
              <a:t>15</a:t>
            </a:fld>
            <a:endParaRPr lang="ko-KR" altLang="en-US" dirty="0"/>
          </a:p>
        </p:txBody>
      </p:sp>
      <p:sp>
        <p:nvSpPr>
          <p:cNvPr id="8" name="Text 13">
            <a:extLst>
              <a:ext uri="{FF2B5EF4-FFF2-40B4-BE49-F238E27FC236}">
                <a16:creationId xmlns:a16="http://schemas.microsoft.com/office/drawing/2014/main" id="{1BE29AFE-240E-A6D2-1775-BC009952B95E}"/>
              </a:ext>
            </a:extLst>
          </p:cNvPr>
          <p:cNvSpPr/>
          <p:nvPr/>
        </p:nvSpPr>
        <p:spPr>
          <a:xfrm>
            <a:off x="548640" y="1351151"/>
            <a:ext cx="3103611" cy="2839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20" dirty="0" err="1"/>
              <a:t>main.ipynb</a:t>
            </a:r>
            <a:endParaRPr lang="en-US" sz="122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9BACC05-A7D6-263C-B9EB-A471CEEBF6F7}"/>
              </a:ext>
            </a:extLst>
          </p:cNvPr>
          <p:cNvSpPr txBox="1"/>
          <p:nvPr/>
        </p:nvSpPr>
        <p:spPr>
          <a:xfrm>
            <a:off x="5940400" y="4189061"/>
            <a:ext cx="470143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/>
              <a:t>생성 결과 저장</a:t>
            </a:r>
            <a:endParaRPr lang="en-US" altLang="ko-KR" sz="1100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09B00068-4623-7002-24F1-5B645DE46B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644045"/>
            <a:ext cx="4489296" cy="4867608"/>
          </a:xfrm>
          <a:prstGeom prst="rect">
            <a:avLst/>
          </a:prstGeom>
        </p:spPr>
      </p:pic>
      <p:cxnSp>
        <p:nvCxnSpPr>
          <p:cNvPr id="10" name="직선 화살표 연결선 9">
            <a:extLst>
              <a:ext uri="{FF2B5EF4-FFF2-40B4-BE49-F238E27FC236}">
                <a16:creationId xmlns:a16="http://schemas.microsoft.com/office/drawing/2014/main" id="{135B9EE3-8DF8-920B-4180-DD8402022347}"/>
              </a:ext>
            </a:extLst>
          </p:cNvPr>
          <p:cNvCxnSpPr>
            <a:cxnSpLocks/>
            <a:endCxn id="11" idx="1"/>
          </p:cNvCxnSpPr>
          <p:nvPr/>
        </p:nvCxnSpPr>
        <p:spPr>
          <a:xfrm flipV="1">
            <a:off x="2796634" y="2530546"/>
            <a:ext cx="3143766" cy="15922"/>
          </a:xfrm>
          <a:prstGeom prst="straightConnector1">
            <a:avLst/>
          </a:prstGeom>
          <a:ln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514B1D7E-0CC8-EEF4-1F71-ED01C8B89D8E}"/>
              </a:ext>
            </a:extLst>
          </p:cNvPr>
          <p:cNvSpPr txBox="1"/>
          <p:nvPr/>
        </p:nvSpPr>
        <p:spPr>
          <a:xfrm>
            <a:off x="5940400" y="2315102"/>
            <a:ext cx="470143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/>
              <a:t>llm_pipeline.py </a:t>
            </a:r>
            <a:r>
              <a:rPr lang="ko-KR" altLang="en-US" sz="1100" dirty="0"/>
              <a:t>에서 </a:t>
            </a:r>
            <a:endParaRPr lang="en-US" altLang="ko-KR" sz="1100" dirty="0"/>
          </a:p>
          <a:p>
            <a:r>
              <a:rPr lang="en-US" altLang="ko-KR" sz="1100" dirty="0"/>
              <a:t>LLM </a:t>
            </a:r>
            <a:r>
              <a:rPr lang="ko-KR" altLang="en-US" sz="1100" dirty="0"/>
              <a:t>모델을 사용해 근거 생성 진행</a:t>
            </a:r>
            <a:endParaRPr lang="en-US" altLang="ko-KR" sz="1100" dirty="0"/>
          </a:p>
        </p:txBody>
      </p:sp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id="{A993F43B-AE1E-11C6-6EE0-3AE1CA657250}"/>
              </a:ext>
            </a:extLst>
          </p:cNvPr>
          <p:cNvCxnSpPr>
            <a:cxnSpLocks/>
          </p:cNvCxnSpPr>
          <p:nvPr/>
        </p:nvCxnSpPr>
        <p:spPr>
          <a:xfrm>
            <a:off x="4160423" y="4309615"/>
            <a:ext cx="1686744" cy="0"/>
          </a:xfrm>
          <a:prstGeom prst="straightConnector1">
            <a:avLst/>
          </a:prstGeom>
          <a:ln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" name="그림 16">
            <a:extLst>
              <a:ext uri="{FF2B5EF4-FFF2-40B4-BE49-F238E27FC236}">
                <a16:creationId xmlns:a16="http://schemas.microsoft.com/office/drawing/2014/main" id="{CF8E7BA1-58CB-9686-5C98-CCB8482E8AA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53914" y="4509136"/>
            <a:ext cx="7039026" cy="6191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56611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직사각형 14"/>
          <p:cNvSpPr/>
          <p:nvPr/>
        </p:nvSpPr>
        <p:spPr>
          <a:xfrm>
            <a:off x="3449276" y="3164614"/>
            <a:ext cx="5237524" cy="264386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en-US" sz="1206">
              <a:solidFill>
                <a:prstClr val="white"/>
              </a:solidFill>
              <a:latin typeface="맑은 고딕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143337" y="2693158"/>
            <a:ext cx="5905326" cy="7358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lnSpc>
                <a:spcPct val="150000"/>
              </a:lnSpc>
              <a:defRPr/>
            </a:pPr>
            <a:r>
              <a:rPr lang="ko-KR" altLang="en-US" sz="3200" b="1" spc="-60" dirty="0">
                <a:solidFill>
                  <a:schemeClr val="tx1">
                    <a:lumMod val="65000"/>
                    <a:lumOff val="35000"/>
                  </a:schemeClr>
                </a:solidFill>
                <a:latin typeface="NanumSquareOTF Bold"/>
                <a:ea typeface="NanumSquareOTF Bold"/>
              </a:rPr>
              <a:t>끝까지 봐주셔서 감사합니다</a:t>
            </a:r>
            <a:r>
              <a:rPr lang="en-US" altLang="ko-KR" sz="3200" b="1" spc="-60" dirty="0">
                <a:solidFill>
                  <a:schemeClr val="tx1">
                    <a:lumMod val="65000"/>
                    <a:lumOff val="35000"/>
                  </a:schemeClr>
                </a:solidFill>
                <a:latin typeface="NanumSquareOTF Bold"/>
                <a:ea typeface="NanumSquareOTF Bold"/>
              </a:rPr>
              <a:t>.</a:t>
            </a:r>
            <a:endParaRPr lang="en-US" altLang="ko-KR" sz="3200" spc="-60" dirty="0">
              <a:solidFill>
                <a:schemeClr val="tx1">
                  <a:lumMod val="65000"/>
                  <a:lumOff val="35000"/>
                </a:schemeClr>
              </a:solidFill>
              <a:latin typeface="NanumSquareOTF Light"/>
              <a:ea typeface="NanumSquareOTF Light"/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FB9D3E9C-74B7-4B1D-E1D0-B48A5DBDF1E4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8700" y="2404406"/>
            <a:ext cx="694637" cy="1024594"/>
          </a:xfrm>
          <a:prstGeom prst="rect">
            <a:avLst/>
          </a:prstGeom>
        </p:spPr>
      </p:pic>
      <p:sp>
        <p:nvSpPr>
          <p:cNvPr id="5" name="슬라이드 번호 개체 틀 3">
            <a:extLst>
              <a:ext uri="{FF2B5EF4-FFF2-40B4-BE49-F238E27FC236}">
                <a16:creationId xmlns:a16="http://schemas.microsoft.com/office/drawing/2014/main" id="{1AFD511B-E591-4296-5CB0-FE6F9EDD4794}"/>
              </a:ext>
            </a:extLst>
          </p:cNvPr>
          <p:cNvSpPr txBox="1">
            <a:spLocks/>
          </p:cNvSpPr>
          <p:nvPr/>
        </p:nvSpPr>
        <p:spPr>
          <a:xfrm>
            <a:off x="11544300" y="6297168"/>
            <a:ext cx="548640" cy="401447"/>
          </a:xfrm>
          <a:prstGeom prst="rect">
            <a:avLst/>
          </a:prstGeom>
        </p:spPr>
        <p:txBody>
          <a:bodyPr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27E591A-007A-4673-8B7B-A2C2EDBF50B5}" type="slidenum">
              <a:rPr lang="ko-KR" altLang="en-US" smtClean="0"/>
              <a:pPr/>
              <a:t>16</a:t>
            </a:fld>
            <a:endParaRPr lang="ko-KR" alt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34683</TotalTime>
  <Words>2131</Words>
  <Application>Microsoft Office PowerPoint</Application>
  <PresentationFormat>와이드스크린</PresentationFormat>
  <Paragraphs>243</Paragraphs>
  <Slides>16</Slides>
  <Notes>15</Notes>
  <HiddenSlides>0</HiddenSlides>
  <MMClips>0</MMClips>
  <ScaleCrop>false</ScaleCrop>
  <HeadingPairs>
    <vt:vector size="6" baseType="variant">
      <vt:variant>
        <vt:lpstr>사용한 글꼴</vt:lpstr>
      </vt:variant>
      <vt:variant>
        <vt:i4>9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16</vt:i4>
      </vt:variant>
    </vt:vector>
  </HeadingPairs>
  <TitlesOfParts>
    <vt:vector size="26" baseType="lpstr">
      <vt:lpstr>a고딕12</vt:lpstr>
      <vt:lpstr>Google Sans Text</vt:lpstr>
      <vt:lpstr>NanumSquareOTF Bold</vt:lpstr>
      <vt:lpstr>NanumSquareOTF Light</vt:lpstr>
      <vt:lpstr>Reman</vt:lpstr>
      <vt:lpstr>맑은 고딕</vt:lpstr>
      <vt:lpstr>맑은 고딕</vt:lpstr>
      <vt:lpstr>Arial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원민 이</dc:creator>
  <cp:lastModifiedBy>원민 이</cp:lastModifiedBy>
  <cp:revision>1271</cp:revision>
  <dcterms:created xsi:type="dcterms:W3CDTF">2025-01-22T04:45:46Z</dcterms:created>
  <dcterms:modified xsi:type="dcterms:W3CDTF">2026-06-08T06:34:55Z</dcterms:modified>
  <cp:version/>
</cp:coreProperties>
</file>